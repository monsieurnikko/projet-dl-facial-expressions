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présente notre projet de reconnaissance d'expressions faciales. Les 7 visages viennent du dataset, un par classe : ce sont des images 48x48 en niveaux de gris, c'est tout ce que le réseau reçoit. Le but : dire laquelle des 7 expressions l'image montre. On suit le plan du sujet, parties 1 à 6, puis une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 pris FER2013 parce qu'il est public, très utilisé, et que les visages sont déjà découpés. Images collectées sur Google Images par mots-clés d'émotions, recadrées automatiquement puis vérifiées à la main, en 48x48 niveaux de gris. Le dataset d'origine a 35 887 images (28 709 train, 7 178 test). À l'étape 0 on retire 13 images vides, sans visage (12 dans train dont 7 dans angry, 1 dans test) : il reste 35 874 images, 28 697 en train et 7 177 en test. Le graphique montre le déséquilibre : c'est pour ça qu'on regarde le rappel par classe et pas seulement l'accuracy. Rôles : le train sert à apprendre les poids, la validation à suivre l'entraînement et choisir les modèles, le test est gardé pour la fin. Normalisation : petites valeurs, entraînement plus stable. One-hot : va avec softmax et categorical_crossentropy.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C'est le schéma du sujet, il sert de point de comparaison. Chaque neurone fait une somme pondérée des 2304 pixels plus un biais, puis ReLU. Softmax donne 7 probabilités qui font 1 au total, la classe prédite est la plus probable. Paramètres : 2304 x 128 + 128 = 295 040, puis 128 x 7 + 7 = 903. Apprentissage : propagation avant sur un lot de 128 images, calcul de la loss (-log de la proba donnée à la vraie classe), rétropropagation pour avoir le gradient de chaque poids, puis Adam bouge les poids dans le sens qui fait baisser la loss. 34.2% c'est mieux que le hasard (14.3%) et que toujours happy (24.4%), mais faible. Sur l'image d'exemple la baseline trouve la bonne classe, neutral, avec 62%. Un visage un peu décalé devient un vecteur complètement différent, c'est ce que le CNN doit corriger.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l'architecture du schéma du sujet. Chaque filtre glisse sur l'image et produit une feature map. La première convolution utilise des filtres 5x5 : sur l'image d'entrée il n'y a qu'un canal, donc un filtre plus large coûte peu (832 paramètres) et voit un morceau de visage plus grand dès la première couche. Ensuite il y a 32 canaux, un 5x5 coûterait presque trois fois plus qu'un 3x3, on reste en 3x3. Le premier bloc trouve des motifs simples (bords, coins), le deuxième les combine en motifs plus grands (un oeil, une bouche). Paramètres d'une convolution = (noyau x noyau x canaux en entrée + 1 biais) x nombre de filtres : (5x5x1 + 1) x 32 = 832, (3x3x32 + 1) x 64 = 18 496. Dense : 6400 x 7 + 7 = 44 807. Padding valid : la sortie perd 4 pixels avec le 5x5 (48 - 5 + 1 = 44) et 2 avec le 3x3 (22 - 3 + 1 = 20). Avec padding same on garderait la taille. Le pooling n'a aucun paramètre : 44 donne 22, puis 20 donne 10. On double les filtres (32 puis 64) quand les cartes rétrécissent. None dans les formes = la taille du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 début les deux loss baissent ensemble, puis elles se séparent : la loss train continue de baisser alors que la val_loss stagne, atteint son minimum à l'époque 10 (ligne en pointillés, 1.335) puis remonte (1.372 à la fin). L'accuracy train monte jusqu'à 65.4% alors que la validation plafonne vers 51-52%. C'est du surapprentissage : à partir de la meilleure époque le modèle commence à apprendre les images de train par coeur. L'early stopping s'arrête 6 époques plus tard (époque 16) et remet les poids de la meilleure époque. Écart train/val à la meilleure époque : environ 7.5 points (58.4 contre 50.9). Pourquoi ces choix : la cross-entropy devient très grande quand le modèle se trompe en étant sûr de lui ; Adam marche bien sans réglage et la val_loss baisse dès le début ; on ne sait pas à l'avance combien d'époques il faut, c'est la validation qui décide ; patience de 6 plutôt que 3 pour ne pas s'arrêter sur un simple creux ; on surveille val_loss plutôt que val_accuracy parce qu'elle bouge plus finement. On essaie de réduire ce surapprentissage en partie 6 (dropout, augmentation).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MATRICE ET RAPPEL. Ligne = vraie classe, colonne = classe prédite, la diagonale = les bonnes réponses. Rappel d'une classe = bonnes réponses / nombre d'images de la classe. happy (74.8%) et surprise (63.5%) sont les mieux reconnues : le sourire, la bouche et les yeux grands ouverts se voient même en 48x48. Les plus dures : disgust (18.6%, 13 sur 70), fear (24.8%), sad (38.9%). Les grosses confusions passent presque toutes par sad et neutral : bouche fermée, la différence se joue sur quelques pixels. disgust : surtout un manque d'images, 16 fois moins que happy. MÉMO ROC. Une courbe par classe, la classe contre toutes les autres. Pour une classe, par exemple happy, on regarde seulement la probabilité happy donnée par le modèle et on fait varier un seuil : au-dessus on dit happy, en dessous on dit pas happy. Chaque seuil donne un point de la courbe. En ordonnée, le taux de vrais positifs : parmi les vraies images happy, la part qu'on retrouve (c'est le rappel). En abscisse, le taux de faux positifs : parmi les images des autres classes, la part qu'on prend à tort pour happy. Un bon modèle retrouve beaucoup de vraies images sans fausses alertes : sa courbe monte vite et colle au coin en haut à gauche. La diagonale en pointillés, c'est un modèle qui répond au hasard. MÉMO AUC. C'est l'aire sous la courbe ROC : 1 = séparation parfaite, 0.5 = hasard. On peut la lire comme une probabilité : si on prend une image de la classe et une image d'une autre classe, c'est la chance que le modèle donne une probabilité plus haute à la bonne. AUC DE CHAQUE CLASSE (légende du graphique). surprise 0.90 et happy 0.89 : les mieux séparées, comme dans la matrice. disgust 0.86 : bonne AUC alors que son rappel est faible (18.6%). Les probabilités disgust sont bien plus hautes sur les vraies images disgust que sur les autres, mais elles dépassent rarement celles des classes fréquentes, donc disgust est rarement la classe prédite. Le modèle sait la repérer, c'est la décision finale qui la pénalise : c'est pour ça que les poids par classe (E5) font monter son rappel. Sa courbe est en escalier parce qu'il n'y a que 70 images. neutral 0.79 et angry 0.79 : moyennes. sad 0.76 et fear 0.73 : les plus basses, ce sont les classes vraiment mélangées avec les autres, même en probabilité. À RETENIR. L'AUC juge les probabilités sur tous les seuils, le rappel juge la décision finale : il faut lire les deux ensemble. Pour une classe rare, le taux de faux positifs reste bas facilement parce qu'il y a beaucoup d'images des autres classes, donc l'AUC peut paraître flatteuse. Autre cause probable des erreurs, non mesurée : des étiquettes fausses dans FER2013.</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 regarde les erreurs où le modèle était le plus sûr de lui, ce sont les plus intéressantes. Expressions proches : deux fear sont prédites surprise, yeux écarquillés, bouche ouverte, mains sur le visage ; une happy est prédite surprise, bouche grande ouverte. Étiquettes douteuses : deux images étiquetées surprise sont prédites happy alors que la personne sourit ou rit, à l'oeil la prédiction a l'air plus juste que le label. Images difficiles : une angry prédite happy (grimace qui montre les dents), une sad prédite happy (visage d'enfant), une neutral prédite angry (lunettes, sourcils froncés). Le modèle a l'air de se baser surtout sur la bouche et l'ouverture des yeux, moins sur les sourcils. Les images changent un peu d'une exécution à l'autre, mais on retrouve les mêmes types d'erreurs. Les étiquettes douteuses limitent sûrement le score maximum qu'on peut avoir sur FER2013. On ne l'a pas mesuré, c'est une hypothèse à partir des exemples.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haut, le réseau complet : en gris le CNN de base, en couleur ce que chaque expérience ajoute. En bas, l'accuracy de validation de chaque modèle. Chaque expérience part du dernier modèle gardé et change une seule chose. Le reste ne bouge pas : même découpage, seed remise à 42, Adam lr 0.001, batch 128, 20 époques fixes en gardant les poids de la meilleure époque. Seul le CNN de base garde l'early stopping de la partie 4. E0 (learning rate divisé par 2 quand la val_loss ne baisse plus) : 50.5%, pas de gain. E1 (Dense 128 + 64) : 50.7%. E1 bis (batch normalization après chaque convolution) : 52.1%. E2 (dropout 0.3 avant la Dense 128) : 53.5%, loss 1.281. E3 (blocs Conv 128 et 256) : 51.1%, il perd 2.4 points : il surapprend très vite (meilleure époque 4, accuracy train au-dessus de 90% à la fin). On l'a quand même gardé dans la suite parce que la chaîne était fixée avant le run, on le dit honnêtement. E4 (augmentation : miroir, petite rotation, petit zoom, flou) : le plus gros gain, 60.2%, +9.1 points sur E3 et +6.7 sur E2, loss 1.065, meilleure époque 19 sur 20 donc le modèle progressait encore. L'augmentation corrige justement le surapprentissage du modèle profond. E5 (E4 + poids par classe) : 54.7%, le rappel de disgust monte à 48.6% contre 20.0% pour E4. Les écarts de E0 à E2 font chacun moins d'un point et demi : ça peut venir du hasard de l'initialisation. Le vrai effet est celui de E4. Modèle final : E4, choisi par le code avec la règle fixée au début, la meilleure accuracy de validation.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Message de la slide : avec des classes déséquilibrées, l'accuracy seule ne suffit pas pour juger un modèle. disgust représente 1.2% de la validation, donc l'accuracy ne voit presque pas si on la reconnaît. On regarde donc aussi les métriques par classe. Rappel = parmi les vraies images disgust, combien on en retrouve. Précision = parmi les images prédites disgust, combien le sont vraiment. F1 = moyenne harmonique des deux. E5 (E4 + poids par classe) retrouve 48.6% des disgust contre 20.0% pour E4, et son F1 sur disgust est un peu meilleur (35.4% contre 31.5%). Mais sa précision tombe à 27.9% : environ 72% de ses réponses disgust sont fausses, ce sont des images d'autres classes. Et il perd 5.5 points d'accuracy. E4 a la meilleure accuracy (60.2%), la plus petite loss (1.065) et un meilleur F1 que E5 sur les six autres classes. Le modèle final est choisi par le code avec la règle fixée au début, la meilleure accuracy de validation : c'est E4. On ne change pas la règle après avoir vu les résultats. Si le but était de détecter le dégoût à tout prix, quitte à avoir beaucoup de fausses alertes, E5 serait l'alternative. Test, utilisé une seule fois sur le modèle final : 61.2% contre 60.2% en validation, c'est proche, donc le choix fait sur la validation tient sur des images qui n'avaient servi à rien avant. Rappel sur le test : angry 53.7%, disgust 20.7% (23 sur 111), fear 33.2%, happy 80.6%, neutral 74.0%, sad 46.7%, surprise 71.1%.</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en trois temps. Ce qui a marché : passer du réseau dense au CNN fait gagner près de 17 points (34.2% à 50.9%) avec 4,6 fois moins de paramètres, parce que les filtres tiennent compte du voisinage des pixels. En partie 6, c'est l'augmentation qui apporte le plus (51.1% à 60.2%, +9 points) : elle réduit le surapprentissage, les courbes train et validation montent ensemble. Les autres changements (couches Dense, batch normalization, dropout, baisse du learning rate) font chacun moins d'un point et demi, ce qui peut venir du hasard ; les deux blocs de convolution en plus ont même fait perdre 2.4 points avant l'augmentation. Et pour choisir un modèle avec des classes déséquilibrées, on a regardé le rappel, la précision et le F1 par classe en plus de l'accuracy. Le score sur le test (61.2%) est proche de celui de validation (60.2%) : le choix tient. Les limites : fear et disgust restent mal reconnues ; tout vient d'une seule exécution avec une seule seed ; le modèle a appris sur des visages déjà recadrés, sur une photo entière il se trompera ; certaines étiquettes de FER2013 ont l'air fausses, ce qu'on n'a pas mesuré. La suite qu'on propose : refaire l'entraînement avec SGD au lieu d'Adam, ce qu'on n'a pas testé. Tous nos modèles utilisent Adam avec son learning rate par défaut (0.001). Adam adapte le pas de chaque poids, il converge vite et marche sans réglage, c'est pour ça qu'on l'a pris. SGD (descente de gradient stochastique) utilise le même pas pour tous les poids. Il est plus lent et plus sensible au réglage, mais sur les CNN de classification d'images il généralise souvent aussi bien ou mieux qu'Adam quand il est bien réglé. Ce qu'il faudrait régler : un momentum (0.9, qui garde l'élan des mises à jour précédentes), un learning rate plus grand que celui d'Adam (à chercher entre 0.01 et 0.1), une baisse du learning rate pendant l'entraînement (on a déjà ReduceLROnPlateau depuis E0) et plus d'époques, parce que SGD met plus de temps à converger. En Keras : keras.optimizers.SGD(learning_rate=0.01, momentum=0.9). Pour que la comparaison soit honnête : même modèle (E4), même seed, mêmes données, on ne change que l'optimiseur, et on compare sur la validation. Ce qu'on attend : un gain possible mais petit, de l'ordre d'un point. Nos écarts d'une exécution à l'autre sont déjà de cet ordre, donc il faudrait plusieurs seeds pour conclure. Ce n'est pas l'optimiseur qui limite le plus notre modèle, c'est le surapprentissage et la qualité des données. Autres pistes à citer si on nous le demande : entraîner E4 plus longtemps (sa meilleure époque est l'avant-dernière, la 19e sur 20), des poids de classe plus doux que ceux de E5, le transfer learning à partir d'un réseau pré-entraîné, et une détection de visages avant le classifieur (parties 7 à 9 du sujet, qu'on n'a pas faites). Puis la démo : on recharge le modèle sauvegardé, on prépare une image comme à l'entraînement (gris, 48x48, divisée par 255) et on affiche les 7 probabilités.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215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EDEFF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25241"/>
            <a:ext cx="10566400" cy="4119959"/>
          </a:xfrm>
          <a:prstGeom prst="rect">
            <a:avLst/>
          </a:prstGeom>
          <a:noFill/>
          <a:ln/>
        </p:spPr>
        <p:txBody>
          <a:bodyPr wrap="square" lIns="0" tIns="0" rIns="0" bIns="0" rtlCol="0" anchor="t"/>
          <a:lstStyle>
            <a:lvl1pPr algn="l" indent="0" marL="0">
              <a:lnSpc>
                <a:spcPct val="140000"/>
              </a:lnSpc>
              <a:buNone/>
              <a:defRPr lang="en-US" sz="1600" dirty="0">
                <a:solidFill>
                  <a:srgbClr val="EDEFF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51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229320"/>
            <a:ext cx="10566400" cy="391120"/>
          </a:xfrm>
          <a:prstGeom prst="rect">
            <a:avLst/>
          </a:prstGeom>
          <a:noFill/>
          <a:ln/>
        </p:spPr>
        <p:txBody>
          <a:bodyPr wrap="square" lIns="0" tIns="0" rIns="0" bIns="0" rtlCol="0" anchor="t"/>
          <a:lstStyle>
            <a:lvl1pPr algn="l" indent="0" marL="0">
              <a:lnSpc>
                <a:spcPct val="115000"/>
              </a:lnSpc>
              <a:buNone/>
              <a:defRPr lang="en-US" sz="2800" dirty="0">
                <a:solidFill>
                  <a:srgbClr val="EDEFF3"/>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2800" dirty="0"/>
          </a:p>
        </p:txBody>
      </p:sp>
      <p:sp>
        <p:nvSpPr>
          <p:cNvPr id="3" name="Text Placeholder 2"/>
          <p:cNvSpPr/>
          <p:nvPr>
            <p:ph idx="101" type="body"/>
          </p:nvPr>
        </p:nvSpPr>
        <p:spPr>
          <a:xfrm>
            <a:off x="812800" y="1925241"/>
            <a:ext cx="10566400" cy="4119959"/>
          </a:xfrm>
          <a:prstGeom prst="rect">
            <a:avLst/>
          </a:prstGeom>
          <a:noFill/>
          <a:ln/>
        </p:spPr>
        <p:txBody>
          <a:bodyPr wrap="square" lIns="0" tIns="0" rIns="0" bIns="0" rtlCol="0" anchor="t"/>
          <a:lstStyle>
            <a:lvl1pPr algn="l" indent="0" marL="0">
              <a:lnSpc>
                <a:spcPct val="140000"/>
              </a:lnSpc>
              <a:buNone/>
              <a:defRPr lang="en-US" sz="1600" dirty="0">
                <a:solidFill>
                  <a:srgbClr val="EDEFF3"/>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slideLayout" Target="../slideLayouts/slideLayout2.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 Id="rId5"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 Id="rId5" Type="http://schemas.openxmlformats.org/officeDocument/2006/relationships/image" Target="../media/image3.png"/><Relationship Id="rId6"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391718"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PROJET DEEP LEARNING </a:t>
            </a:r>
            <a:endParaRPr lang="en-US" sz="1200" dirty="0"/>
          </a:p>
        </p:txBody>
      </p:sp>
      <p:sp>
        <p:nvSpPr>
          <p:cNvPr id="3" name="Text 1"/>
          <p:cNvSpPr/>
          <p:nvPr/>
        </p:nvSpPr>
        <p:spPr>
          <a:xfrm>
            <a:off x="8403709" y="863600"/>
            <a:ext cx="2975491"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DM Sans" pitchFamily="34" charset="0"/>
                <a:ea typeface="DM Sans" pitchFamily="34" charset="-122"/>
                <a:cs typeface="DM Sans" pitchFamily="34" charset="-120"/>
              </a:rPr>
              <a:t>Duc Duy et Simon · 9 octobre 2026</a:t>
            </a:r>
            <a:endParaRPr lang="en-US" sz="1200" dirty="0"/>
          </a:p>
        </p:txBody>
      </p:sp>
      <p:sp>
        <p:nvSpPr>
          <p:cNvPr id="4" name="Text 2"/>
          <p:cNvSpPr/>
          <p:nvPr>
            <p:ph type="title"/>
          </p:nvPr>
        </p:nvSpPr>
        <p:spPr>
          <a:xfrm>
            <a:off x="812800" y="1814860"/>
            <a:ext cx="10883392" cy="1579860"/>
          </a:xfrm>
          <a:prstGeom prst="rect">
            <a:avLst/>
          </a:prstGeom>
          <a:noFill/>
          <a:ln/>
        </p:spPr>
        <p:txBody>
          <a:bodyPr wrap="square" lIns="0" tIns="0" rIns="0" bIns="0" rtlCol="0" anchor="t">
            <a:normAutofit/>
          </a:bodyPr>
          <a:lstStyle/>
          <a:p>
            <a:pPr algn="l" indent="0" marL="0">
              <a:lnSpc>
                <a:spcPts val="6120"/>
              </a:lnSpc>
              <a:buNone/>
            </a:pPr>
            <a:r>
              <a:rPr lang="en-US" sz="6000" b="1" i="0" spc="-100" kern="0" dirty="0">
                <a:solidFill>
                  <a:srgbClr val="EDEFF3"/>
                </a:solidFill>
                <a:latin typeface="Space Grotesk" pitchFamily="34" charset="0"/>
                <a:ea typeface="Space Grotesk" pitchFamily="34" charset="-122"/>
                <a:cs typeface="Space Grotesk" pitchFamily="34" charset="-120"/>
              </a:rPr>
              <a:t>Quelle </a:t>
            </a:r>
            <a:r>
              <a:rPr lang="en-US" sz="6000" b="1" i="0" spc="-100" kern="0" dirty="0">
                <a:solidFill>
                  <a:srgbClr val="F5B841"/>
                </a:solidFill>
                <a:latin typeface="Space Grotesk" pitchFamily="34" charset="0"/>
                <a:ea typeface="Space Grotesk" pitchFamily="34" charset="-122"/>
                <a:cs typeface="Space Grotesk" pitchFamily="34" charset="-120"/>
              </a:rPr>
              <a:t>expression</a:t>
            </a:r>
            <a:r>
              <a:rPr lang="en-US" sz="6000" b="1" i="0" spc="-100" kern="0" dirty="0">
                <a:solidFill>
                  <a:srgbClr val="EDEFF3"/>
                </a:solidFill>
                <a:latin typeface="Space Grotesk" pitchFamily="34" charset="0"/>
                <a:ea typeface="Space Grotesk" pitchFamily="34" charset="-122"/>
                <a:cs typeface="Space Grotesk" pitchFamily="34" charset="-120"/>
              </a:rPr>
              <a:t> voit le réseau ?</a:t>
            </a:r>
            <a:endParaRPr lang="en-US" sz="6000" dirty="0"/>
          </a:p>
        </p:txBody>
      </p:sp>
      <p:sp>
        <p:nvSpPr>
          <p:cNvPr id="5" name="Text 3"/>
          <p:cNvSpPr/>
          <p:nvPr/>
        </p:nvSpPr>
        <p:spPr>
          <a:xfrm>
            <a:off x="812800" y="3496320"/>
            <a:ext cx="10883392" cy="289520"/>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A3ABBA"/>
                </a:solidFill>
                <a:latin typeface="DM Sans" pitchFamily="34" charset="0"/>
                <a:ea typeface="DM Sans" pitchFamily="34" charset="-122"/>
                <a:cs typeface="DM Sans" pitchFamily="34" charset="-120"/>
              </a:rPr>
              <a:t>Reconnaissance d'expressions faciales avec un CNN entraîné sur FER2013</a:t>
            </a:r>
            <a:endParaRPr lang="en-US" sz="1600" dirty="0"/>
          </a:p>
        </p:txBody>
      </p:sp>
      <p:pic>
        <p:nvPicPr>
          <p:cNvPr id="6" name="Image 0" descr="Visage FER2013 de la classe angry, 48x48 pixels agrandi">    </p:cNvPr>
          <p:cNvPicPr>
            <a:picLocks noChangeAspect="1"/>
          </p:cNvPicPr>
          <p:nvPr/>
        </p:nvPicPr>
        <p:blipFill>
          <a:blip r:embed="rId1"/>
          <a:srcRect l="0" r="0" t="0" b="0"/>
          <a:stretch/>
        </p:blipFill>
        <p:spPr>
          <a:xfrm rot="21420000">
            <a:off x="850900" y="4485680"/>
            <a:ext cx="1219200" cy="1219200"/>
          </a:xfrm>
          <a:prstGeom prst="rect">
            <a:avLst/>
          </a:prstGeom>
        </p:spPr>
      </p:pic>
      <p:sp>
        <p:nvSpPr>
          <p:cNvPr id="7" name="Shape 4"/>
          <p:cNvSpPr/>
          <p:nvPr/>
        </p:nvSpPr>
        <p:spPr>
          <a:xfrm rot="21420000">
            <a:off x="831850" y="4466630"/>
            <a:ext cx="1257300" cy="1257300"/>
          </a:xfrm>
          <a:prstGeom prst="rect">
            <a:avLst/>
          </a:prstGeom>
          <a:noFill/>
          <a:ln w="38100">
            <a:solidFill>
              <a:srgbClr val="EDEFF3"/>
            </a:solidFill>
            <a:prstDash val="solid"/>
          </a:ln>
        </p:spPr>
      </p:sp>
      <p:sp>
        <p:nvSpPr>
          <p:cNvPr id="8" name="Text 5"/>
          <p:cNvSpPr/>
          <p:nvPr/>
        </p:nvSpPr>
        <p:spPr>
          <a:xfrm>
            <a:off x="1186180" y="5831880"/>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angry</a:t>
            </a:r>
            <a:endParaRPr lang="en-US" sz="1200" dirty="0"/>
          </a:p>
        </p:txBody>
      </p:sp>
      <p:pic>
        <p:nvPicPr>
          <p:cNvPr id="9" name="Image 1" descr="Visage FER2013 de la classe disgust, 48x48 pixels agrandi">    </p:cNvPr>
          <p:cNvPicPr>
            <a:picLocks noChangeAspect="1"/>
          </p:cNvPicPr>
          <p:nvPr/>
        </p:nvPicPr>
        <p:blipFill>
          <a:blip r:embed="rId2"/>
          <a:srcRect l="0" r="0" t="0" b="0"/>
          <a:stretch/>
        </p:blipFill>
        <p:spPr>
          <a:xfrm rot="120000">
            <a:off x="2396083" y="4485680"/>
            <a:ext cx="1219200" cy="1219200"/>
          </a:xfrm>
          <a:prstGeom prst="rect">
            <a:avLst/>
          </a:prstGeom>
        </p:spPr>
      </p:pic>
      <p:sp>
        <p:nvSpPr>
          <p:cNvPr id="10" name="Shape 6"/>
          <p:cNvSpPr/>
          <p:nvPr/>
        </p:nvSpPr>
        <p:spPr>
          <a:xfrm rot="120000">
            <a:off x="2377033" y="4466630"/>
            <a:ext cx="1257300" cy="1257300"/>
          </a:xfrm>
          <a:prstGeom prst="rect">
            <a:avLst/>
          </a:prstGeom>
          <a:noFill/>
          <a:ln w="38100">
            <a:solidFill>
              <a:srgbClr val="EDEFF3"/>
            </a:solidFill>
            <a:prstDash val="solid"/>
          </a:ln>
        </p:spPr>
      </p:sp>
      <p:sp>
        <p:nvSpPr>
          <p:cNvPr id="11" name="Text 7"/>
          <p:cNvSpPr/>
          <p:nvPr/>
        </p:nvSpPr>
        <p:spPr>
          <a:xfrm>
            <a:off x="2621593" y="5831880"/>
            <a:ext cx="7681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disgust</a:t>
            </a:r>
            <a:endParaRPr lang="en-US" sz="1200" dirty="0"/>
          </a:p>
        </p:txBody>
      </p:sp>
      <p:pic>
        <p:nvPicPr>
          <p:cNvPr id="12" name="Image 2" descr="Visage FER2013 de la classe fear, 48x48 pixels agrandi">    </p:cNvPr>
          <p:cNvPicPr>
            <a:picLocks noChangeAspect="1"/>
          </p:cNvPicPr>
          <p:nvPr/>
        </p:nvPicPr>
        <p:blipFill>
          <a:blip r:embed="rId3"/>
          <a:srcRect l="0" r="0" t="0" b="0"/>
          <a:stretch/>
        </p:blipFill>
        <p:spPr>
          <a:xfrm rot="21480000">
            <a:off x="3941217" y="4485680"/>
            <a:ext cx="1219200" cy="1219200"/>
          </a:xfrm>
          <a:prstGeom prst="rect">
            <a:avLst/>
          </a:prstGeom>
        </p:spPr>
      </p:pic>
      <p:sp>
        <p:nvSpPr>
          <p:cNvPr id="13" name="Shape 8"/>
          <p:cNvSpPr/>
          <p:nvPr/>
        </p:nvSpPr>
        <p:spPr>
          <a:xfrm rot="21480000">
            <a:off x="3922167" y="4466630"/>
            <a:ext cx="1257300" cy="1257300"/>
          </a:xfrm>
          <a:prstGeom prst="rect">
            <a:avLst/>
          </a:prstGeom>
          <a:noFill/>
          <a:ln w="38100">
            <a:solidFill>
              <a:srgbClr val="EDEFF3"/>
            </a:solidFill>
            <a:prstDash val="solid"/>
          </a:ln>
        </p:spPr>
      </p:sp>
      <p:sp>
        <p:nvSpPr>
          <p:cNvPr id="14" name="Text 9"/>
          <p:cNvSpPr/>
          <p:nvPr/>
        </p:nvSpPr>
        <p:spPr>
          <a:xfrm>
            <a:off x="4331330" y="5831880"/>
            <a:ext cx="438924"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fear</a:t>
            </a:r>
            <a:endParaRPr lang="en-US" sz="1200" dirty="0"/>
          </a:p>
        </p:txBody>
      </p:sp>
      <p:pic>
        <p:nvPicPr>
          <p:cNvPr id="15" name="Image 3" descr="Visage FER2013 de la classe happy, 48x48 pixels agrandi">    </p:cNvPr>
          <p:cNvPicPr>
            <a:picLocks noChangeAspect="1"/>
          </p:cNvPicPr>
          <p:nvPr/>
        </p:nvPicPr>
        <p:blipFill>
          <a:blip r:embed="rId4"/>
          <a:srcRect l="0" r="0" t="0" b="0"/>
          <a:stretch/>
        </p:blipFill>
        <p:spPr>
          <a:xfrm rot="180000">
            <a:off x="5486400" y="4485680"/>
            <a:ext cx="1219200" cy="1219200"/>
          </a:xfrm>
          <a:prstGeom prst="rect">
            <a:avLst/>
          </a:prstGeom>
        </p:spPr>
      </p:pic>
      <p:sp>
        <p:nvSpPr>
          <p:cNvPr id="16" name="Shape 10"/>
          <p:cNvSpPr/>
          <p:nvPr/>
        </p:nvSpPr>
        <p:spPr>
          <a:xfrm rot="180000">
            <a:off x="5467350" y="4466630"/>
            <a:ext cx="1257300" cy="1257300"/>
          </a:xfrm>
          <a:prstGeom prst="rect">
            <a:avLst/>
          </a:prstGeom>
          <a:noFill/>
          <a:ln w="38100">
            <a:solidFill>
              <a:srgbClr val="EDEFF3"/>
            </a:solidFill>
            <a:prstDash val="solid"/>
          </a:ln>
        </p:spPr>
      </p:sp>
      <p:sp>
        <p:nvSpPr>
          <p:cNvPr id="17" name="Text 11"/>
          <p:cNvSpPr/>
          <p:nvPr/>
        </p:nvSpPr>
        <p:spPr>
          <a:xfrm>
            <a:off x="5821680" y="5831880"/>
            <a:ext cx="54864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happy</a:t>
            </a:r>
            <a:endParaRPr lang="en-US" sz="1200" dirty="0"/>
          </a:p>
        </p:txBody>
      </p:sp>
      <p:pic>
        <p:nvPicPr>
          <p:cNvPr id="18" name="Image 4" descr="Visage FER2013 de la classe neutral, 48x48 pixels agrandi">    </p:cNvPr>
          <p:cNvPicPr>
            <a:picLocks noChangeAspect="1"/>
          </p:cNvPicPr>
          <p:nvPr/>
        </p:nvPicPr>
        <p:blipFill>
          <a:blip r:embed="rId5"/>
          <a:srcRect l="0" r="0" t="0" b="0"/>
          <a:stretch/>
        </p:blipFill>
        <p:spPr>
          <a:xfrm rot="21480000">
            <a:off x="7031583" y="4485680"/>
            <a:ext cx="1219200" cy="1219200"/>
          </a:xfrm>
          <a:prstGeom prst="rect">
            <a:avLst/>
          </a:prstGeom>
        </p:spPr>
      </p:pic>
      <p:sp>
        <p:nvSpPr>
          <p:cNvPr id="19" name="Shape 12"/>
          <p:cNvSpPr/>
          <p:nvPr/>
        </p:nvSpPr>
        <p:spPr>
          <a:xfrm rot="21480000">
            <a:off x="7012533" y="4466630"/>
            <a:ext cx="1257300" cy="1257300"/>
          </a:xfrm>
          <a:prstGeom prst="rect">
            <a:avLst/>
          </a:prstGeom>
          <a:noFill/>
          <a:ln w="38100">
            <a:solidFill>
              <a:srgbClr val="EDEFF3"/>
            </a:solidFill>
            <a:prstDash val="solid"/>
          </a:ln>
        </p:spPr>
      </p:sp>
      <p:sp>
        <p:nvSpPr>
          <p:cNvPr id="20" name="Text 13"/>
          <p:cNvSpPr/>
          <p:nvPr/>
        </p:nvSpPr>
        <p:spPr>
          <a:xfrm>
            <a:off x="7257093" y="5831880"/>
            <a:ext cx="768132"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neutral</a:t>
            </a:r>
            <a:endParaRPr lang="en-US" sz="1200" dirty="0"/>
          </a:p>
        </p:txBody>
      </p:sp>
      <p:pic>
        <p:nvPicPr>
          <p:cNvPr id="21" name="Image 5" descr="Visage FER2013 de la classe sad, 48x48 pixels agrandi">    </p:cNvPr>
          <p:cNvPicPr>
            <a:picLocks noChangeAspect="1"/>
          </p:cNvPicPr>
          <p:nvPr/>
        </p:nvPicPr>
        <p:blipFill>
          <a:blip r:embed="rId6"/>
          <a:srcRect l="0" r="0" t="0" b="0"/>
          <a:stretch/>
        </p:blipFill>
        <p:spPr>
          <a:xfrm rot="120000">
            <a:off x="8576717" y="4485680"/>
            <a:ext cx="1219200" cy="1219200"/>
          </a:xfrm>
          <a:prstGeom prst="rect">
            <a:avLst/>
          </a:prstGeom>
        </p:spPr>
      </p:pic>
      <p:sp>
        <p:nvSpPr>
          <p:cNvPr id="22" name="Shape 14"/>
          <p:cNvSpPr/>
          <p:nvPr/>
        </p:nvSpPr>
        <p:spPr>
          <a:xfrm rot="120000">
            <a:off x="8557667" y="4466630"/>
            <a:ext cx="1257300" cy="1257300"/>
          </a:xfrm>
          <a:prstGeom prst="rect">
            <a:avLst/>
          </a:prstGeom>
          <a:noFill/>
          <a:ln w="38100">
            <a:solidFill>
              <a:srgbClr val="EDEFF3"/>
            </a:solidFill>
            <a:prstDash val="solid"/>
          </a:ln>
        </p:spPr>
      </p:sp>
      <p:sp>
        <p:nvSpPr>
          <p:cNvPr id="23" name="Text 15"/>
          <p:cNvSpPr/>
          <p:nvPr/>
        </p:nvSpPr>
        <p:spPr>
          <a:xfrm>
            <a:off x="9021713" y="5831880"/>
            <a:ext cx="32920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sad</a:t>
            </a:r>
            <a:endParaRPr lang="en-US" sz="1200" dirty="0"/>
          </a:p>
        </p:txBody>
      </p:sp>
      <p:pic>
        <p:nvPicPr>
          <p:cNvPr id="24" name="Image 6" descr="Visage FER2013 de la classe surprise, 48x48 pixels agrandi">    </p:cNvPr>
          <p:cNvPicPr>
            <a:picLocks noChangeAspect="1"/>
          </p:cNvPicPr>
          <p:nvPr/>
        </p:nvPicPr>
        <p:blipFill>
          <a:blip r:embed="rId7"/>
          <a:srcRect l="0" r="0" t="0" b="0"/>
          <a:stretch/>
        </p:blipFill>
        <p:spPr>
          <a:xfrm rot="21420000">
            <a:off x="10121900" y="4485680"/>
            <a:ext cx="1219200" cy="1219200"/>
          </a:xfrm>
          <a:prstGeom prst="rect">
            <a:avLst/>
          </a:prstGeom>
        </p:spPr>
      </p:pic>
      <p:sp>
        <p:nvSpPr>
          <p:cNvPr id="25" name="Shape 16"/>
          <p:cNvSpPr/>
          <p:nvPr/>
        </p:nvSpPr>
        <p:spPr>
          <a:xfrm rot="21420000">
            <a:off x="10102850" y="4466630"/>
            <a:ext cx="1257300" cy="1257300"/>
          </a:xfrm>
          <a:prstGeom prst="rect">
            <a:avLst/>
          </a:prstGeom>
          <a:noFill/>
          <a:ln w="38100">
            <a:solidFill>
              <a:srgbClr val="EDEFF3"/>
            </a:solidFill>
            <a:prstDash val="solid"/>
          </a:ln>
        </p:spPr>
      </p:sp>
      <p:sp>
        <p:nvSpPr>
          <p:cNvPr id="26" name="Text 17"/>
          <p:cNvSpPr/>
          <p:nvPr/>
        </p:nvSpPr>
        <p:spPr>
          <a:xfrm>
            <a:off x="10292576" y="5831880"/>
            <a:ext cx="877848"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surprise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974304"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1 · DONNÉES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FER2013 : 35 887 visages, 7 classes déséquilibrées</a:t>
            </a:r>
            <a:endParaRPr lang="en-US" sz="2800" dirty="0"/>
          </a:p>
        </p:txBody>
      </p:sp>
      <p:sp>
        <p:nvSpPr>
          <p:cNvPr id="4" name="Shape 2"/>
          <p:cNvSpPr/>
          <p:nvPr/>
        </p:nvSpPr>
        <p:spPr>
          <a:xfrm>
            <a:off x="812800" y="1823641"/>
            <a:ext cx="2927350" cy="4013200"/>
          </a:xfrm>
          <a:prstGeom prst="roundRect">
            <a:avLst>
              <a:gd name="adj" fmla="val 2603"/>
            </a:avLst>
          </a:prstGeom>
          <a:solidFill>
            <a:srgbClr val="FFFFFF"/>
          </a:solidFill>
          <a:ln/>
        </p:spPr>
      </p:sp>
      <p:pic>
        <p:nvPicPr>
          <p:cNvPr id="5" name="Image 0" descr="Cinq images d'exemple pour chacune des 7 classes de FER2013">    </p:cNvPr>
          <p:cNvPicPr>
            <a:picLocks noChangeAspect="1"/>
          </p:cNvPicPr>
          <p:nvPr/>
        </p:nvPicPr>
        <p:blipFill>
          <a:blip r:embed="rId1"/>
          <a:srcRect l="-36" r="-36" t="0" b="0"/>
          <a:stretch/>
        </p:blipFill>
        <p:spPr>
          <a:xfrm>
            <a:off x="889000" y="1899841"/>
            <a:ext cx="2774950" cy="3860800"/>
          </a:xfrm>
          <a:prstGeom prst="rect">
            <a:avLst/>
          </a:prstGeom>
        </p:spPr>
      </p:pic>
      <p:sp>
        <p:nvSpPr>
          <p:cNvPr id="6" name="Shape 3"/>
          <p:cNvSpPr/>
          <p:nvPr/>
        </p:nvSpPr>
        <p:spPr>
          <a:xfrm>
            <a:off x="3994150" y="1823641"/>
            <a:ext cx="4216400" cy="2419350"/>
          </a:xfrm>
          <a:prstGeom prst="roundRect">
            <a:avLst>
              <a:gd name="adj" fmla="val 3150"/>
            </a:avLst>
          </a:prstGeom>
          <a:solidFill>
            <a:srgbClr val="FFFFFF"/>
          </a:solidFill>
          <a:ln/>
        </p:spPr>
      </p:sp>
      <p:pic>
        <p:nvPicPr>
          <p:cNvPr id="7" name="Image 1" descr="Graphique en barres du nombre d'images d'entraînement par classe">    </p:cNvPr>
          <p:cNvPicPr>
            <a:picLocks noChangeAspect="1"/>
          </p:cNvPicPr>
          <p:nvPr/>
        </p:nvPicPr>
        <p:blipFill>
          <a:blip r:embed="rId2"/>
          <a:srcRect l="0" r="0" t="-33" b="-33"/>
          <a:stretch/>
        </p:blipFill>
        <p:spPr>
          <a:xfrm>
            <a:off x="4070350" y="1899841"/>
            <a:ext cx="4064000" cy="2266950"/>
          </a:xfrm>
          <a:prstGeom prst="rect">
            <a:avLst/>
          </a:prstGeom>
        </p:spPr>
      </p:pic>
      <p:sp>
        <p:nvSpPr>
          <p:cNvPr id="8" name="Shape 4"/>
          <p:cNvSpPr/>
          <p:nvPr/>
        </p:nvSpPr>
        <p:spPr>
          <a:xfrm>
            <a:off x="8366125" y="1826816"/>
            <a:ext cx="3009900" cy="2089150"/>
          </a:xfrm>
          <a:prstGeom prst="roundRect">
            <a:avLst>
              <a:gd name="adj" fmla="val 3495"/>
            </a:avLst>
          </a:prstGeom>
          <a:solidFill>
            <a:srgbClr val="0B0D12"/>
          </a:solidFill>
          <a:ln w="6350">
            <a:solidFill>
              <a:srgbClr val="2C3340"/>
            </a:solidFill>
            <a:prstDash val="solid"/>
          </a:ln>
        </p:spPr>
      </p:sp>
      <p:sp>
        <p:nvSpPr>
          <p:cNvPr id="9" name="Text 5"/>
          <p:cNvSpPr/>
          <p:nvPr/>
        </p:nvSpPr>
        <p:spPr>
          <a:xfrm>
            <a:off x="8521700" y="19569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images vérifiées: 35874</a:t>
            </a:r>
            <a:endParaRPr lang="en-US" sz="1200" dirty="0"/>
          </a:p>
        </p:txBody>
      </p:sp>
      <p:sp>
        <p:nvSpPr>
          <p:cNvPr id="10" name="Text 6"/>
          <p:cNvSpPr/>
          <p:nvPr/>
        </p:nvSpPr>
        <p:spPr>
          <a:xfrm>
            <a:off x="8521700" y="22236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train: 22958</a:t>
            </a:r>
            <a:endParaRPr lang="en-US" sz="1200" dirty="0"/>
          </a:p>
        </p:txBody>
      </p:sp>
      <p:sp>
        <p:nvSpPr>
          <p:cNvPr id="11" name="Text 7"/>
          <p:cNvSpPr/>
          <p:nvPr/>
        </p:nvSpPr>
        <p:spPr>
          <a:xfrm>
            <a:off x="8521700" y="24903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val: 5739</a:t>
            </a:r>
            <a:endParaRPr lang="en-US" sz="1200" dirty="0"/>
          </a:p>
        </p:txBody>
      </p:sp>
      <p:sp>
        <p:nvSpPr>
          <p:cNvPr id="12" name="Text 8"/>
          <p:cNvSpPr/>
          <p:nvPr/>
        </p:nvSpPr>
        <p:spPr>
          <a:xfrm>
            <a:off x="8521700" y="27570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test: 7177</a:t>
            </a:r>
            <a:endParaRPr lang="en-US" sz="1200" dirty="0"/>
          </a:p>
        </p:txBody>
      </p:sp>
      <p:sp>
        <p:nvSpPr>
          <p:cNvPr id="13" name="Text 9"/>
          <p:cNvSpPr/>
          <p:nvPr/>
        </p:nvSpPr>
        <p:spPr>
          <a:xfrm>
            <a:off x="8521700" y="30237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tailles: (48, 48)</a:t>
            </a:r>
            <a:endParaRPr lang="en-US" sz="1200" dirty="0"/>
          </a:p>
        </p:txBody>
      </p:sp>
      <p:sp>
        <p:nvSpPr>
          <p:cNvPr id="14" name="Text 10"/>
          <p:cNvSpPr/>
          <p:nvPr/>
        </p:nvSpPr>
        <p:spPr>
          <a:xfrm>
            <a:off x="8521700" y="32904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modes: L, .jpg</a:t>
            </a:r>
            <a:endParaRPr lang="en-US" sz="1200" dirty="0"/>
          </a:p>
        </p:txBody>
      </p:sp>
      <p:sp>
        <p:nvSpPr>
          <p:cNvPr id="15" name="Text 11"/>
          <p:cNvSpPr/>
          <p:nvPr/>
        </p:nvSpPr>
        <p:spPr>
          <a:xfrm>
            <a:off x="8521700" y="3557191"/>
            <a:ext cx="2779713"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ratio max/min: 16.5</a:t>
            </a:r>
            <a:endParaRPr lang="en-US" sz="1200" dirty="0"/>
          </a:p>
        </p:txBody>
      </p:sp>
      <p:sp>
        <p:nvSpPr>
          <p:cNvPr id="16" name="Text 12"/>
          <p:cNvSpPr/>
          <p:nvPr/>
        </p:nvSpPr>
        <p:spPr>
          <a:xfrm>
            <a:off x="3994150" y="4395391"/>
            <a:ext cx="2430869"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Source.</a:t>
            </a:r>
            <a:r>
              <a:rPr lang="en-US" sz="1300" dirty="0">
                <a:solidFill>
                  <a:srgbClr val="A3ABBA"/>
                </a:solidFill>
                <a:latin typeface="DM Sans" pitchFamily="34" charset="0"/>
                <a:ea typeface="DM Sans" pitchFamily="34" charset="-122"/>
                <a:cs typeface="DM Sans" pitchFamily="34" charset="-120"/>
              </a:rPr>
              <a:t> Kaggle msambare/fer2013, Carrier et Courville (ICML 2013), licence DbCL v1.0.</a:t>
            </a:r>
            <a:endParaRPr lang="en-US" sz="1300" dirty="0"/>
          </a:p>
        </p:txBody>
      </p:sp>
      <p:sp>
        <p:nvSpPr>
          <p:cNvPr id="17" name="Text 13"/>
          <p:cNvSpPr/>
          <p:nvPr/>
        </p:nvSpPr>
        <p:spPr>
          <a:xfrm>
            <a:off x="6506617" y="4395391"/>
            <a:ext cx="2430869"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Déséquilibre.</a:t>
            </a:r>
            <a:r>
              <a:rPr lang="en-US" sz="1300" dirty="0">
                <a:solidFill>
                  <a:srgbClr val="A3ABBA"/>
                </a:solidFill>
                <a:latin typeface="DM Sans" pitchFamily="34" charset="0"/>
                <a:ea typeface="DM Sans" pitchFamily="34" charset="-122"/>
                <a:cs typeface="DM Sans" pitchFamily="34" charset="-120"/>
              </a:rPr>
              <a:t> 436 images disgust contre 7 214 happy. 13 images vides retirées.</a:t>
            </a:r>
            <a:endParaRPr lang="en-US" sz="1300" dirty="0"/>
          </a:p>
        </p:txBody>
      </p:sp>
      <p:sp>
        <p:nvSpPr>
          <p:cNvPr id="18" name="Text 14"/>
          <p:cNvSpPr/>
          <p:nvPr/>
        </p:nvSpPr>
        <p:spPr>
          <a:xfrm>
            <a:off x="9019084" y="4395391"/>
            <a:ext cx="2430869" cy="94992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Préparation.</a:t>
            </a:r>
            <a:r>
              <a:rPr lang="en-US" sz="1300" dirty="0">
                <a:solidFill>
                  <a:srgbClr val="A3ABBA"/>
                </a:solidFill>
                <a:latin typeface="DM Sans" pitchFamily="34" charset="0"/>
                <a:ea typeface="DM Sans" pitchFamily="34" charset="-122"/>
                <a:cs typeface="DM Sans" pitchFamily="34" charset="-120"/>
              </a:rPr>
              <a:t> Pixels divisés par 255, labels en one-hot, 20% du train pour la validation.</a:t>
            </a:r>
            <a:endParaRPr lang="en-US" sz="1300" dirty="0"/>
          </a:p>
        </p:txBody>
      </p:sp>
      <p:sp>
        <p:nvSpPr>
          <p:cNvPr id="19"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Sorties de l'étape 0 et des cellules 1a, 1b et 1c du notebook</a:t>
            </a:r>
            <a:endParaRPr lang="en-US" sz="1200" dirty="0"/>
          </a:p>
        </p:txBody>
      </p:sp>
      <p:sp>
        <p:nvSpPr>
          <p:cNvPr id="20"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645966"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2 · BASELINE DENSE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Un réseau dense qui reste sous 35% en validation</a:t>
            </a:r>
            <a:endParaRPr lang="en-US" sz="2800" dirty="0"/>
          </a:p>
        </p:txBody>
      </p:sp>
      <p:sp>
        <p:nvSpPr>
          <p:cNvPr id="4" name="Shape 2"/>
          <p:cNvSpPr/>
          <p:nvPr/>
        </p:nvSpPr>
        <p:spPr>
          <a:xfrm>
            <a:off x="812800" y="1823641"/>
            <a:ext cx="6375400" cy="2736850"/>
          </a:xfrm>
          <a:prstGeom prst="roundRect">
            <a:avLst>
              <a:gd name="adj" fmla="val 2784"/>
            </a:avLst>
          </a:prstGeom>
          <a:solidFill>
            <a:srgbClr val="FFFFFF"/>
          </a:solidFill>
          <a:ln/>
        </p:spPr>
      </p:sp>
      <p:pic>
        <p:nvPicPr>
          <p:cNvPr id="5" name="Image 0" descr="Courbes de loss et d'accuracy de la baseline dense, train et validation, sur 20 époques">    </p:cNvPr>
          <p:cNvPicPr>
            <a:picLocks noChangeAspect="1"/>
          </p:cNvPicPr>
          <p:nvPr/>
        </p:nvPicPr>
        <p:blipFill>
          <a:blip r:embed="rId5"/>
          <a:srcRect l="0" r="0" t="-19" b="-19"/>
          <a:stretch/>
        </p:blipFill>
        <p:spPr>
          <a:xfrm>
            <a:off x="889000" y="1899841"/>
            <a:ext cx="6223000" cy="2584450"/>
          </a:xfrm>
          <a:prstGeom prst="rect">
            <a:avLst/>
          </a:prstGeom>
        </p:spPr>
      </p:pic>
      <p:sp>
        <p:nvSpPr>
          <p:cNvPr id="6" name="Shape 3"/>
          <p:cNvSpPr/>
          <p:nvPr/>
        </p:nvSpPr>
        <p:spPr>
          <a:xfrm>
            <a:off x="815975" y="4716066"/>
            <a:ext cx="6597650" cy="488950"/>
          </a:xfrm>
          <a:prstGeom prst="roundRect">
            <a:avLst>
              <a:gd name="adj" fmla="val 14935"/>
            </a:avLst>
          </a:prstGeom>
          <a:solidFill>
            <a:srgbClr val="0B0D12"/>
          </a:solidFill>
          <a:ln w="6350">
            <a:solidFill>
              <a:srgbClr val="2C3340"/>
            </a:solidFill>
            <a:prstDash val="solid"/>
          </a:ln>
        </p:spPr>
      </p:sp>
      <p:sp>
        <p:nvSpPr>
          <p:cNvPr id="7" name="Text 4"/>
          <p:cNvSpPr/>
          <p:nvPr/>
        </p:nvSpPr>
        <p:spPr>
          <a:xfrm>
            <a:off x="971550" y="4846241"/>
            <a:ext cx="2777480"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B841"/>
                </a:solidFill>
                <a:latin typeface="JetBrains Mono" pitchFamily="49" charset="0"/>
                <a:ea typeface="JetBrains Mono" pitchFamily="49" charset="-122"/>
                <a:cs typeface="JetBrains Mono" pitchFamily="49" charset="-120"/>
              </a:rPr>
              <a:t>accuracy val baseline: 34.2 %</a:t>
            </a:r>
            <a:endParaRPr lang="en-US" sz="1200" dirty="0"/>
          </a:p>
        </p:txBody>
      </p:sp>
      <p:sp>
        <p:nvSpPr>
          <p:cNvPr id="8" name="Text 5"/>
          <p:cNvSpPr/>
          <p:nvPr/>
        </p:nvSpPr>
        <p:spPr>
          <a:xfrm>
            <a:off x="3749030" y="4846241"/>
            <a:ext cx="134278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hasard: 14.3 %</a:t>
            </a:r>
            <a:endParaRPr lang="en-US" sz="1200" dirty="0"/>
          </a:p>
        </p:txBody>
      </p:sp>
      <p:sp>
        <p:nvSpPr>
          <p:cNvPr id="9" name="Text 6"/>
          <p:cNvSpPr/>
          <p:nvPr/>
        </p:nvSpPr>
        <p:spPr>
          <a:xfrm>
            <a:off x="5091816" y="4846241"/>
            <a:ext cx="2166234" cy="254000"/>
          </a:xfrm>
          <a:prstGeom prst="rect">
            <a:avLst/>
          </a:prstGeom>
          <a:noFill/>
          <a:ln/>
        </p:spPr>
        <p:txBody>
          <a:bodyPr wrap="square" lIns="0" tIns="0" rIns="0" bIns="0" rtlCol="0" anchor="t">
            <a:normAutofit/>
          </a:bodyPr>
          <a:lstStyle/>
          <a:p>
            <a:pPr algn="r"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toujours happy : 24.4 %</a:t>
            </a:r>
            <a:endParaRPr lang="en-US" sz="1200" dirty="0"/>
          </a:p>
        </p:txBody>
      </p:sp>
      <p:sp>
        <p:nvSpPr>
          <p:cNvPr id="10" name="Text 7"/>
          <p:cNvSpPr/>
          <p:nvPr/>
        </p:nvSpPr>
        <p:spPr>
          <a:xfrm>
            <a:off x="7670800" y="1823641"/>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Architecture</a:t>
            </a:r>
            <a:endParaRPr lang="en-US" sz="1400" dirty="0"/>
          </a:p>
        </p:txBody>
      </p:sp>
      <p:sp>
        <p:nvSpPr>
          <p:cNvPr id="11" name="Text 8"/>
          <p:cNvSpPr/>
          <p:nvPr/>
        </p:nvSpPr>
        <p:spPr>
          <a:xfrm>
            <a:off x="7670800" y="2163961"/>
            <a:ext cx="381965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Flatten (2304 valeurs), Dense 128 + ReLU, Dense 7 + softmax. 295 943 paramètres, Adam, 20 époques fixes.</a:t>
            </a:r>
            <a:endParaRPr lang="en-US" sz="1300" dirty="0"/>
          </a:p>
        </p:txBody>
      </p:sp>
      <p:sp>
        <p:nvSpPr>
          <p:cNvPr id="12" name="Text 9"/>
          <p:cNvSpPr/>
          <p:nvPr/>
        </p:nvSpPr>
        <p:spPr>
          <a:xfrm>
            <a:off x="7670800" y="2984351"/>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Exemple de sortie pour une image</a:t>
            </a:r>
            <a:endParaRPr lang="en-US" sz="1400" dirty="0"/>
          </a:p>
        </p:txBody>
      </p:sp>
      <p:sp>
        <p:nvSpPr>
          <p:cNvPr id="13" name="Shape 10"/>
          <p:cNvSpPr/>
          <p:nvPr/>
        </p:nvSpPr>
        <p:spPr>
          <a:xfrm>
            <a:off x="7670800" y="3324671"/>
            <a:ext cx="1104900" cy="1206500"/>
          </a:xfrm>
          <a:prstGeom prst="roundRect">
            <a:avLst>
              <a:gd name="adj" fmla="val 6897"/>
            </a:avLst>
          </a:prstGeom>
          <a:solidFill>
            <a:srgbClr val="FFFFFF"/>
          </a:solidFill>
          <a:ln/>
        </p:spPr>
      </p:sp>
      <p:pic>
        <p:nvPicPr>
          <p:cNvPr id="14" name="Image 1" descr="Image de validation de la classe neutral donnée à la baseline">    </p:cNvPr>
          <p:cNvPicPr>
            <a:picLocks noChangeAspect="1"/>
          </p:cNvPicPr>
          <p:nvPr/>
        </p:nvPicPr>
        <p:blipFill>
          <a:blip r:embed="rId2"/>
          <a:srcRect l="0" r="0" t="-131" b="-131"/>
          <a:stretch/>
        </p:blipFill>
        <p:spPr>
          <a:xfrm>
            <a:off x="7747000" y="3400871"/>
            <a:ext cx="952500" cy="1054100"/>
          </a:xfrm>
          <a:prstGeom prst="rect">
            <a:avLst/>
          </a:prstGeom>
        </p:spPr>
      </p:pic>
      <p:sp>
        <p:nvSpPr>
          <p:cNvPr id="15" name="Shape 11"/>
          <p:cNvSpPr/>
          <p:nvPr/>
        </p:nvSpPr>
        <p:spPr>
          <a:xfrm>
            <a:off x="8931275" y="3327846"/>
            <a:ext cx="2444750" cy="2281833"/>
          </a:xfrm>
          <a:prstGeom prst="roundRect">
            <a:avLst>
              <a:gd name="adj" fmla="val 3200"/>
            </a:avLst>
          </a:prstGeom>
          <a:solidFill>
            <a:srgbClr val="0B0D12"/>
          </a:solidFill>
          <a:ln w="6350">
            <a:solidFill>
              <a:srgbClr val="2C3340"/>
            </a:solidFill>
            <a:prstDash val="solid"/>
          </a:ln>
        </p:spPr>
      </p:sp>
      <p:sp>
        <p:nvSpPr>
          <p:cNvPr id="16" name="Text 12"/>
          <p:cNvSpPr/>
          <p:nvPr/>
        </p:nvSpPr>
        <p:spPr>
          <a:xfrm>
            <a:off x="9086850" y="3458021"/>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angry 0.02</a:t>
            </a:r>
            <a:endParaRPr lang="en-US" sz="1200" dirty="0"/>
          </a:p>
        </p:txBody>
      </p:sp>
      <p:sp>
        <p:nvSpPr>
          <p:cNvPr id="17" name="Text 13"/>
          <p:cNvSpPr/>
          <p:nvPr/>
        </p:nvSpPr>
        <p:spPr>
          <a:xfrm>
            <a:off x="9086850" y="3684042"/>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disgust 0.0</a:t>
            </a:r>
            <a:endParaRPr lang="en-US" sz="1200" dirty="0"/>
          </a:p>
        </p:txBody>
      </p:sp>
      <p:sp>
        <p:nvSpPr>
          <p:cNvPr id="18" name="Text 14"/>
          <p:cNvSpPr/>
          <p:nvPr/>
        </p:nvSpPr>
        <p:spPr>
          <a:xfrm>
            <a:off x="9086850" y="3910062"/>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fear 0.03</a:t>
            </a:r>
            <a:endParaRPr lang="en-US" sz="1200" dirty="0"/>
          </a:p>
        </p:txBody>
      </p:sp>
      <p:sp>
        <p:nvSpPr>
          <p:cNvPr id="19" name="Text 15"/>
          <p:cNvSpPr/>
          <p:nvPr/>
        </p:nvSpPr>
        <p:spPr>
          <a:xfrm>
            <a:off x="9086850" y="4136082"/>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happy 0.3</a:t>
            </a:r>
            <a:endParaRPr lang="en-US" sz="1200" dirty="0"/>
          </a:p>
        </p:txBody>
      </p:sp>
      <p:sp>
        <p:nvSpPr>
          <p:cNvPr id="20" name="Text 16"/>
          <p:cNvSpPr/>
          <p:nvPr/>
        </p:nvSpPr>
        <p:spPr>
          <a:xfrm>
            <a:off x="9086850" y="436210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neutral 0.62</a:t>
            </a:r>
            <a:endParaRPr lang="en-US" sz="1200" dirty="0"/>
          </a:p>
        </p:txBody>
      </p:sp>
      <p:sp>
        <p:nvSpPr>
          <p:cNvPr id="21" name="Text 17"/>
          <p:cNvSpPr/>
          <p:nvPr/>
        </p:nvSpPr>
        <p:spPr>
          <a:xfrm>
            <a:off x="9086850" y="458812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sad 0.03</a:t>
            </a:r>
            <a:endParaRPr lang="en-US" sz="1200" dirty="0"/>
          </a:p>
        </p:txBody>
      </p:sp>
      <p:sp>
        <p:nvSpPr>
          <p:cNvPr id="22" name="Text 18"/>
          <p:cNvSpPr/>
          <p:nvPr/>
        </p:nvSpPr>
        <p:spPr>
          <a:xfrm>
            <a:off x="9086850" y="4814143"/>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surprise 0.01</a:t>
            </a:r>
            <a:endParaRPr lang="en-US" sz="1200" dirty="0"/>
          </a:p>
        </p:txBody>
      </p:sp>
      <p:sp>
        <p:nvSpPr>
          <p:cNvPr id="23" name="Text 19"/>
          <p:cNvSpPr/>
          <p:nvPr/>
        </p:nvSpPr>
        <p:spPr>
          <a:xfrm>
            <a:off x="9086850" y="5040164"/>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prédit: neutral</a:t>
            </a:r>
            <a:endParaRPr lang="en-US" sz="1200" dirty="0"/>
          </a:p>
        </p:txBody>
      </p:sp>
      <p:sp>
        <p:nvSpPr>
          <p:cNvPr id="24" name="Text 20"/>
          <p:cNvSpPr/>
          <p:nvPr/>
        </p:nvSpPr>
        <p:spPr>
          <a:xfrm>
            <a:off x="9086850" y="5266184"/>
            <a:ext cx="219760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vrai: neutral</a:t>
            </a:r>
            <a:endParaRPr lang="en-US" sz="1200" dirty="0"/>
          </a:p>
        </p:txBody>
      </p:sp>
      <p:sp>
        <p:nvSpPr>
          <p:cNvPr id="25" name="Text 21"/>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Après Flatten le réseau ne sait plus quels pixels sont voisins. Sorties des cellules 2c et 2d.</a:t>
            </a:r>
            <a:endParaRPr lang="en-US" sz="1200" dirty="0"/>
          </a:p>
        </p:txBody>
      </p:sp>
      <p:sp>
        <p:nvSpPr>
          <p:cNvPr id="26"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554311"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3 · CNN</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Deux blocs convolution + pooling, 64 135 paramètres</a:t>
            </a:r>
            <a:endParaRPr lang="en-US" sz="2800" dirty="0"/>
          </a:p>
        </p:txBody>
      </p:sp>
      <p:sp>
        <p:nvSpPr>
          <p:cNvPr id="4" name="Shape 2"/>
          <p:cNvSpPr/>
          <p:nvPr/>
        </p:nvSpPr>
        <p:spPr>
          <a:xfrm>
            <a:off x="815975" y="1826816"/>
            <a:ext cx="6597650" cy="3180854"/>
          </a:xfrm>
          <a:prstGeom prst="roundRect">
            <a:avLst>
              <a:gd name="adj" fmla="val 2296"/>
            </a:avLst>
          </a:prstGeom>
          <a:solidFill>
            <a:srgbClr val="0B0D12"/>
          </a:solidFill>
          <a:ln w="6350">
            <a:solidFill>
              <a:srgbClr val="2C3340"/>
            </a:solidFill>
            <a:prstDash val="solid"/>
          </a:ln>
        </p:spPr>
      </p:sp>
      <p:sp>
        <p:nvSpPr>
          <p:cNvPr id="5" name="Text 3"/>
          <p:cNvSpPr/>
          <p:nvPr/>
        </p:nvSpPr>
        <p:spPr>
          <a:xfrm>
            <a:off x="971550" y="195699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Model: "cnn_base"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84250" y="2259211"/>
          <a:ext cx="6273800" cy="2328763"/>
        </p:xfrm>
        <a:graphic>
          <a:graphicData uri="http://schemas.openxmlformats.org/drawingml/2006/table">
            <a:tbl>
              <a:tblPr/>
              <a:tblGrid>
                <a:gridCol w="3136900"/>
                <a:gridCol w="1882140"/>
                <a:gridCol w="1254760"/>
              </a:tblGrid>
              <a:tr h="332680">
                <a:tc>
                  <a:txBody>
                    <a:bodyPr/>
                    <a:lstStyle/>
                    <a:p>
                      <a:pPr indent="0" marL="0">
                        <a:lnSpc>
                          <a:spcPts val="1680"/>
                        </a:lnSpc>
                        <a:buNone/>
                      </a:pPr>
                      <a:r>
                        <a:rPr lang="en-US" sz="1200" b="1" dirty="0">
                          <a:solidFill>
                            <a:srgbClr val="D7DCE5"/>
                          </a:solidFill>
                          <a:latin typeface="JetBrains Mono" pitchFamily="49" charset="0"/>
                          <a:ea typeface="JetBrains Mono" pitchFamily="49" charset="-122"/>
                          <a:cs typeface="JetBrains Mono" pitchFamily="49" charset="-120"/>
                        </a:rPr>
                        <a:t>Layer (type)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E5052"/>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E5052"/>
                      </a:solidFill>
                      <a:prstDash val="solid"/>
                      <a:round/>
                      <a:headEnd type="none" w="med" len="med"/>
                      <a:tailEnd type="none" w="med" len="med"/>
                    </a:lnB>
                    <a:solidFill>
                      <a:srgbClr val="1E2024"/>
                    </a:solidFill>
                  </a:tcPr>
                </a:tc>
                <a:tc>
                  <a:txBody>
                    <a:bodyPr/>
                    <a:lstStyle/>
                    <a:p>
                      <a:pPr indent="0" marL="0">
                        <a:lnSpc>
                          <a:spcPts val="1680"/>
                        </a:lnSpc>
                        <a:buNone/>
                      </a:pPr>
                      <a:r>
                        <a:rPr lang="en-US" sz="1200" b="1" dirty="0">
                          <a:solidFill>
                            <a:srgbClr val="D7DCE5"/>
                          </a:solidFill>
                          <a:latin typeface="JetBrains Mono" pitchFamily="49" charset="0"/>
                          <a:ea typeface="JetBrains Mono" pitchFamily="49" charset="-122"/>
                          <a:cs typeface="JetBrains Mono" pitchFamily="49" charset="-120"/>
                        </a:rPr>
                        <a:t>Output Shape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E5052"/>
                      </a:solidFill>
                      <a:prstDash val="solid"/>
                      <a:round/>
                      <a:headEnd type="none" w="med" len="med"/>
                      <a:tailEnd type="none" w="med" len="med"/>
                    </a:lnL>
                    <a:lnR w="12700" cap="flat" cmpd="sng" algn="ctr">
                      <a:solidFill>
                        <a:srgbClr val="4E5052"/>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E5052"/>
                      </a:solidFill>
                      <a:prstDash val="solid"/>
                      <a:round/>
                      <a:headEnd type="none" w="med" len="med"/>
                      <a:tailEnd type="none" w="med" len="med"/>
                    </a:lnB>
                    <a:solidFill>
                      <a:srgbClr val="1E2024"/>
                    </a:solidFill>
                  </a:tcPr>
                </a:tc>
                <a:tc>
                  <a:txBody>
                    <a:bodyPr/>
                    <a:lstStyle/>
                    <a:p>
                      <a:pPr algn="r" indent="0" marL="0">
                        <a:lnSpc>
                          <a:spcPts val="1680"/>
                        </a:lnSpc>
                        <a:buNone/>
                      </a:pPr>
                      <a:r>
                        <a:rPr lang="en-US" sz="1200" b="1" dirty="0">
                          <a:solidFill>
                            <a:srgbClr val="D7DCE5"/>
                          </a:solidFill>
                          <a:latin typeface="JetBrains Mono" pitchFamily="49" charset="0"/>
                          <a:ea typeface="JetBrains Mono" pitchFamily="49" charset="-122"/>
                          <a:cs typeface="JetBrains Mono" pitchFamily="49" charset="-120"/>
                        </a:rPr>
                        <a:t>Param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E5052"/>
                      </a:solidFill>
                      <a:prstDash val="solid"/>
                      <a:round/>
                      <a:headEnd type="none" w="med" len="med"/>
                      <a:tailEnd type="none" w="med" len="med"/>
                    </a:lnL>
                    <a:lnR w="12700" cap="flat" cmpd="sng" algn="ctr">
                      <a:solidFill>
                        <a:srgbClr val="4E5052"/>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E5052"/>
                      </a:solidFill>
                      <a:prstDash val="solid"/>
                      <a:round/>
                      <a:headEnd type="none" w="med" len="med"/>
                      <a:tailEnd type="none" w="med" len="med"/>
                    </a:lnB>
                    <a:solidFill>
                      <a:srgbClr val="1E2024"/>
                    </a:solidFill>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conv2d (Conv2D)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E5052"/>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44, 44, 32)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E5052"/>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832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E5052"/>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max_pooling2d (MaxPooling2D)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22, 22, 32)</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conv2d_1 (Conv2D)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20, 20, 64)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18,496</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max_pooling2d_1 (MaxPooling2D)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10, 10, 64)</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flatten (Flatten)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6400)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r h="332680">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dense (Dense)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(None, 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c>
                  <a:txBody>
                    <a:bodyPr/>
                    <a:lstStyle/>
                    <a:p>
                      <a:pPr algn="r"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44,807</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404144"/>
                      </a:solidFill>
                      <a:prstDash val="solid"/>
                      <a:round/>
                      <a:headEnd type="none" w="med" len="med"/>
                      <a:tailEnd type="none" w="med" len="med"/>
                    </a:lnL>
                    <a:lnR w="12700" cap="flat" cmpd="sng" algn="ctr">
                      <a:solidFill>
                        <a:srgbClr val="404144"/>
                      </a:solidFill>
                      <a:prstDash val="solid"/>
                      <a:round/>
                      <a:headEnd type="none" w="med" len="med"/>
                      <a:tailEnd type="none" w="med" len="med"/>
                    </a:lnR>
                    <a:lnT w="12700" cap="flat" cmpd="sng" algn="ctr">
                      <a:solidFill>
                        <a:srgbClr val="404144"/>
                      </a:solidFill>
                      <a:prstDash val="solid"/>
                      <a:round/>
                      <a:headEnd type="none" w="med" len="med"/>
                      <a:tailEnd type="none" w="med" len="med"/>
                    </a:lnT>
                    <a:lnB w="12700" cap="flat" cmpd="sng" algn="ctr">
                      <a:solidFill>
                        <a:srgbClr val="404144"/>
                      </a:solidFill>
                      <a:prstDash val="solid"/>
                      <a:round/>
                      <a:headEnd type="none" w="med" len="med"/>
                      <a:tailEnd type="none" w="med" len="med"/>
                    </a:lnB>
                  </a:tcPr>
                </a:tc>
              </a:tr>
            </a:tbl>
          </a:graphicData>
        </a:graphic>
      </p:graphicFrame>
      <p:sp>
        <p:nvSpPr>
          <p:cNvPr id="7" name="Text 4"/>
          <p:cNvSpPr/>
          <p:nvPr/>
        </p:nvSpPr>
        <p:spPr>
          <a:xfrm>
            <a:off x="971550" y="4664174"/>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Total params: 64,135 (250.53 KB)</a:t>
            </a:r>
            <a:endParaRPr lang="en-US" sz="1200" dirty="0"/>
          </a:p>
        </p:txBody>
      </p:sp>
      <p:sp>
        <p:nvSpPr>
          <p:cNvPr id="8" name="Text 5"/>
          <p:cNvSpPr/>
          <p:nvPr/>
        </p:nvSpPr>
        <p:spPr>
          <a:xfrm>
            <a:off x="7670800" y="1823641"/>
            <a:ext cx="3819652"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Filtres 5x5 puis 3x3.</a:t>
            </a:r>
            <a:r>
              <a:rPr lang="en-US" sz="1300" dirty="0">
                <a:solidFill>
                  <a:srgbClr val="A3ABBA"/>
                </a:solidFill>
                <a:latin typeface="DM Sans" pitchFamily="34" charset="0"/>
                <a:ea typeface="DM Sans" pitchFamily="34" charset="-122"/>
                <a:cs typeface="DM Sans" pitchFamily="34" charset="-120"/>
              </a:rPr>
              <a:t> Ils détectent des petits motifs partout dans l'image, avec les mêmes poids.</a:t>
            </a:r>
            <a:endParaRPr lang="en-US" sz="1300" dirty="0"/>
          </a:p>
        </p:txBody>
      </p:sp>
      <p:sp>
        <p:nvSpPr>
          <p:cNvPr id="9" name="Text 6"/>
          <p:cNvSpPr/>
          <p:nvPr/>
        </p:nvSpPr>
        <p:spPr>
          <a:xfrm>
            <a:off x="7670800" y="2669431"/>
            <a:ext cx="381965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48 - 5 + 1 = 44.</a:t>
            </a:r>
            <a:r>
              <a:rPr lang="en-US" sz="1300" dirty="0">
                <a:solidFill>
                  <a:srgbClr val="A3ABBA"/>
                </a:solidFill>
                <a:latin typeface="DM Sans" pitchFamily="34" charset="0"/>
                <a:ea typeface="DM Sans" pitchFamily="34" charset="-122"/>
                <a:cs typeface="DM Sans" pitchFamily="34" charset="-120"/>
              </a:rPr>
              <a:t> Stride 1, padding valid : la sortie rétrécit à chaque convolution.</a:t>
            </a:r>
            <a:endParaRPr lang="en-US" sz="1300" dirty="0"/>
          </a:p>
        </p:txBody>
      </p:sp>
      <p:sp>
        <p:nvSpPr>
          <p:cNvPr id="10" name="Text 7"/>
          <p:cNvSpPr/>
          <p:nvPr/>
        </p:nvSpPr>
        <p:spPr>
          <a:xfrm>
            <a:off x="7670800" y="3284091"/>
            <a:ext cx="381965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MaxPooling 2x2.</a:t>
            </a:r>
            <a:r>
              <a:rPr lang="en-US" sz="1300" dirty="0">
                <a:solidFill>
                  <a:srgbClr val="A3ABBA"/>
                </a:solidFill>
                <a:latin typeface="DM Sans" pitchFamily="34" charset="0"/>
                <a:ea typeface="DM Sans" pitchFamily="34" charset="-122"/>
                <a:cs typeface="DM Sans" pitchFamily="34" charset="-120"/>
              </a:rPr>
              <a:t> Divise la taille par 2 et rend le modèle moins sensible aux décalages.</a:t>
            </a:r>
            <a:endParaRPr lang="en-US" sz="1300" dirty="0"/>
          </a:p>
        </p:txBody>
      </p:sp>
      <p:sp>
        <p:nvSpPr>
          <p:cNvPr id="11" name="Text 8"/>
          <p:cNvSpPr/>
          <p:nvPr/>
        </p:nvSpPr>
        <p:spPr>
          <a:xfrm>
            <a:off x="7670800" y="3898751"/>
            <a:ext cx="381965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4,6 fois moins</a:t>
            </a:r>
            <a:r>
              <a:rPr lang="en-US" sz="1300" dirty="0">
                <a:solidFill>
                  <a:srgbClr val="A3ABBA"/>
                </a:solidFill>
                <a:latin typeface="DM Sans" pitchFamily="34" charset="0"/>
                <a:ea typeface="DM Sans" pitchFamily="34" charset="-122"/>
                <a:cs typeface="DM Sans" pitchFamily="34" charset="-120"/>
              </a:rPr>
              <a:t> de paramètres que la baseline (295 943).</a:t>
            </a:r>
            <a:endParaRPr lang="en-US" sz="1300" dirty="0"/>
          </a:p>
        </p:txBody>
      </p:sp>
      <p:sp>
        <p:nvSpPr>
          <p:cNvPr id="12" name="Text 9"/>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Sortie de cnn.summary(), cellule 3a. Les numéros ajoutés par Keras aux noms de couches sont retirés.</a:t>
            </a:r>
            <a:endParaRPr lang="en-US" sz="1200" dirty="0"/>
          </a:p>
        </p:txBody>
      </p:sp>
      <p:sp>
        <p:nvSpPr>
          <p:cNvPr id="13"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534096"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4 · ENTRAÎNEMENT</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Le CNN atteint 50.9%, puis surapprend après l'époque 10</a:t>
            </a:r>
            <a:endParaRPr lang="en-US" sz="2800" dirty="0"/>
          </a:p>
        </p:txBody>
      </p:sp>
      <p:sp>
        <p:nvSpPr>
          <p:cNvPr id="4" name="Shape 2"/>
          <p:cNvSpPr/>
          <p:nvPr/>
        </p:nvSpPr>
        <p:spPr>
          <a:xfrm>
            <a:off x="812800" y="1823641"/>
            <a:ext cx="6375400" cy="2762250"/>
          </a:xfrm>
          <a:prstGeom prst="roundRect">
            <a:avLst>
              <a:gd name="adj" fmla="val 2759"/>
            </a:avLst>
          </a:prstGeom>
          <a:solidFill>
            <a:srgbClr val="FFFFFF"/>
          </a:solidFill>
          <a:ln/>
        </p:spPr>
      </p:sp>
      <p:pic>
        <p:nvPicPr>
          <p:cNvPr id="5" name="Image 0" descr="Courbes de loss et d'accuracy du CNN de base, train et validation, avec la meilleure époque (10) en pointillés">    </p:cNvPr>
          <p:cNvPicPr>
            <a:picLocks noChangeAspect="1"/>
          </p:cNvPicPr>
          <p:nvPr/>
        </p:nvPicPr>
        <p:blipFill>
          <a:blip r:embed="rId4"/>
          <a:srcRect l="0" r="0" t="-51" b="-51"/>
          <a:stretch/>
        </p:blipFill>
        <p:spPr>
          <a:xfrm>
            <a:off x="889000" y="1899841"/>
            <a:ext cx="6223000" cy="2609850"/>
          </a:xfrm>
          <a:prstGeom prst="rect">
            <a:avLst/>
          </a:prstGeom>
        </p:spPr>
      </p:pic>
      <p:sp>
        <p:nvSpPr>
          <p:cNvPr id="6" name="Shape 3"/>
          <p:cNvSpPr/>
          <p:nvPr/>
        </p:nvSpPr>
        <p:spPr>
          <a:xfrm>
            <a:off x="815975" y="4741466"/>
            <a:ext cx="6597650" cy="925711"/>
          </a:xfrm>
          <a:prstGeom prst="roundRect">
            <a:avLst>
              <a:gd name="adj" fmla="val 7889"/>
            </a:avLst>
          </a:prstGeom>
          <a:solidFill>
            <a:srgbClr val="0B0D12"/>
          </a:solidFill>
          <a:ln w="6350">
            <a:solidFill>
              <a:srgbClr val="2C3340"/>
            </a:solidFill>
            <a:prstDash val="solid"/>
          </a:ln>
        </p:spPr>
      </p:sp>
      <p:sp>
        <p:nvSpPr>
          <p:cNvPr id="7" name="Text 4"/>
          <p:cNvSpPr/>
          <p:nvPr/>
        </p:nvSpPr>
        <p:spPr>
          <a:xfrm>
            <a:off x="971550" y="484624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époques faites: 16 / meilleure: 10</a:t>
            </a:r>
            <a:endParaRPr lang="en-US" sz="1200" dirty="0"/>
          </a:p>
        </p:txBody>
      </p:sp>
      <p:sp>
        <p:nvSpPr>
          <p:cNvPr id="8" name="Text 5"/>
          <p:cNvSpPr/>
          <p:nvPr/>
        </p:nvSpPr>
        <p:spPr>
          <a:xfrm>
            <a:off x="971550" y="509766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5B841"/>
                </a:solidFill>
                <a:latin typeface="JetBrains Mono" pitchFamily="49" charset="0"/>
                <a:ea typeface="JetBrains Mono" pitchFamily="49" charset="-122"/>
                <a:cs typeface="JetBrains Mono" pitchFamily="49" charset="-120"/>
              </a:rPr>
              <a:t>meilleure époque: acc train 58.4 acc val 50.9 val_loss 1.335</a:t>
            </a:r>
            <a:endParaRPr lang="en-US" sz="1200" dirty="0"/>
          </a:p>
        </p:txBody>
      </p:sp>
      <p:sp>
        <p:nvSpPr>
          <p:cNvPr id="9" name="Text 6"/>
          <p:cNvSpPr/>
          <p:nvPr/>
        </p:nvSpPr>
        <p:spPr>
          <a:xfrm>
            <a:off x="971550" y="5349081"/>
            <a:ext cx="64750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7DCE5"/>
                </a:solidFill>
                <a:latin typeface="JetBrains Mono" pitchFamily="49" charset="0"/>
                <a:ea typeface="JetBrains Mono" pitchFamily="49" charset="-122"/>
                <a:cs typeface="JetBrains Mono" pitchFamily="49" charset="-120"/>
              </a:rPr>
              <a:t>dernière époque: acc train 65.4 acc val 52.1 val_loss 1.372</a:t>
            </a:r>
            <a:endParaRPr lang="en-US" sz="1200" dirty="0"/>
          </a:p>
        </p:txBody>
      </p:sp>
      <p:sp>
        <p:nvSpPr>
          <p:cNvPr id="10" name="Text 7"/>
          <p:cNvSpPr/>
          <p:nvPr/>
        </p:nvSpPr>
        <p:spPr>
          <a:xfrm>
            <a:off x="7670800" y="1823641"/>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Loss</a:t>
            </a:r>
            <a:endParaRPr lang="en-US" sz="1400" dirty="0"/>
          </a:p>
        </p:txBody>
      </p:sp>
      <p:sp>
        <p:nvSpPr>
          <p:cNvPr id="11" name="Text 8"/>
          <p:cNvSpPr/>
          <p:nvPr/>
        </p:nvSpPr>
        <p:spPr>
          <a:xfrm>
            <a:off x="7670800" y="2062361"/>
            <a:ext cx="381965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categorical_crossentropy : une classe par image, one-hot, softmax</a:t>
            </a:r>
            <a:endParaRPr lang="en-US" sz="1300" dirty="0"/>
          </a:p>
        </p:txBody>
      </p:sp>
      <p:sp>
        <p:nvSpPr>
          <p:cNvPr id="12" name="Text 9"/>
          <p:cNvSpPr/>
          <p:nvPr/>
        </p:nvSpPr>
        <p:spPr>
          <a:xfrm>
            <a:off x="7670800" y="2647752"/>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Optimiseur</a:t>
            </a:r>
            <a:endParaRPr lang="en-US" sz="1400" dirty="0"/>
          </a:p>
        </p:txBody>
      </p:sp>
      <p:sp>
        <p:nvSpPr>
          <p:cNvPr id="13" name="Text 10"/>
          <p:cNvSpPr/>
          <p:nvPr/>
        </p:nvSpPr>
        <p:spPr>
          <a:xfrm>
            <a:off x="7670800" y="2886472"/>
            <a:ext cx="381965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Adam, learning rate 0.001</a:t>
            </a:r>
            <a:endParaRPr lang="en-US" sz="1300" dirty="0"/>
          </a:p>
        </p:txBody>
      </p:sp>
      <p:sp>
        <p:nvSpPr>
          <p:cNvPr id="14" name="Text 11"/>
          <p:cNvSpPr/>
          <p:nvPr/>
        </p:nvSpPr>
        <p:spPr>
          <a:xfrm>
            <a:off x="7670800" y="3249017"/>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Batch size</a:t>
            </a:r>
            <a:endParaRPr lang="en-US" sz="1400" dirty="0"/>
          </a:p>
        </p:txBody>
      </p:sp>
      <p:sp>
        <p:nvSpPr>
          <p:cNvPr id="15" name="Text 12"/>
          <p:cNvSpPr/>
          <p:nvPr/>
        </p:nvSpPr>
        <p:spPr>
          <a:xfrm>
            <a:off x="7670800" y="3487738"/>
            <a:ext cx="381965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128, soit 180 mises à jour par époque</a:t>
            </a:r>
            <a:endParaRPr lang="en-US" sz="1300" dirty="0"/>
          </a:p>
        </p:txBody>
      </p:sp>
      <p:sp>
        <p:nvSpPr>
          <p:cNvPr id="16" name="Text 13"/>
          <p:cNvSpPr/>
          <p:nvPr/>
        </p:nvSpPr>
        <p:spPr>
          <a:xfrm>
            <a:off x="7670800" y="3850283"/>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Époques</a:t>
            </a:r>
            <a:endParaRPr lang="en-US" sz="1400" dirty="0"/>
          </a:p>
        </p:txBody>
      </p:sp>
      <p:sp>
        <p:nvSpPr>
          <p:cNvPr id="17" name="Text 14"/>
          <p:cNvSpPr/>
          <p:nvPr/>
        </p:nvSpPr>
        <p:spPr>
          <a:xfrm>
            <a:off x="7670800" y="4089003"/>
            <a:ext cx="3819652"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30 max, early stopping sur val_loss avec une patience de 6</a:t>
            </a:r>
            <a:endParaRPr lang="en-US" sz="1300" dirty="0"/>
          </a:p>
        </p:txBody>
      </p:sp>
      <p:sp>
        <p:nvSpPr>
          <p:cNvPr id="18" name="Text 15"/>
          <p:cNvSpPr/>
          <p:nvPr/>
        </p:nvSpPr>
        <p:spPr>
          <a:xfrm>
            <a:off x="7670800" y="4674394"/>
            <a:ext cx="381965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Métriques</a:t>
            </a:r>
            <a:endParaRPr lang="en-US" sz="1400" dirty="0"/>
          </a:p>
        </p:txBody>
      </p:sp>
      <p:sp>
        <p:nvSpPr>
          <p:cNvPr id="19" name="Text 16"/>
          <p:cNvSpPr/>
          <p:nvPr/>
        </p:nvSpPr>
        <p:spPr>
          <a:xfrm>
            <a:off x="7670800" y="4913114"/>
            <a:ext cx="3819652"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EDEFF3"/>
                </a:solidFill>
                <a:latin typeface="DM Sans" pitchFamily="34" charset="0"/>
                <a:ea typeface="DM Sans" pitchFamily="34" charset="-122"/>
                <a:cs typeface="DM Sans" pitchFamily="34" charset="-120"/>
              </a:rPr>
              <a:t>accuracy, puis rappel par classe</a:t>
            </a:r>
            <a:endParaRPr lang="en-US" sz="1300" dirty="0"/>
          </a:p>
        </p:txBody>
      </p:sp>
      <p:sp>
        <p:nvSpPr>
          <p:cNvPr id="20" name="Text 1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Baseline dense : 34.2% en validation. Sorties des cellules 4a et 4b.</a:t>
            </a:r>
            <a:endParaRPr lang="en-US" sz="1200" dirty="0"/>
          </a:p>
        </p:txBody>
      </p:sp>
      <p:sp>
        <p:nvSpPr>
          <p:cNvPr id="21" name="Text 1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254597"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5 · ÉVALUATION</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Toutes les classes ne se valent pas</a:t>
            </a:r>
            <a:endParaRPr lang="en-US" sz="2800" dirty="0"/>
          </a:p>
        </p:txBody>
      </p:sp>
      <p:sp>
        <p:nvSpPr>
          <p:cNvPr id="4" name="Shape 2"/>
          <p:cNvSpPr/>
          <p:nvPr/>
        </p:nvSpPr>
        <p:spPr>
          <a:xfrm>
            <a:off x="812800" y="1823641"/>
            <a:ext cx="3213100" cy="2819400"/>
          </a:xfrm>
          <a:prstGeom prst="roundRect">
            <a:avLst>
              <a:gd name="adj" fmla="val 2703"/>
            </a:avLst>
          </a:prstGeom>
          <a:solidFill>
            <a:srgbClr val="FFFFFF"/>
          </a:solidFill>
          <a:ln/>
        </p:spPr>
      </p:sp>
      <p:pic>
        <p:nvPicPr>
          <p:cNvPr id="5" name="Image 0" descr="Matrice de confusion du CNN sur la validation, vraie classe en ligne et classe prédite en colonne">    </p:cNvPr>
          <p:cNvPicPr>
            <a:picLocks noChangeAspect="1"/>
          </p:cNvPicPr>
          <p:nvPr/>
        </p:nvPicPr>
        <p:blipFill>
          <a:blip r:embed="rId5"/>
          <a:srcRect l="-30" r="-30" t="0" b="0"/>
          <a:stretch/>
        </p:blipFill>
        <p:spPr>
          <a:xfrm>
            <a:off x="889000" y="1899841"/>
            <a:ext cx="3060700" cy="2667000"/>
          </a:xfrm>
          <a:prstGeom prst="rect">
            <a:avLst/>
          </a:prstGeom>
        </p:spPr>
      </p:pic>
      <p:sp>
        <p:nvSpPr>
          <p:cNvPr id="6" name="Shape 3"/>
          <p:cNvSpPr/>
          <p:nvPr/>
        </p:nvSpPr>
        <p:spPr>
          <a:xfrm>
            <a:off x="4229100" y="1823641"/>
            <a:ext cx="3143250" cy="2819400"/>
          </a:xfrm>
          <a:prstGeom prst="roundRect">
            <a:avLst>
              <a:gd name="adj" fmla="val 2703"/>
            </a:avLst>
          </a:prstGeom>
          <a:solidFill>
            <a:srgbClr val="FFFFFF"/>
          </a:solidFill>
          <a:ln/>
        </p:spPr>
      </p:sp>
      <p:pic>
        <p:nvPicPr>
          <p:cNvPr id="7" name="Image 1" descr="Courbes ROC du CNN, une par classe contre toutes les autres, avec l'AUC en légende">    </p:cNvPr>
          <p:cNvPicPr>
            <a:picLocks noChangeAspect="1"/>
          </p:cNvPicPr>
          <p:nvPr/>
        </p:nvPicPr>
        <p:blipFill>
          <a:blip r:embed="rId6"/>
          <a:srcRect l="-34" r="-34" t="0" b="0"/>
          <a:stretch/>
        </p:blipFill>
        <p:spPr>
          <a:xfrm>
            <a:off x="4305300" y="1899841"/>
            <a:ext cx="2990850" cy="2667000"/>
          </a:xfrm>
          <a:prstGeom prst="rect">
            <a:avLst/>
          </a:prstGeom>
        </p:spPr>
      </p:pic>
      <p:sp>
        <p:nvSpPr>
          <p:cNvPr id="8" name="Shape 4"/>
          <p:cNvSpPr/>
          <p:nvPr/>
        </p:nvSpPr>
        <p:spPr>
          <a:xfrm>
            <a:off x="7578725" y="1826816"/>
            <a:ext cx="3797300" cy="2089150"/>
          </a:xfrm>
          <a:prstGeom prst="roundRect">
            <a:avLst>
              <a:gd name="adj" fmla="val 3495"/>
            </a:avLst>
          </a:prstGeom>
          <a:solidFill>
            <a:srgbClr val="0B0D12"/>
          </a:solidFill>
          <a:ln w="6350">
            <a:solidFill>
              <a:srgbClr val="2C3340"/>
            </a:solidFill>
            <a:prstDash val="solid"/>
          </a:ln>
        </p:spPr>
      </p:sp>
      <p:sp>
        <p:nvSpPr>
          <p:cNvPr id="9" name="Text 5"/>
          <p:cNvSpPr/>
          <p:nvPr/>
        </p:nvSpPr>
        <p:spPr>
          <a:xfrm>
            <a:off x="7734300" y="19569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angry rappel: 43.0 % (334/777)</a:t>
            </a:r>
            <a:endParaRPr lang="en-US" sz="1200" dirty="0"/>
          </a:p>
        </p:txBody>
      </p:sp>
      <p:sp>
        <p:nvSpPr>
          <p:cNvPr id="10" name="Text 6"/>
          <p:cNvSpPr/>
          <p:nvPr/>
        </p:nvSpPr>
        <p:spPr>
          <a:xfrm>
            <a:off x="7734300" y="22236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B841"/>
                </a:solidFill>
                <a:latin typeface="JetBrains Mono" pitchFamily="49" charset="0"/>
                <a:ea typeface="JetBrains Mono" pitchFamily="49" charset="-122"/>
                <a:cs typeface="JetBrains Mono" pitchFamily="49" charset="-120"/>
              </a:rPr>
              <a:t>disgust rappel: 18.6 % (13/70)</a:t>
            </a:r>
            <a:endParaRPr lang="en-US" sz="1200" dirty="0"/>
          </a:p>
        </p:txBody>
      </p:sp>
      <p:sp>
        <p:nvSpPr>
          <p:cNvPr id="11" name="Text 7"/>
          <p:cNvSpPr/>
          <p:nvPr/>
        </p:nvSpPr>
        <p:spPr>
          <a:xfrm>
            <a:off x="7734300" y="24903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fear rappel: 24.8 % (202/816)</a:t>
            </a:r>
            <a:endParaRPr lang="en-US" sz="1200" dirty="0"/>
          </a:p>
        </p:txBody>
      </p:sp>
      <p:sp>
        <p:nvSpPr>
          <p:cNvPr id="12" name="Text 8"/>
          <p:cNvSpPr/>
          <p:nvPr/>
        </p:nvSpPr>
        <p:spPr>
          <a:xfrm>
            <a:off x="7734300" y="27570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happy rappel: 74.8 % (1047/1400)</a:t>
            </a:r>
            <a:endParaRPr lang="en-US" sz="1200" dirty="0"/>
          </a:p>
        </p:txBody>
      </p:sp>
      <p:sp>
        <p:nvSpPr>
          <p:cNvPr id="13" name="Text 9"/>
          <p:cNvSpPr/>
          <p:nvPr/>
        </p:nvSpPr>
        <p:spPr>
          <a:xfrm>
            <a:off x="7734300" y="30237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neutral rappel: 50.3 % (504/1001)</a:t>
            </a:r>
            <a:endParaRPr lang="en-US" sz="1200" dirty="0"/>
          </a:p>
        </p:txBody>
      </p:sp>
      <p:sp>
        <p:nvSpPr>
          <p:cNvPr id="14" name="Text 10"/>
          <p:cNvSpPr/>
          <p:nvPr/>
        </p:nvSpPr>
        <p:spPr>
          <a:xfrm>
            <a:off x="7734300" y="32904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sad rappel: 38.9 % (386/992)</a:t>
            </a:r>
            <a:endParaRPr lang="en-US" sz="1200" dirty="0"/>
          </a:p>
        </p:txBody>
      </p:sp>
      <p:sp>
        <p:nvSpPr>
          <p:cNvPr id="15" name="Text 11"/>
          <p:cNvSpPr/>
          <p:nvPr/>
        </p:nvSpPr>
        <p:spPr>
          <a:xfrm>
            <a:off x="7734300" y="3557191"/>
            <a:ext cx="3590735"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surprise rappel: 63.5 % (434/683)</a:t>
            </a:r>
            <a:endParaRPr lang="en-US" sz="1200" dirty="0"/>
          </a:p>
        </p:txBody>
      </p:sp>
      <p:sp>
        <p:nvSpPr>
          <p:cNvPr id="16" name="Text 12"/>
          <p:cNvSpPr/>
          <p:nvPr/>
        </p:nvSpPr>
        <p:spPr>
          <a:xfrm>
            <a:off x="812800" y="4846241"/>
            <a:ext cx="531088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Confusions les plus fréquentes.</a:t>
            </a:r>
            <a:r>
              <a:rPr lang="en-US" sz="1300" dirty="0">
                <a:solidFill>
                  <a:srgbClr val="A3ABBA"/>
                </a:solidFill>
                <a:latin typeface="DM Sans" pitchFamily="34" charset="0"/>
                <a:ea typeface="DM Sans" pitchFamily="34" charset="-122"/>
                <a:cs typeface="DM Sans" pitchFamily="34" charset="-120"/>
              </a:rPr>
              <a:t> sad prise pour neutral (187), neutral pour sad (174), fear pour sad (166), sad pour happy (150).</a:t>
            </a:r>
            <a:endParaRPr lang="en-US" sz="1300" dirty="0"/>
          </a:p>
        </p:txBody>
      </p:sp>
      <p:sp>
        <p:nvSpPr>
          <p:cNvPr id="17" name="Text 13"/>
          <p:cNvSpPr/>
          <p:nvPr/>
        </p:nvSpPr>
        <p:spPr>
          <a:xfrm>
            <a:off x="6223000" y="4846241"/>
            <a:ext cx="5310886"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Classes difficiles.</a:t>
            </a:r>
            <a:r>
              <a:rPr lang="en-US" sz="1300" dirty="0">
                <a:solidFill>
                  <a:srgbClr val="A3ABBA"/>
                </a:solidFill>
                <a:latin typeface="DM Sans" pitchFamily="34" charset="0"/>
                <a:ea typeface="DM Sans" pitchFamily="34" charset="-122"/>
                <a:cs typeface="DM Sans" pitchFamily="34" charset="-120"/>
              </a:rPr>
              <a:t> disgust manque d'images (436 en train), fear n'a pas de signe à elle, sad se confond avec neutral.</a:t>
            </a:r>
            <a:endParaRPr lang="en-US" sz="1300" dirty="0"/>
          </a:p>
        </p:txBody>
      </p:sp>
      <p:sp>
        <p:nvSpPr>
          <p:cNvPr id="18" name="Text 14"/>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CNN de base, validation, 5 739 images. Sorties des cellules 5a, 5b et 5c.</a:t>
            </a:r>
            <a:endParaRPr lang="en-US" sz="1200" dirty="0"/>
          </a:p>
        </p:txBody>
      </p:sp>
      <p:sp>
        <p:nvSpPr>
          <p:cNvPr id="19"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979513"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5 · ERREURS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Les erreurs les plus confiantes du CNN</a:t>
            </a:r>
            <a:endParaRPr lang="en-US" sz="2800" dirty="0"/>
          </a:p>
        </p:txBody>
      </p:sp>
      <p:sp>
        <p:nvSpPr>
          <p:cNvPr id="4" name="Shape 2"/>
          <p:cNvSpPr/>
          <p:nvPr/>
        </p:nvSpPr>
        <p:spPr>
          <a:xfrm>
            <a:off x="812800" y="1823641"/>
            <a:ext cx="7391400" cy="3105150"/>
          </a:xfrm>
          <a:prstGeom prst="roundRect">
            <a:avLst>
              <a:gd name="adj" fmla="val 2454"/>
            </a:avLst>
          </a:prstGeom>
          <a:solidFill>
            <a:srgbClr val="FFFFFF"/>
          </a:solidFill>
          <a:ln/>
        </p:spPr>
      </p:sp>
      <p:pic>
        <p:nvPicPr>
          <p:cNvPr id="5" name="Image 0" descr="Douze images de validation avec vraie classe, classe prédite et probabilité : 4 bonnes prédictions et 8 erreurs">    </p:cNvPr>
          <p:cNvPicPr>
            <a:picLocks noChangeAspect="1"/>
          </p:cNvPicPr>
          <p:nvPr/>
        </p:nvPicPr>
        <p:blipFill>
          <a:blip r:embed="rId4"/>
          <a:srcRect l="-38" r="-38" t="0" b="0"/>
          <a:stretch/>
        </p:blipFill>
        <p:spPr>
          <a:xfrm>
            <a:off x="889000" y="1899841"/>
            <a:ext cx="7239000" cy="2952750"/>
          </a:xfrm>
          <a:prstGeom prst="rect">
            <a:avLst/>
          </a:prstGeom>
        </p:spPr>
      </p:pic>
      <p:sp>
        <p:nvSpPr>
          <p:cNvPr id="6" name="Text 3"/>
          <p:cNvSpPr/>
          <p:nvPr/>
        </p:nvSpPr>
        <p:spPr>
          <a:xfrm>
            <a:off x="812800" y="5081191"/>
            <a:ext cx="7613142"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3ABBA"/>
                </a:solidFill>
                <a:latin typeface="DM Sans" pitchFamily="34" charset="0"/>
                <a:ea typeface="DM Sans" pitchFamily="34" charset="-122"/>
                <a:cs typeface="DM Sans" pitchFamily="34" charset="-120"/>
              </a:rPr>
              <a:t>Sur ces 8 erreurs, le modèle met entre 97% et 99% sur la mauvaise classe et au plus 3% sur la vraie.</a:t>
            </a:r>
            <a:endParaRPr lang="en-US" sz="1300" dirty="0"/>
          </a:p>
        </p:txBody>
      </p:sp>
      <p:sp>
        <p:nvSpPr>
          <p:cNvPr id="7" name="Text 4"/>
          <p:cNvSpPr/>
          <p:nvPr/>
        </p:nvSpPr>
        <p:spPr>
          <a:xfrm>
            <a:off x="8458200" y="1823641"/>
            <a:ext cx="30086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Expressions proches</a:t>
            </a:r>
            <a:endParaRPr lang="en-US" sz="1400" dirty="0"/>
          </a:p>
        </p:txBody>
      </p:sp>
      <p:sp>
        <p:nvSpPr>
          <p:cNvPr id="8" name="Text 5"/>
          <p:cNvSpPr/>
          <p:nvPr/>
        </p:nvSpPr>
        <p:spPr>
          <a:xfrm>
            <a:off x="8458200" y="2087761"/>
            <a:ext cx="300863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fear prédite surprise : yeux écarquillés, bouche ouverte, mains sur le visage.</a:t>
            </a:r>
            <a:endParaRPr lang="en-US" sz="1300" dirty="0"/>
          </a:p>
        </p:txBody>
      </p:sp>
      <p:sp>
        <p:nvSpPr>
          <p:cNvPr id="9" name="Text 6"/>
          <p:cNvSpPr/>
          <p:nvPr/>
        </p:nvSpPr>
        <p:spPr>
          <a:xfrm>
            <a:off x="8458200" y="2958951"/>
            <a:ext cx="30086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Étiquettes douteuses</a:t>
            </a:r>
            <a:endParaRPr lang="en-US" sz="1400" dirty="0"/>
          </a:p>
        </p:txBody>
      </p:sp>
      <p:sp>
        <p:nvSpPr>
          <p:cNvPr id="10" name="Text 7"/>
          <p:cNvSpPr/>
          <p:nvPr/>
        </p:nvSpPr>
        <p:spPr>
          <a:xfrm>
            <a:off x="8458200" y="3223071"/>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deux surprise prédites happy alors que la personne sourit ou rit.</a:t>
            </a:r>
            <a:endParaRPr lang="en-US" sz="1300" dirty="0"/>
          </a:p>
        </p:txBody>
      </p:sp>
      <p:sp>
        <p:nvSpPr>
          <p:cNvPr id="11" name="Text 8"/>
          <p:cNvSpPr/>
          <p:nvPr/>
        </p:nvSpPr>
        <p:spPr>
          <a:xfrm>
            <a:off x="8458200" y="3863132"/>
            <a:ext cx="300863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F5B841"/>
                </a:solidFill>
                <a:latin typeface="Space Grotesk" pitchFamily="34" charset="0"/>
                <a:ea typeface="Space Grotesk" pitchFamily="34" charset="-122"/>
                <a:cs typeface="Space Grotesk" pitchFamily="34" charset="-120"/>
              </a:rPr>
              <a:t>Ce que le modèle regarde</a:t>
            </a:r>
            <a:endParaRPr lang="en-US" sz="1400" dirty="0"/>
          </a:p>
        </p:txBody>
      </p:sp>
      <p:sp>
        <p:nvSpPr>
          <p:cNvPr id="12" name="Text 9"/>
          <p:cNvSpPr/>
          <p:nvPr/>
        </p:nvSpPr>
        <p:spPr>
          <a:xfrm>
            <a:off x="8458200" y="4127252"/>
            <a:ext cx="300863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Surtout la bouche et l'ouverture des yeux, moins les sourcils.</a:t>
            </a:r>
            <a:endParaRPr lang="en-US" sz="1300" dirty="0"/>
          </a:p>
        </p:txBody>
      </p:sp>
      <p:sp>
        <p:nvSpPr>
          <p:cNvPr id="13" name="Text 10"/>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En vert 4 bonnes prédictions, en rouge 8 erreurs. Sortie de la cellule 5d.</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362944"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6 · EXPÉRIENCES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L'augmentation apporte le plus gros gain</a:t>
            </a:r>
            <a:endParaRPr lang="en-US" sz="2800" dirty="0"/>
          </a:p>
        </p:txBody>
      </p:sp>
      <p:sp>
        <p:nvSpPr>
          <p:cNvPr id="4" name="Text 2"/>
          <p:cNvSpPr/>
          <p:nvPr/>
        </p:nvSpPr>
        <p:spPr>
          <a:xfrm>
            <a:off x="812800" y="1823641"/>
            <a:ext cx="736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F9B7A"/>
                </a:solidFill>
                <a:latin typeface="Space Grotesk" pitchFamily="34" charset="0"/>
                <a:ea typeface="Space Grotesk" pitchFamily="34" charset="-122"/>
                <a:cs typeface="Space Grotesk" pitchFamily="34" charset="-120"/>
              </a:rPr>
              <a:t>E4</a:t>
            </a:r>
            <a:endParaRPr lang="en-US" sz="1200" dirty="0"/>
          </a:p>
        </p:txBody>
      </p:sp>
      <p:sp>
        <p:nvSpPr>
          <p:cNvPr id="5" name="Text 3"/>
          <p:cNvSpPr/>
          <p:nvPr/>
        </p:nvSpPr>
        <p:spPr>
          <a:xfrm>
            <a:off x="8128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FF9B7A"/>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Augm.</a:t>
            </a:r>
            <a:endParaRPr lang="en-US" sz="1200" dirty="0"/>
          </a:p>
        </p:txBody>
      </p:sp>
      <p:sp>
        <p:nvSpPr>
          <p:cNvPr id="6" name="Text 4"/>
          <p:cNvSpPr/>
          <p:nvPr/>
        </p:nvSpPr>
        <p:spPr>
          <a:xfrm>
            <a:off x="1549400" y="1823641"/>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3ABBA"/>
                </a:solidFill>
                <a:latin typeface="Space Grotesk" pitchFamily="34" charset="0"/>
                <a:ea typeface="Space Grotesk" pitchFamily="34" charset="-122"/>
                <a:cs typeface="Space Grotesk" pitchFamily="34" charset="-120"/>
              </a:rPr>
              <a:t>CNN de base</a:t>
            </a:r>
            <a:endParaRPr lang="en-US" sz="1200" dirty="0"/>
          </a:p>
        </p:txBody>
      </p:sp>
      <p:sp>
        <p:nvSpPr>
          <p:cNvPr id="7" name="Text 5"/>
          <p:cNvSpPr/>
          <p:nvPr/>
        </p:nvSpPr>
        <p:spPr>
          <a:xfrm>
            <a:off x="15494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32</a:t>
            </a:r>
            <a:endParaRPr lang="en-US" sz="1200" dirty="0"/>
          </a:p>
        </p:txBody>
      </p:sp>
      <p:sp>
        <p:nvSpPr>
          <p:cNvPr id="8" name="Text 6"/>
          <p:cNvSpPr/>
          <p:nvPr/>
        </p:nvSpPr>
        <p:spPr>
          <a:xfrm>
            <a:off x="22860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Pool</a:t>
            </a:r>
            <a:endParaRPr lang="en-US" sz="1200" dirty="0"/>
          </a:p>
        </p:txBody>
      </p:sp>
      <p:sp>
        <p:nvSpPr>
          <p:cNvPr id="9" name="Text 7"/>
          <p:cNvSpPr/>
          <p:nvPr/>
        </p:nvSpPr>
        <p:spPr>
          <a:xfrm>
            <a:off x="30226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64</a:t>
            </a:r>
            <a:endParaRPr lang="en-US" sz="1200" dirty="0"/>
          </a:p>
        </p:txBody>
      </p:sp>
      <p:sp>
        <p:nvSpPr>
          <p:cNvPr id="10" name="Text 8"/>
          <p:cNvSpPr/>
          <p:nvPr/>
        </p:nvSpPr>
        <p:spPr>
          <a:xfrm>
            <a:off x="37592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Pool</a:t>
            </a:r>
            <a:endParaRPr lang="en-US" sz="1200" dirty="0"/>
          </a:p>
        </p:txBody>
      </p:sp>
      <p:sp>
        <p:nvSpPr>
          <p:cNvPr id="11" name="Text 9"/>
          <p:cNvSpPr/>
          <p:nvPr/>
        </p:nvSpPr>
        <p:spPr>
          <a:xfrm>
            <a:off x="4495800" y="1823641"/>
            <a:ext cx="298246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DD6A2"/>
                </a:solidFill>
                <a:latin typeface="Space Grotesk" pitchFamily="34" charset="0"/>
                <a:ea typeface="Space Grotesk" pitchFamily="34" charset="-122"/>
                <a:cs typeface="Space Grotesk" pitchFamily="34" charset="-120"/>
              </a:rPr>
              <a:t>E3 · deux blocs de plus</a:t>
            </a:r>
            <a:endParaRPr lang="en-US" sz="1200" dirty="0"/>
          </a:p>
        </p:txBody>
      </p:sp>
      <p:sp>
        <p:nvSpPr>
          <p:cNvPr id="12" name="Text 10"/>
          <p:cNvSpPr/>
          <p:nvPr/>
        </p:nvSpPr>
        <p:spPr>
          <a:xfrm>
            <a:off x="44958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128</a:t>
            </a:r>
            <a:endParaRPr lang="en-US" sz="1200" dirty="0"/>
          </a:p>
        </p:txBody>
      </p:sp>
      <p:sp>
        <p:nvSpPr>
          <p:cNvPr id="13" name="Text 11"/>
          <p:cNvSpPr/>
          <p:nvPr/>
        </p:nvSpPr>
        <p:spPr>
          <a:xfrm>
            <a:off x="52324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Pool</a:t>
            </a:r>
            <a:endParaRPr lang="en-US" sz="1200" dirty="0"/>
          </a:p>
        </p:txBody>
      </p:sp>
      <p:sp>
        <p:nvSpPr>
          <p:cNvPr id="14" name="Text 12"/>
          <p:cNvSpPr/>
          <p:nvPr/>
        </p:nvSpPr>
        <p:spPr>
          <a:xfrm>
            <a:off x="59690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Conv</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256</a:t>
            </a:r>
            <a:endParaRPr lang="en-US" sz="1200" dirty="0"/>
          </a:p>
        </p:txBody>
      </p:sp>
      <p:sp>
        <p:nvSpPr>
          <p:cNvPr id="15" name="Text 13"/>
          <p:cNvSpPr/>
          <p:nvPr/>
        </p:nvSpPr>
        <p:spPr>
          <a:xfrm>
            <a:off x="67056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5DD6A2"/>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Pool</a:t>
            </a:r>
            <a:endParaRPr lang="en-US" sz="1200" dirty="0"/>
          </a:p>
        </p:txBody>
      </p:sp>
      <p:sp>
        <p:nvSpPr>
          <p:cNvPr id="16" name="Text 14"/>
          <p:cNvSpPr/>
          <p:nvPr/>
        </p:nvSpPr>
        <p:spPr>
          <a:xfrm>
            <a:off x="74422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252B38"/>
          </a:solidFill>
          <a:ln/>
        </p:spPr>
        <p:txBody>
          <a:bodyPr wrap="square" lIns="25400" tIns="50800" rIns="25400" bIns="50800"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Flatten</a:t>
            </a:r>
            <a:endParaRPr lang="en-US" sz="1200" dirty="0"/>
          </a:p>
        </p:txBody>
      </p:sp>
      <p:sp>
        <p:nvSpPr>
          <p:cNvPr id="17" name="Text 15"/>
          <p:cNvSpPr/>
          <p:nvPr/>
        </p:nvSpPr>
        <p:spPr>
          <a:xfrm>
            <a:off x="8178800" y="1823641"/>
            <a:ext cx="7366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4A1FF"/>
                </a:solidFill>
                <a:latin typeface="Space Grotesk" pitchFamily="34" charset="0"/>
                <a:ea typeface="Space Grotesk" pitchFamily="34" charset="-122"/>
                <a:cs typeface="Space Grotesk" pitchFamily="34" charset="-120"/>
              </a:rPr>
              <a:t>E2</a:t>
            </a:r>
            <a:endParaRPr lang="en-US" sz="1200" dirty="0"/>
          </a:p>
        </p:txBody>
      </p:sp>
      <p:sp>
        <p:nvSpPr>
          <p:cNvPr id="18" name="Text 16"/>
          <p:cNvSpPr/>
          <p:nvPr/>
        </p:nvSpPr>
        <p:spPr>
          <a:xfrm>
            <a:off x="81788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C4A1FF"/>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Dropout</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0.3</a:t>
            </a:r>
            <a:endParaRPr lang="en-US" sz="1200" dirty="0"/>
          </a:p>
        </p:txBody>
      </p:sp>
      <p:sp>
        <p:nvSpPr>
          <p:cNvPr id="19" name="Text 17"/>
          <p:cNvSpPr/>
          <p:nvPr/>
        </p:nvSpPr>
        <p:spPr>
          <a:xfrm>
            <a:off x="8915400" y="1823641"/>
            <a:ext cx="1473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7FB0FF"/>
                </a:solidFill>
                <a:latin typeface="Space Grotesk" pitchFamily="34" charset="0"/>
                <a:ea typeface="Space Grotesk" pitchFamily="34" charset="-122"/>
                <a:cs typeface="Space Grotesk" pitchFamily="34" charset="-120"/>
              </a:rPr>
              <a:t>E1 · Dense</a:t>
            </a:r>
            <a:endParaRPr lang="en-US" sz="1200" dirty="0"/>
          </a:p>
        </p:txBody>
      </p:sp>
      <p:sp>
        <p:nvSpPr>
          <p:cNvPr id="20" name="Text 18"/>
          <p:cNvSpPr/>
          <p:nvPr/>
        </p:nvSpPr>
        <p:spPr>
          <a:xfrm>
            <a:off x="89154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7FB0FF"/>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Dense</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128</a:t>
            </a:r>
            <a:endParaRPr lang="en-US" sz="1200" dirty="0"/>
          </a:p>
        </p:txBody>
      </p:sp>
      <p:sp>
        <p:nvSpPr>
          <p:cNvPr id="21" name="Text 19"/>
          <p:cNvSpPr/>
          <p:nvPr/>
        </p:nvSpPr>
        <p:spPr>
          <a:xfrm>
            <a:off x="9652000" y="2100461"/>
            <a:ext cx="685800" cy="889000"/>
          </a:xfrm>
          <a:custGeom>
            <a:avLst/>
            <a:gdLst/>
            <a:ahLst/>
            <a:cxnLst/>
            <a:rect l="l" t="t" r="r" b="b"/>
            <a:pathLst>
              <a:path w="685800" h="889000">
                <a:moveTo>
                  <a:pt x="63500" y="0"/>
                </a:moveTo>
                <a:lnTo>
                  <a:pt x="622300" y="0"/>
                </a:lnTo>
                <a:arcTo hR="63500" wR="63500" stAng="16200000" swAng="5400000"/>
                <a:lnTo>
                  <a:pt x="685800" y="825500"/>
                </a:lnTo>
                <a:arcTo hR="63500" wR="63500" stAng="0" swAng="5400000"/>
                <a:lnTo>
                  <a:pt x="63500" y="889000"/>
                </a:lnTo>
                <a:arcTo hR="63500" wR="63500" stAng="5400000" swAng="5400000"/>
                <a:lnTo>
                  <a:pt x="0" y="63500"/>
                </a:lnTo>
                <a:arcTo hR="63500" wR="63500" stAng="10800000" swAng="5400000"/>
                <a:close/>
              </a:path>
            </a:pathLst>
          </a:custGeom>
          <a:solidFill>
            <a:srgbClr val="7FB0FF"/>
          </a:solidFill>
          <a:ln/>
        </p:spPr>
        <p:txBody>
          <a:bodyPr wrap="square" lIns="25400" tIns="50800" rIns="25400" bIns="50800" rtlCol="0" anchor="ctr">
            <a:normAutofit/>
          </a:bodyPr>
          <a:lstStyle/>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Dense</a:t>
            </a:r>
            <a:endParaRPr lang="en-US" sz="1200" dirty="0"/>
          </a:p>
          <a:p>
            <a:pPr algn="ctr" indent="0" marL="0">
              <a:lnSpc>
                <a:spcPts val="1500"/>
              </a:lnSpc>
              <a:buNone/>
            </a:pPr>
            <a:r>
              <a:rPr lang="en-US" sz="1200" b="1" dirty="0">
                <a:solidFill>
                  <a:srgbClr val="12151C"/>
                </a:solidFill>
                <a:latin typeface="DM Sans" pitchFamily="34" charset="0"/>
                <a:ea typeface="DM Sans" pitchFamily="34" charset="-122"/>
                <a:cs typeface="DM Sans" pitchFamily="34" charset="-120"/>
              </a:rPr>
              <a:t>64</a:t>
            </a:r>
            <a:endParaRPr lang="en-US" sz="1200" dirty="0"/>
          </a:p>
        </p:txBody>
      </p:sp>
      <p:sp>
        <p:nvSpPr>
          <p:cNvPr id="22" name="Text 20"/>
          <p:cNvSpPr/>
          <p:nvPr/>
        </p:nvSpPr>
        <p:spPr>
          <a:xfrm>
            <a:off x="10388600" y="2100461"/>
            <a:ext cx="685800" cy="889000"/>
          </a:xfrm>
          <a:prstGeom prst="roundRect">
            <a:avLst>
              <a:gd name="adj" fmla="val 9259"/>
            </a:avLst>
          </a:prstGeom>
          <a:solidFill>
            <a:srgbClr val="252B38"/>
          </a:solidFill>
          <a:ln/>
        </p:spPr>
        <p:txBody>
          <a:bodyPr wrap="none" lIns="0" tIns="32201" rIns="0" bIns="32201" rtlCol="0" anchor="ctr">
            <a:normAutofit/>
          </a:bodyPr>
          <a:lstStyle/>
          <a:p>
            <a:pPr algn="ctr" indent="0" marL="0">
              <a:lnSpc>
                <a:spcPts val="1500"/>
              </a:lnSpc>
              <a:buNone/>
            </a:pPr>
            <a:r>
              <a:rPr lang="en-US" sz="1200" b="1" dirty="0">
                <a:solidFill>
                  <a:srgbClr val="EDEFF3"/>
                </a:solidFill>
                <a:latin typeface="DM Sans" pitchFamily="34" charset="0"/>
                <a:ea typeface="DM Sans" pitchFamily="34" charset="-122"/>
                <a:cs typeface="DM Sans" pitchFamily="34" charset="-120"/>
              </a:rPr>
              <a:t>Dense 7</a:t>
            </a:r>
            <a:endParaRPr lang="en-US" sz="1200" dirty="0"/>
          </a:p>
        </p:txBody>
      </p:sp>
      <p:sp>
        <p:nvSpPr>
          <p:cNvPr id="23" name="Text 21"/>
          <p:cNvSpPr/>
          <p:nvPr/>
        </p:nvSpPr>
        <p:spPr>
          <a:xfrm>
            <a:off x="1055370" y="37381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A3ABBA"/>
                </a:solidFill>
                <a:latin typeface="JetBrains Mono" pitchFamily="49" charset="0"/>
                <a:ea typeface="JetBrains Mono" pitchFamily="49" charset="-122"/>
                <a:cs typeface="JetBrains Mono" pitchFamily="49" charset="-120"/>
              </a:rPr>
              <a:t>34.2%</a:t>
            </a:r>
            <a:endParaRPr lang="en-US" sz="1300" dirty="0"/>
          </a:p>
        </p:txBody>
      </p:sp>
      <p:sp>
        <p:nvSpPr>
          <p:cNvPr id="24" name="Shape 22"/>
          <p:cNvSpPr/>
          <p:nvPr/>
        </p:nvSpPr>
        <p:spPr>
          <a:xfrm>
            <a:off x="1047750" y="4007341"/>
            <a:ext cx="609600" cy="718200"/>
          </a:xfrm>
          <a:prstGeom prst="roundRect">
            <a:avLst>
              <a:gd name="adj" fmla="val 6250"/>
            </a:avLst>
          </a:prstGeom>
          <a:solidFill>
            <a:srgbClr val="3A4152"/>
          </a:solidFill>
          <a:ln/>
        </p:spPr>
      </p:sp>
      <p:sp>
        <p:nvSpPr>
          <p:cNvPr id="25" name="Text 23"/>
          <p:cNvSpPr/>
          <p:nvPr/>
        </p:nvSpPr>
        <p:spPr>
          <a:xfrm>
            <a:off x="1059304" y="4763641"/>
            <a:ext cx="586442"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A3ABBA"/>
                </a:solidFill>
                <a:latin typeface="Space Grotesk" pitchFamily="34" charset="0"/>
                <a:ea typeface="Space Grotesk" pitchFamily="34" charset="-122"/>
                <a:cs typeface="Space Grotesk" pitchFamily="34" charset="-120"/>
              </a:rPr>
              <a:t>Dense</a:t>
            </a:r>
            <a:endParaRPr lang="en-US" sz="1300" dirty="0"/>
          </a:p>
        </p:txBody>
      </p:sp>
      <p:sp>
        <p:nvSpPr>
          <p:cNvPr id="26" name="Text 24"/>
          <p:cNvSpPr/>
          <p:nvPr/>
        </p:nvSpPr>
        <p:spPr>
          <a:xfrm>
            <a:off x="1059557" y="5032871"/>
            <a:ext cx="63678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baseline</a:t>
            </a:r>
            <a:endParaRPr lang="en-US" sz="1200" dirty="0"/>
          </a:p>
        </p:txBody>
      </p:sp>
      <p:sp>
        <p:nvSpPr>
          <p:cNvPr id="27" name="Text 25"/>
          <p:cNvSpPr/>
          <p:nvPr/>
        </p:nvSpPr>
        <p:spPr>
          <a:xfrm>
            <a:off x="2241233" y="33874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50.9%</a:t>
            </a:r>
            <a:endParaRPr lang="en-US" sz="1300" dirty="0"/>
          </a:p>
        </p:txBody>
      </p:sp>
      <p:sp>
        <p:nvSpPr>
          <p:cNvPr id="28" name="Shape 26"/>
          <p:cNvSpPr/>
          <p:nvPr/>
        </p:nvSpPr>
        <p:spPr>
          <a:xfrm>
            <a:off x="2233613" y="3656641"/>
            <a:ext cx="609600" cy="1068900"/>
          </a:xfrm>
          <a:prstGeom prst="roundRect">
            <a:avLst>
              <a:gd name="adj" fmla="val 6250"/>
            </a:avLst>
          </a:prstGeom>
          <a:solidFill>
            <a:srgbClr val="6B7386"/>
          </a:solidFill>
          <a:ln/>
        </p:spPr>
      </p:sp>
      <p:sp>
        <p:nvSpPr>
          <p:cNvPr id="29" name="Text 27"/>
          <p:cNvSpPr/>
          <p:nvPr/>
        </p:nvSpPr>
        <p:spPr>
          <a:xfrm>
            <a:off x="2341845" y="4763641"/>
            <a:ext cx="393085"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Space Grotesk" pitchFamily="34" charset="0"/>
                <a:ea typeface="Space Grotesk" pitchFamily="34" charset="-122"/>
                <a:cs typeface="Space Grotesk" pitchFamily="34" charset="-120"/>
              </a:rPr>
              <a:t>CNN</a:t>
            </a:r>
            <a:endParaRPr lang="en-US" sz="1300" dirty="0"/>
          </a:p>
        </p:txBody>
      </p:sp>
      <p:sp>
        <p:nvSpPr>
          <p:cNvPr id="30" name="Text 28"/>
          <p:cNvSpPr/>
          <p:nvPr/>
        </p:nvSpPr>
        <p:spPr>
          <a:xfrm>
            <a:off x="2256383" y="5032871"/>
            <a:ext cx="61485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de base</a:t>
            </a:r>
            <a:endParaRPr lang="en-US" sz="1200" dirty="0"/>
          </a:p>
        </p:txBody>
      </p:sp>
      <p:sp>
        <p:nvSpPr>
          <p:cNvPr id="31" name="Text 29"/>
          <p:cNvSpPr/>
          <p:nvPr/>
        </p:nvSpPr>
        <p:spPr>
          <a:xfrm>
            <a:off x="3427095" y="33958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50.5%</a:t>
            </a:r>
            <a:endParaRPr lang="en-US" sz="1300" dirty="0"/>
          </a:p>
        </p:txBody>
      </p:sp>
      <p:sp>
        <p:nvSpPr>
          <p:cNvPr id="32" name="Shape 30"/>
          <p:cNvSpPr/>
          <p:nvPr/>
        </p:nvSpPr>
        <p:spPr>
          <a:xfrm>
            <a:off x="3419475" y="3665041"/>
            <a:ext cx="609600" cy="1060500"/>
          </a:xfrm>
          <a:prstGeom prst="roundRect">
            <a:avLst>
              <a:gd name="adj" fmla="val 6250"/>
            </a:avLst>
          </a:prstGeom>
          <a:solidFill>
            <a:srgbClr val="EDEFF3"/>
          </a:solidFill>
          <a:ln/>
        </p:spPr>
      </p:sp>
      <p:sp>
        <p:nvSpPr>
          <p:cNvPr id="33" name="Text 31"/>
          <p:cNvSpPr/>
          <p:nvPr/>
        </p:nvSpPr>
        <p:spPr>
          <a:xfrm>
            <a:off x="3599607" y="4763641"/>
            <a:ext cx="249287"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Space Grotesk" pitchFamily="34" charset="0"/>
                <a:ea typeface="Space Grotesk" pitchFamily="34" charset="-122"/>
                <a:cs typeface="Space Grotesk" pitchFamily="34" charset="-120"/>
              </a:rPr>
              <a:t>E0</a:t>
            </a:r>
            <a:endParaRPr lang="en-US" sz="1300" dirty="0"/>
          </a:p>
        </p:txBody>
      </p:sp>
      <p:sp>
        <p:nvSpPr>
          <p:cNvPr id="34" name="Text 32"/>
          <p:cNvSpPr/>
          <p:nvPr/>
        </p:nvSpPr>
        <p:spPr>
          <a:xfrm>
            <a:off x="3261320" y="5032871"/>
            <a:ext cx="97666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LR qui baisse</a:t>
            </a:r>
            <a:endParaRPr lang="en-US" sz="1200" dirty="0"/>
          </a:p>
        </p:txBody>
      </p:sp>
      <p:sp>
        <p:nvSpPr>
          <p:cNvPr id="35" name="Text 33"/>
          <p:cNvSpPr/>
          <p:nvPr/>
        </p:nvSpPr>
        <p:spPr>
          <a:xfrm>
            <a:off x="4612958" y="33916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50.7%</a:t>
            </a:r>
            <a:endParaRPr lang="en-US" sz="1300" dirty="0"/>
          </a:p>
        </p:txBody>
      </p:sp>
      <p:sp>
        <p:nvSpPr>
          <p:cNvPr id="36" name="Shape 34"/>
          <p:cNvSpPr/>
          <p:nvPr/>
        </p:nvSpPr>
        <p:spPr>
          <a:xfrm>
            <a:off x="4605338" y="3660841"/>
            <a:ext cx="609600" cy="1064700"/>
          </a:xfrm>
          <a:prstGeom prst="roundRect">
            <a:avLst>
              <a:gd name="adj" fmla="val 6250"/>
            </a:avLst>
          </a:prstGeom>
          <a:solidFill>
            <a:srgbClr val="7FB0FF"/>
          </a:solidFill>
          <a:ln/>
        </p:spPr>
      </p:sp>
      <p:sp>
        <p:nvSpPr>
          <p:cNvPr id="37" name="Text 35"/>
          <p:cNvSpPr/>
          <p:nvPr/>
        </p:nvSpPr>
        <p:spPr>
          <a:xfrm>
            <a:off x="4801691" y="4763641"/>
            <a:ext cx="216892"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7FB0FF"/>
                </a:solidFill>
                <a:latin typeface="Space Grotesk" pitchFamily="34" charset="0"/>
                <a:ea typeface="Space Grotesk" pitchFamily="34" charset="-122"/>
                <a:cs typeface="Space Grotesk" pitchFamily="34" charset="-120"/>
              </a:rPr>
              <a:t>E1</a:t>
            </a:r>
            <a:endParaRPr lang="en-US" sz="1300" dirty="0"/>
          </a:p>
        </p:txBody>
      </p:sp>
      <p:sp>
        <p:nvSpPr>
          <p:cNvPr id="38" name="Text 36"/>
          <p:cNvSpPr/>
          <p:nvPr/>
        </p:nvSpPr>
        <p:spPr>
          <a:xfrm>
            <a:off x="4689128" y="5032871"/>
            <a:ext cx="4927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Dense</a:t>
            </a:r>
            <a:endParaRPr lang="en-US" sz="1200" dirty="0"/>
          </a:p>
        </p:txBody>
      </p:sp>
      <p:sp>
        <p:nvSpPr>
          <p:cNvPr id="39" name="Text 37"/>
          <p:cNvSpPr/>
          <p:nvPr/>
        </p:nvSpPr>
        <p:spPr>
          <a:xfrm>
            <a:off x="5798820" y="33622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52.1%</a:t>
            </a:r>
            <a:endParaRPr lang="en-US" sz="1300" dirty="0"/>
          </a:p>
        </p:txBody>
      </p:sp>
      <p:sp>
        <p:nvSpPr>
          <p:cNvPr id="40" name="Shape 38"/>
          <p:cNvSpPr/>
          <p:nvPr/>
        </p:nvSpPr>
        <p:spPr>
          <a:xfrm>
            <a:off x="5791200" y="3631441"/>
            <a:ext cx="609600" cy="1094100"/>
          </a:xfrm>
          <a:prstGeom prst="roundRect">
            <a:avLst>
              <a:gd name="adj" fmla="val 6250"/>
            </a:avLst>
          </a:prstGeom>
          <a:solidFill>
            <a:srgbClr val="F5B841"/>
          </a:solidFill>
          <a:ln/>
        </p:spPr>
      </p:sp>
      <p:sp>
        <p:nvSpPr>
          <p:cNvPr id="41" name="Text 39"/>
          <p:cNvSpPr/>
          <p:nvPr/>
        </p:nvSpPr>
        <p:spPr>
          <a:xfrm>
            <a:off x="5829717" y="4763641"/>
            <a:ext cx="532567"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5B841"/>
                </a:solidFill>
                <a:latin typeface="Space Grotesk" pitchFamily="34" charset="0"/>
                <a:ea typeface="Space Grotesk" pitchFamily="34" charset="-122"/>
                <a:cs typeface="Space Grotesk" pitchFamily="34" charset="-120"/>
              </a:rPr>
              <a:t>E1 bis</a:t>
            </a:r>
            <a:endParaRPr lang="en-US" sz="1300" dirty="0"/>
          </a:p>
        </p:txBody>
      </p:sp>
      <p:sp>
        <p:nvSpPr>
          <p:cNvPr id="42" name="Text 40"/>
          <p:cNvSpPr/>
          <p:nvPr/>
        </p:nvSpPr>
        <p:spPr>
          <a:xfrm>
            <a:off x="5699522" y="5032871"/>
            <a:ext cx="843756"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BatchNorm</a:t>
            </a:r>
            <a:endParaRPr lang="en-US" sz="1200" dirty="0"/>
          </a:p>
        </p:txBody>
      </p:sp>
      <p:sp>
        <p:nvSpPr>
          <p:cNvPr id="43" name="Text 41"/>
          <p:cNvSpPr/>
          <p:nvPr/>
        </p:nvSpPr>
        <p:spPr>
          <a:xfrm>
            <a:off x="6984683" y="33328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53.5%</a:t>
            </a:r>
            <a:endParaRPr lang="en-US" sz="1300" dirty="0"/>
          </a:p>
        </p:txBody>
      </p:sp>
      <p:sp>
        <p:nvSpPr>
          <p:cNvPr id="44" name="Shape 42"/>
          <p:cNvSpPr/>
          <p:nvPr/>
        </p:nvSpPr>
        <p:spPr>
          <a:xfrm>
            <a:off x="6977063" y="3602041"/>
            <a:ext cx="609600" cy="1123500"/>
          </a:xfrm>
          <a:prstGeom prst="roundRect">
            <a:avLst>
              <a:gd name="adj" fmla="val 6250"/>
            </a:avLst>
          </a:prstGeom>
          <a:solidFill>
            <a:srgbClr val="C4A1FF"/>
          </a:solidFill>
          <a:ln/>
        </p:spPr>
      </p:sp>
      <p:sp>
        <p:nvSpPr>
          <p:cNvPr id="45" name="Text 43"/>
          <p:cNvSpPr/>
          <p:nvPr/>
        </p:nvSpPr>
        <p:spPr>
          <a:xfrm>
            <a:off x="7161659" y="4763641"/>
            <a:ext cx="240357"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C4A1FF"/>
                </a:solidFill>
                <a:latin typeface="Space Grotesk" pitchFamily="34" charset="0"/>
                <a:ea typeface="Space Grotesk" pitchFamily="34" charset="-122"/>
                <a:cs typeface="Space Grotesk" pitchFamily="34" charset="-120"/>
              </a:rPr>
              <a:t>E2</a:t>
            </a:r>
            <a:endParaRPr lang="en-US" sz="1300" dirty="0"/>
          </a:p>
        </p:txBody>
      </p:sp>
      <p:sp>
        <p:nvSpPr>
          <p:cNvPr id="46" name="Text 44"/>
          <p:cNvSpPr/>
          <p:nvPr/>
        </p:nvSpPr>
        <p:spPr>
          <a:xfrm>
            <a:off x="6991052" y="5032871"/>
            <a:ext cx="632371"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Dropout</a:t>
            </a:r>
            <a:endParaRPr lang="en-US" sz="1200" dirty="0"/>
          </a:p>
        </p:txBody>
      </p:sp>
      <p:sp>
        <p:nvSpPr>
          <p:cNvPr id="47" name="Text 45"/>
          <p:cNvSpPr/>
          <p:nvPr/>
        </p:nvSpPr>
        <p:spPr>
          <a:xfrm>
            <a:off x="8170545" y="33832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51.1%</a:t>
            </a:r>
            <a:endParaRPr lang="en-US" sz="1300" dirty="0"/>
          </a:p>
        </p:txBody>
      </p:sp>
      <p:sp>
        <p:nvSpPr>
          <p:cNvPr id="48" name="Shape 46"/>
          <p:cNvSpPr/>
          <p:nvPr/>
        </p:nvSpPr>
        <p:spPr>
          <a:xfrm>
            <a:off x="8162925" y="3652441"/>
            <a:ext cx="609600" cy="1073100"/>
          </a:xfrm>
          <a:prstGeom prst="roundRect">
            <a:avLst>
              <a:gd name="adj" fmla="val 6250"/>
            </a:avLst>
          </a:prstGeom>
          <a:solidFill>
            <a:srgbClr val="5DD6A2"/>
          </a:solidFill>
          <a:ln/>
        </p:spPr>
      </p:sp>
      <p:sp>
        <p:nvSpPr>
          <p:cNvPr id="49" name="Text 47"/>
          <p:cNvSpPr/>
          <p:nvPr/>
        </p:nvSpPr>
        <p:spPr>
          <a:xfrm>
            <a:off x="8346380" y="4763641"/>
            <a:ext cx="242689"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5DD6A2"/>
                </a:solidFill>
                <a:latin typeface="Space Grotesk" pitchFamily="34" charset="0"/>
                <a:ea typeface="Space Grotesk" pitchFamily="34" charset="-122"/>
                <a:cs typeface="Space Grotesk" pitchFamily="34" charset="-120"/>
              </a:rPr>
              <a:t>E3</a:t>
            </a:r>
            <a:endParaRPr lang="en-US" sz="1300" dirty="0"/>
          </a:p>
        </p:txBody>
      </p:sp>
      <p:sp>
        <p:nvSpPr>
          <p:cNvPr id="50" name="Text 48"/>
          <p:cNvSpPr/>
          <p:nvPr/>
        </p:nvSpPr>
        <p:spPr>
          <a:xfrm>
            <a:off x="8211840" y="5032871"/>
            <a:ext cx="562570"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2 blocs</a:t>
            </a:r>
            <a:endParaRPr lang="en-US" sz="1200" dirty="0"/>
          </a:p>
        </p:txBody>
      </p:sp>
      <p:sp>
        <p:nvSpPr>
          <p:cNvPr id="51" name="Text 49"/>
          <p:cNvSpPr/>
          <p:nvPr/>
        </p:nvSpPr>
        <p:spPr>
          <a:xfrm>
            <a:off x="9356408" y="31921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F9B7A"/>
                </a:solidFill>
                <a:latin typeface="JetBrains Mono" pitchFamily="49" charset="0"/>
                <a:ea typeface="JetBrains Mono" pitchFamily="49" charset="-122"/>
                <a:cs typeface="JetBrains Mono" pitchFamily="49" charset="-120"/>
              </a:rPr>
              <a:t>60.2%</a:t>
            </a:r>
            <a:endParaRPr lang="en-US" sz="1300" dirty="0"/>
          </a:p>
        </p:txBody>
      </p:sp>
      <p:sp>
        <p:nvSpPr>
          <p:cNvPr id="52" name="Shape 50"/>
          <p:cNvSpPr/>
          <p:nvPr/>
        </p:nvSpPr>
        <p:spPr>
          <a:xfrm>
            <a:off x="9348788" y="3461341"/>
            <a:ext cx="609600" cy="1264200"/>
          </a:xfrm>
          <a:prstGeom prst="roundRect">
            <a:avLst>
              <a:gd name="adj" fmla="val 6250"/>
            </a:avLst>
          </a:prstGeom>
          <a:solidFill>
            <a:srgbClr val="FF9B7A"/>
          </a:solidFill>
          <a:ln/>
        </p:spPr>
      </p:sp>
      <p:sp>
        <p:nvSpPr>
          <p:cNvPr id="53" name="Text 51"/>
          <p:cNvSpPr/>
          <p:nvPr/>
        </p:nvSpPr>
        <p:spPr>
          <a:xfrm>
            <a:off x="9529911" y="4763641"/>
            <a:ext cx="247303"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FF9B7A"/>
                </a:solidFill>
                <a:latin typeface="Space Grotesk" pitchFamily="34" charset="0"/>
                <a:ea typeface="Space Grotesk" pitchFamily="34" charset="-122"/>
                <a:cs typeface="Space Grotesk" pitchFamily="34" charset="-120"/>
              </a:rPr>
              <a:t>E4</a:t>
            </a:r>
            <a:endParaRPr lang="en-US" sz="1300" dirty="0"/>
          </a:p>
        </p:txBody>
      </p:sp>
      <p:sp>
        <p:nvSpPr>
          <p:cNvPr id="54" name="Text 52"/>
          <p:cNvSpPr/>
          <p:nvPr/>
        </p:nvSpPr>
        <p:spPr>
          <a:xfrm>
            <a:off x="9163695" y="5032871"/>
            <a:ext cx="1030585"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augmentation</a:t>
            </a:r>
            <a:endParaRPr lang="en-US" sz="1200" dirty="0"/>
          </a:p>
        </p:txBody>
      </p:sp>
      <p:sp>
        <p:nvSpPr>
          <p:cNvPr id="55" name="Text 53"/>
          <p:cNvSpPr/>
          <p:nvPr/>
        </p:nvSpPr>
        <p:spPr>
          <a:xfrm>
            <a:off x="10542270" y="3307611"/>
            <a:ext cx="59436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JetBrains Mono" pitchFamily="49" charset="0"/>
                <a:ea typeface="JetBrains Mono" pitchFamily="49" charset="-122"/>
                <a:cs typeface="JetBrains Mono" pitchFamily="49" charset="-120"/>
              </a:rPr>
              <a:t>54.7%</a:t>
            </a:r>
            <a:endParaRPr lang="en-US" sz="1300" dirty="0"/>
          </a:p>
        </p:txBody>
      </p:sp>
      <p:sp>
        <p:nvSpPr>
          <p:cNvPr id="56" name="Shape 54"/>
          <p:cNvSpPr/>
          <p:nvPr/>
        </p:nvSpPr>
        <p:spPr>
          <a:xfrm>
            <a:off x="10534650" y="3576841"/>
            <a:ext cx="609600" cy="1148700"/>
          </a:xfrm>
          <a:prstGeom prst="roundRect">
            <a:avLst>
              <a:gd name="adj" fmla="val 6250"/>
            </a:avLst>
          </a:prstGeom>
          <a:solidFill>
            <a:srgbClr val="EDEFF3"/>
          </a:solidFill>
          <a:ln/>
        </p:spPr>
      </p:sp>
      <p:sp>
        <p:nvSpPr>
          <p:cNvPr id="57" name="Text 55"/>
          <p:cNvSpPr/>
          <p:nvPr/>
        </p:nvSpPr>
        <p:spPr>
          <a:xfrm>
            <a:off x="10718750" y="4763641"/>
            <a:ext cx="241350" cy="256530"/>
          </a:xfrm>
          <a:prstGeom prst="rect">
            <a:avLst/>
          </a:prstGeom>
          <a:noFill/>
          <a:ln/>
        </p:spPr>
        <p:txBody>
          <a:bodyPr wrap="square" lIns="0" tIns="0" rIns="0" bIns="0" rtlCol="0" anchor="t">
            <a:normAutofit/>
          </a:bodyPr>
          <a:lstStyle/>
          <a:p>
            <a:pPr algn="ctr" indent="0" marL="0">
              <a:lnSpc>
                <a:spcPts val="1820"/>
              </a:lnSpc>
              <a:buNone/>
            </a:pPr>
            <a:r>
              <a:rPr lang="en-US" sz="1300" b="1" dirty="0">
                <a:solidFill>
                  <a:srgbClr val="EDEFF3"/>
                </a:solidFill>
                <a:latin typeface="Space Grotesk" pitchFamily="34" charset="0"/>
                <a:ea typeface="Space Grotesk" pitchFamily="34" charset="-122"/>
                <a:cs typeface="Space Grotesk" pitchFamily="34" charset="-120"/>
              </a:rPr>
              <a:t>E5</a:t>
            </a:r>
            <a:endParaRPr lang="en-US" sz="1300" dirty="0"/>
          </a:p>
        </p:txBody>
      </p:sp>
      <p:sp>
        <p:nvSpPr>
          <p:cNvPr id="58" name="Text 56"/>
          <p:cNvSpPr/>
          <p:nvPr/>
        </p:nvSpPr>
        <p:spPr>
          <a:xfrm>
            <a:off x="10361861" y="5032871"/>
            <a:ext cx="1005929" cy="238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poids classes</a:t>
            </a:r>
            <a:endParaRPr lang="en-US" sz="1200" dirty="0"/>
          </a:p>
        </p:txBody>
      </p:sp>
      <p:sp>
        <p:nvSpPr>
          <p:cNvPr id="59" name="Text 5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Accuracy de validation, 5 739 images. E4 : modèle retenu, meilleure accuracy et plus petite loss (1.065).</a:t>
            </a:r>
            <a:endParaRPr lang="en-US" sz="1200" dirty="0"/>
          </a:p>
        </p:txBody>
      </p:sp>
      <p:sp>
        <p:nvSpPr>
          <p:cNvPr id="60" name="Text 5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2789982"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PARTIE 6 · CHOIX DU MODÈLE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Choisir le modèle : l'accuracy ne suffit pas</a:t>
            </a:r>
            <a:endParaRPr lang="en-US" sz="2800" dirty="0"/>
          </a:p>
        </p:txBody>
      </p:sp>
      <p:sp>
        <p:nvSpPr>
          <p:cNvPr id="4" name="Text 2"/>
          <p:cNvSpPr/>
          <p:nvPr/>
        </p:nvSpPr>
        <p:spPr>
          <a:xfrm>
            <a:off x="812800" y="1823641"/>
            <a:ext cx="6278880" cy="71879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F5B841"/>
                </a:solidFill>
                <a:latin typeface="DM Sans" pitchFamily="34" charset="0"/>
                <a:ea typeface="DM Sans" pitchFamily="34" charset="-122"/>
                <a:cs typeface="DM Sans" pitchFamily="34" charset="-120"/>
              </a:rPr>
              <a:t>Classes déséquilibrées.</a:t>
            </a:r>
            <a:r>
              <a:rPr lang="en-US" sz="1300" dirty="0">
                <a:solidFill>
                  <a:srgbClr val="A3ABBA"/>
                </a:solidFill>
                <a:latin typeface="DM Sans" pitchFamily="34" charset="0"/>
                <a:ea typeface="DM Sans" pitchFamily="34" charset="-122"/>
                <a:cs typeface="DM Sans" pitchFamily="34" charset="-120"/>
              </a:rPr>
              <a:t> disgust, c'est 70 images sur 5 739 en validation : l'accuracy ne la voit presque pas. On compare donc E4 et E5 sur quatre métriques.</a:t>
            </a:r>
            <a:endParaRPr lang="en-US" sz="1300" dirty="0"/>
          </a:p>
        </p:txBody>
      </p:sp>
      <p:sp>
        <p:nvSpPr>
          <p:cNvPr id="5" name="Text 3"/>
          <p:cNvSpPr/>
          <p:nvPr/>
        </p:nvSpPr>
        <p:spPr>
          <a:xfrm>
            <a:off x="812800" y="2769741"/>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Accuracy</a:t>
            </a:r>
            <a:endParaRPr lang="en-US" sz="1400" dirty="0"/>
          </a:p>
        </p:txBody>
      </p:sp>
      <p:sp>
        <p:nvSpPr>
          <p:cNvPr id="6" name="Text 4"/>
          <p:cNvSpPr/>
          <p:nvPr/>
        </p:nvSpPr>
        <p:spPr>
          <a:xfrm>
            <a:off x="2527300" y="2644031"/>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7" name="Shape 5"/>
          <p:cNvSpPr/>
          <p:nvPr/>
        </p:nvSpPr>
        <p:spPr>
          <a:xfrm>
            <a:off x="2921000" y="2655441"/>
            <a:ext cx="3058160" cy="190500"/>
          </a:xfrm>
          <a:prstGeom prst="roundRect">
            <a:avLst>
              <a:gd name="adj" fmla="val 13333"/>
            </a:avLst>
          </a:prstGeom>
          <a:solidFill>
            <a:srgbClr val="FF9B7A"/>
          </a:solidFill>
          <a:ln/>
        </p:spPr>
      </p:sp>
      <p:sp>
        <p:nvSpPr>
          <p:cNvPr id="8" name="Text 6"/>
          <p:cNvSpPr/>
          <p:nvPr/>
        </p:nvSpPr>
        <p:spPr>
          <a:xfrm>
            <a:off x="6055360" y="2644031"/>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60.2%</a:t>
            </a:r>
            <a:endParaRPr lang="en-US" sz="1200" dirty="0"/>
          </a:p>
        </p:txBody>
      </p:sp>
      <p:sp>
        <p:nvSpPr>
          <p:cNvPr id="9" name="Text 7"/>
          <p:cNvSpPr/>
          <p:nvPr/>
        </p:nvSpPr>
        <p:spPr>
          <a:xfrm>
            <a:off x="2527300" y="2895451"/>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10" name="Shape 8"/>
          <p:cNvSpPr/>
          <p:nvPr/>
        </p:nvSpPr>
        <p:spPr>
          <a:xfrm>
            <a:off x="2921000" y="2906861"/>
            <a:ext cx="2778760" cy="190500"/>
          </a:xfrm>
          <a:prstGeom prst="roundRect">
            <a:avLst>
              <a:gd name="adj" fmla="val 13333"/>
            </a:avLst>
          </a:prstGeom>
          <a:solidFill>
            <a:srgbClr val="EDEFF3"/>
          </a:solidFill>
          <a:ln/>
        </p:spPr>
      </p:sp>
      <p:sp>
        <p:nvSpPr>
          <p:cNvPr id="11" name="Text 9"/>
          <p:cNvSpPr/>
          <p:nvPr/>
        </p:nvSpPr>
        <p:spPr>
          <a:xfrm>
            <a:off x="5775960" y="2895451"/>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54.7%</a:t>
            </a:r>
            <a:endParaRPr lang="en-US" sz="1200" dirty="0"/>
          </a:p>
        </p:txBody>
      </p:sp>
      <p:sp>
        <p:nvSpPr>
          <p:cNvPr id="12" name="Text 10"/>
          <p:cNvSpPr/>
          <p:nvPr/>
        </p:nvSpPr>
        <p:spPr>
          <a:xfrm>
            <a:off x="812800" y="3361482"/>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Rappel disgust</a:t>
            </a:r>
            <a:endParaRPr lang="en-US" sz="1400" dirty="0"/>
          </a:p>
        </p:txBody>
      </p:sp>
      <p:sp>
        <p:nvSpPr>
          <p:cNvPr id="13" name="Text 11"/>
          <p:cNvSpPr/>
          <p:nvPr/>
        </p:nvSpPr>
        <p:spPr>
          <a:xfrm>
            <a:off x="2527300" y="3235771"/>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14" name="Shape 12"/>
          <p:cNvSpPr/>
          <p:nvPr/>
        </p:nvSpPr>
        <p:spPr>
          <a:xfrm>
            <a:off x="2921000" y="3247182"/>
            <a:ext cx="1016000" cy="190500"/>
          </a:xfrm>
          <a:prstGeom prst="roundRect">
            <a:avLst>
              <a:gd name="adj" fmla="val 13333"/>
            </a:avLst>
          </a:prstGeom>
          <a:solidFill>
            <a:srgbClr val="FF9B7A"/>
          </a:solidFill>
          <a:ln/>
        </p:spPr>
      </p:sp>
      <p:sp>
        <p:nvSpPr>
          <p:cNvPr id="15" name="Text 13"/>
          <p:cNvSpPr/>
          <p:nvPr/>
        </p:nvSpPr>
        <p:spPr>
          <a:xfrm>
            <a:off x="4013200" y="3235771"/>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20.0%</a:t>
            </a:r>
            <a:endParaRPr lang="en-US" sz="1200" dirty="0"/>
          </a:p>
        </p:txBody>
      </p:sp>
      <p:sp>
        <p:nvSpPr>
          <p:cNvPr id="16" name="Text 14"/>
          <p:cNvSpPr/>
          <p:nvPr/>
        </p:nvSpPr>
        <p:spPr>
          <a:xfrm>
            <a:off x="2527300" y="3487192"/>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17" name="Shape 15"/>
          <p:cNvSpPr/>
          <p:nvPr/>
        </p:nvSpPr>
        <p:spPr>
          <a:xfrm>
            <a:off x="2921000" y="3498602"/>
            <a:ext cx="2468880" cy="190500"/>
          </a:xfrm>
          <a:prstGeom prst="roundRect">
            <a:avLst>
              <a:gd name="adj" fmla="val 13333"/>
            </a:avLst>
          </a:prstGeom>
          <a:solidFill>
            <a:srgbClr val="EDEFF3"/>
          </a:solidFill>
          <a:ln/>
        </p:spPr>
      </p:sp>
      <p:sp>
        <p:nvSpPr>
          <p:cNvPr id="18" name="Text 16"/>
          <p:cNvSpPr/>
          <p:nvPr/>
        </p:nvSpPr>
        <p:spPr>
          <a:xfrm>
            <a:off x="5466080" y="3487192"/>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48.6%</a:t>
            </a:r>
            <a:endParaRPr lang="en-US" sz="1200" dirty="0"/>
          </a:p>
        </p:txBody>
      </p:sp>
      <p:sp>
        <p:nvSpPr>
          <p:cNvPr id="19" name="Text 17"/>
          <p:cNvSpPr/>
          <p:nvPr/>
        </p:nvSpPr>
        <p:spPr>
          <a:xfrm>
            <a:off x="812800" y="3953222"/>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Précision disgust</a:t>
            </a:r>
            <a:endParaRPr lang="en-US" sz="1400" dirty="0"/>
          </a:p>
        </p:txBody>
      </p:sp>
      <p:sp>
        <p:nvSpPr>
          <p:cNvPr id="20" name="Text 18"/>
          <p:cNvSpPr/>
          <p:nvPr/>
        </p:nvSpPr>
        <p:spPr>
          <a:xfrm>
            <a:off x="2527300" y="3827512"/>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21" name="Shape 19"/>
          <p:cNvSpPr/>
          <p:nvPr/>
        </p:nvSpPr>
        <p:spPr>
          <a:xfrm>
            <a:off x="2921000" y="3838922"/>
            <a:ext cx="3743960" cy="190500"/>
          </a:xfrm>
          <a:prstGeom prst="roundRect">
            <a:avLst>
              <a:gd name="adj" fmla="val 13333"/>
            </a:avLst>
          </a:prstGeom>
          <a:solidFill>
            <a:srgbClr val="FF9B7A"/>
          </a:solidFill>
          <a:ln/>
        </p:spPr>
      </p:sp>
      <p:sp>
        <p:nvSpPr>
          <p:cNvPr id="22" name="Text 20"/>
          <p:cNvSpPr/>
          <p:nvPr/>
        </p:nvSpPr>
        <p:spPr>
          <a:xfrm>
            <a:off x="6741160" y="3827512"/>
            <a:ext cx="54864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1"/>
                </a:solidFill>
                <a:latin typeface="JetBrains Mono" pitchFamily="49" charset="0"/>
                <a:ea typeface="JetBrains Mono" pitchFamily="49" charset="-122"/>
                <a:cs typeface="JetBrains Mono" pitchFamily="49" charset="-120"/>
              </a:rPr>
              <a:t>73.7%</a:t>
            </a:r>
            <a:endParaRPr lang="en-US" sz="1200" dirty="0"/>
          </a:p>
        </p:txBody>
      </p:sp>
      <p:sp>
        <p:nvSpPr>
          <p:cNvPr id="23" name="Text 21"/>
          <p:cNvSpPr/>
          <p:nvPr/>
        </p:nvSpPr>
        <p:spPr>
          <a:xfrm>
            <a:off x="2527300" y="4078932"/>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24" name="Shape 22"/>
          <p:cNvSpPr/>
          <p:nvPr/>
        </p:nvSpPr>
        <p:spPr>
          <a:xfrm>
            <a:off x="2921000" y="4090343"/>
            <a:ext cx="1417320" cy="190500"/>
          </a:xfrm>
          <a:prstGeom prst="roundRect">
            <a:avLst>
              <a:gd name="adj" fmla="val 13333"/>
            </a:avLst>
          </a:prstGeom>
          <a:solidFill>
            <a:srgbClr val="EDEFF3"/>
          </a:solidFill>
          <a:ln/>
        </p:spPr>
      </p:sp>
      <p:sp>
        <p:nvSpPr>
          <p:cNvPr id="25" name="Text 23"/>
          <p:cNvSpPr/>
          <p:nvPr/>
        </p:nvSpPr>
        <p:spPr>
          <a:xfrm>
            <a:off x="4414520" y="4078932"/>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27.9%</a:t>
            </a:r>
            <a:endParaRPr lang="en-US" sz="1200" dirty="0"/>
          </a:p>
        </p:txBody>
      </p:sp>
      <p:sp>
        <p:nvSpPr>
          <p:cNvPr id="26" name="Text 24"/>
          <p:cNvSpPr/>
          <p:nvPr/>
        </p:nvSpPr>
        <p:spPr>
          <a:xfrm>
            <a:off x="812800" y="4544963"/>
            <a:ext cx="1638300"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EDEFF3"/>
                </a:solidFill>
                <a:latin typeface="Space Grotesk" pitchFamily="34" charset="0"/>
                <a:ea typeface="Space Grotesk" pitchFamily="34" charset="-122"/>
                <a:cs typeface="Space Grotesk" pitchFamily="34" charset="-120"/>
              </a:rPr>
              <a:t>F1 disgust</a:t>
            </a:r>
            <a:endParaRPr lang="en-US" sz="1400" dirty="0"/>
          </a:p>
        </p:txBody>
      </p:sp>
      <p:sp>
        <p:nvSpPr>
          <p:cNvPr id="27" name="Text 25"/>
          <p:cNvSpPr/>
          <p:nvPr/>
        </p:nvSpPr>
        <p:spPr>
          <a:xfrm>
            <a:off x="2527300" y="4419253"/>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9B7A"/>
                </a:solidFill>
                <a:latin typeface="JetBrains Mono" pitchFamily="49" charset="0"/>
                <a:ea typeface="JetBrains Mono" pitchFamily="49" charset="-122"/>
                <a:cs typeface="JetBrains Mono" pitchFamily="49" charset="-120"/>
              </a:rPr>
              <a:t>E4</a:t>
            </a:r>
            <a:endParaRPr lang="en-US" sz="1200" dirty="0"/>
          </a:p>
        </p:txBody>
      </p:sp>
      <p:sp>
        <p:nvSpPr>
          <p:cNvPr id="28" name="Shape 26"/>
          <p:cNvSpPr/>
          <p:nvPr/>
        </p:nvSpPr>
        <p:spPr>
          <a:xfrm>
            <a:off x="2921000" y="4430663"/>
            <a:ext cx="1600200" cy="190500"/>
          </a:xfrm>
          <a:prstGeom prst="roundRect">
            <a:avLst>
              <a:gd name="adj" fmla="val 13333"/>
            </a:avLst>
          </a:prstGeom>
          <a:solidFill>
            <a:srgbClr val="FF9B7A"/>
          </a:solidFill>
          <a:ln/>
        </p:spPr>
      </p:sp>
      <p:sp>
        <p:nvSpPr>
          <p:cNvPr id="29" name="Text 27"/>
          <p:cNvSpPr/>
          <p:nvPr/>
        </p:nvSpPr>
        <p:spPr>
          <a:xfrm>
            <a:off x="4597400" y="4419253"/>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JetBrains Mono" pitchFamily="49" charset="0"/>
                <a:ea typeface="JetBrains Mono" pitchFamily="49" charset="-122"/>
                <a:cs typeface="JetBrains Mono" pitchFamily="49" charset="-120"/>
              </a:rPr>
              <a:t>31.5%</a:t>
            </a:r>
            <a:endParaRPr lang="en-US" sz="1200" dirty="0"/>
          </a:p>
        </p:txBody>
      </p:sp>
      <p:sp>
        <p:nvSpPr>
          <p:cNvPr id="30" name="Text 28"/>
          <p:cNvSpPr/>
          <p:nvPr/>
        </p:nvSpPr>
        <p:spPr>
          <a:xfrm>
            <a:off x="2527300" y="4670673"/>
            <a:ext cx="368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FF3"/>
                </a:solidFill>
                <a:latin typeface="JetBrains Mono" pitchFamily="49" charset="0"/>
                <a:ea typeface="JetBrains Mono" pitchFamily="49" charset="-122"/>
                <a:cs typeface="JetBrains Mono" pitchFamily="49" charset="-120"/>
              </a:rPr>
              <a:t>E5</a:t>
            </a:r>
            <a:endParaRPr lang="en-US" sz="1200" dirty="0"/>
          </a:p>
        </p:txBody>
      </p:sp>
      <p:sp>
        <p:nvSpPr>
          <p:cNvPr id="31" name="Shape 29"/>
          <p:cNvSpPr/>
          <p:nvPr/>
        </p:nvSpPr>
        <p:spPr>
          <a:xfrm>
            <a:off x="2921000" y="4682083"/>
            <a:ext cx="1798320" cy="190500"/>
          </a:xfrm>
          <a:prstGeom prst="roundRect">
            <a:avLst>
              <a:gd name="adj" fmla="val 13333"/>
            </a:avLst>
          </a:prstGeom>
          <a:solidFill>
            <a:srgbClr val="EDEFF3"/>
          </a:solidFill>
          <a:ln/>
        </p:spPr>
      </p:sp>
      <p:sp>
        <p:nvSpPr>
          <p:cNvPr id="32" name="Text 30"/>
          <p:cNvSpPr/>
          <p:nvPr/>
        </p:nvSpPr>
        <p:spPr>
          <a:xfrm>
            <a:off x="4795520" y="4670673"/>
            <a:ext cx="548640" cy="238720"/>
          </a:xfrm>
          <a:prstGeom prst="rect">
            <a:avLst/>
          </a:prstGeom>
          <a:noFill/>
          <a:ln/>
        </p:spPr>
        <p:txBody>
          <a:bodyPr wrap="square" lIns="0" tIns="0" rIns="0" bIns="0" rtlCol="0" anchor="t">
            <a:normAutofit/>
          </a:bodyPr>
          <a:lstStyle/>
          <a:p>
            <a:pPr algn="l" indent="0" marL="0">
              <a:lnSpc>
                <a:spcPts val="1680"/>
              </a:lnSpc>
              <a:buNone/>
            </a:pPr>
            <a:r>
              <a:rPr lang="en-US" sz="1200" dirty="0" b="1">
                <a:solidFill>
                  <a:srgbClr val="F5B841"/>
                </a:solidFill>
                <a:latin typeface="JetBrains Mono" pitchFamily="49" charset="0"/>
                <a:ea typeface="JetBrains Mono" pitchFamily="49" charset="-122"/>
                <a:cs typeface="JetBrains Mono" pitchFamily="49" charset="-120"/>
              </a:rPr>
              <a:t>35.4%</a:t>
            </a:r>
            <a:endParaRPr lang="en-US" sz="1200" dirty="0"/>
          </a:p>
        </p:txBody>
      </p:sp>
      <p:sp>
        <p:nvSpPr>
          <p:cNvPr id="33" name="Text 31"/>
          <p:cNvSpPr/>
          <p:nvPr/>
        </p:nvSpPr>
        <p:spPr>
          <a:xfrm>
            <a:off x="812800" y="5010993"/>
            <a:ext cx="627888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EDEFF3"/>
                </a:solidFill>
                <a:latin typeface="DM Sans" pitchFamily="34" charset="0"/>
                <a:ea typeface="DM Sans" pitchFamily="34" charset="-122"/>
                <a:cs typeface="DM Sans" pitchFamily="34" charset="-120"/>
              </a:rPr>
              <a:t>E5 retrouve plus de disgust, mais 72% de ses réponses disgust sont fausses et il perd 5,5 points. On retient E4.</a:t>
            </a:r>
            <a:endParaRPr lang="en-US" sz="1300" dirty="0"/>
          </a:p>
        </p:txBody>
      </p:sp>
      <p:sp>
        <p:nvSpPr>
          <p:cNvPr id="34" name="Shape 32"/>
          <p:cNvSpPr/>
          <p:nvPr/>
        </p:nvSpPr>
        <p:spPr>
          <a:xfrm>
            <a:off x="7988300" y="1823641"/>
            <a:ext cx="2565400" cy="2254250"/>
          </a:xfrm>
          <a:prstGeom prst="roundRect">
            <a:avLst>
              <a:gd name="adj" fmla="val 3380"/>
            </a:avLst>
          </a:prstGeom>
          <a:solidFill>
            <a:srgbClr val="FFFFFF"/>
          </a:solidFill>
          <a:ln/>
        </p:spPr>
      </p:sp>
      <p:pic>
        <p:nvPicPr>
          <p:cNvPr id="35" name="Image 0" descr="Matrice de confusion du modèle final E4 sur le jeu de test">    </p:cNvPr>
          <p:cNvPicPr>
            <a:picLocks noChangeAspect="1"/>
          </p:cNvPicPr>
          <p:nvPr/>
        </p:nvPicPr>
        <p:blipFill>
          <a:blip r:embed="rId4"/>
          <a:srcRect l="-48" r="-48" t="0" b="0"/>
          <a:stretch/>
        </p:blipFill>
        <p:spPr>
          <a:xfrm>
            <a:off x="8064500" y="1899841"/>
            <a:ext cx="2413000" cy="2101850"/>
          </a:xfrm>
          <a:prstGeom prst="rect">
            <a:avLst/>
          </a:prstGeom>
        </p:spPr>
      </p:pic>
      <p:sp>
        <p:nvSpPr>
          <p:cNvPr id="36" name="Shape 33"/>
          <p:cNvSpPr/>
          <p:nvPr/>
        </p:nvSpPr>
        <p:spPr>
          <a:xfrm>
            <a:off x="7165975" y="4233466"/>
            <a:ext cx="4210050" cy="1022350"/>
          </a:xfrm>
          <a:prstGeom prst="roundRect">
            <a:avLst>
              <a:gd name="adj" fmla="val 7143"/>
            </a:avLst>
          </a:prstGeom>
          <a:solidFill>
            <a:srgbClr val="0B0D12"/>
          </a:solidFill>
          <a:ln w="6350">
            <a:solidFill>
              <a:srgbClr val="2C3340"/>
            </a:solidFill>
            <a:prstDash val="solid"/>
          </a:ln>
        </p:spPr>
      </p:sp>
      <p:sp>
        <p:nvSpPr>
          <p:cNvPr id="37" name="Text 34"/>
          <p:cNvSpPr/>
          <p:nvPr/>
        </p:nvSpPr>
        <p:spPr>
          <a:xfrm>
            <a:off x="7321550" y="4363641"/>
            <a:ext cx="401586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F5B841"/>
                </a:solidFill>
                <a:latin typeface="JetBrains Mono" pitchFamily="49" charset="0"/>
                <a:ea typeface="JetBrains Mono" pitchFamily="49" charset="-122"/>
                <a:cs typeface="JetBrains Mono" pitchFamily="49" charset="-120"/>
              </a:rPr>
              <a:t>accuracy test: 61.2 %</a:t>
            </a:r>
            <a:endParaRPr lang="en-US" sz="1200" dirty="0"/>
          </a:p>
        </p:txBody>
      </p:sp>
      <p:sp>
        <p:nvSpPr>
          <p:cNvPr id="38" name="Text 35"/>
          <p:cNvSpPr/>
          <p:nvPr/>
        </p:nvSpPr>
        <p:spPr>
          <a:xfrm>
            <a:off x="7321550" y="4630341"/>
            <a:ext cx="401586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accuracy val du même modèle: 60.2 %</a:t>
            </a:r>
            <a:endParaRPr lang="en-US" sz="1200" dirty="0"/>
          </a:p>
        </p:txBody>
      </p:sp>
      <p:sp>
        <p:nvSpPr>
          <p:cNvPr id="39" name="Text 36"/>
          <p:cNvSpPr/>
          <p:nvPr/>
        </p:nvSpPr>
        <p:spPr>
          <a:xfrm>
            <a:off x="7321550" y="4897041"/>
            <a:ext cx="4015867"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D7DCE5"/>
                </a:solidFill>
                <a:latin typeface="JetBrains Mono" pitchFamily="49" charset="0"/>
                <a:ea typeface="JetBrains Mono" pitchFamily="49" charset="-122"/>
                <a:cs typeface="JetBrains Mono" pitchFamily="49" charset="-120"/>
              </a:rPr>
              <a:t>toujours happy sur le test: 24.7 %</a:t>
            </a:r>
            <a:endParaRPr lang="en-US" sz="1200" dirty="0"/>
          </a:p>
        </p:txBody>
      </p:sp>
      <p:sp>
        <p:nvSpPr>
          <p:cNvPr id="40" name="Text 37"/>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À gauche, validation (6g), en jaune le meilleur des deux. À droite, le test du modèle final E4, utilisé une seule fois (6i).</a:t>
            </a:r>
            <a:endParaRPr lang="en-US" sz="1200" dirty="0"/>
          </a:p>
        </p:txBody>
      </p:sp>
      <p:sp>
        <p:nvSpPr>
          <p:cNvPr id="41" name="Text 3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51C"/>
        </a:solidFill>
      </p:bgPr>
    </p:bg>
    <p:spTree>
      <p:nvGrpSpPr>
        <p:cNvPr id="1" name=""/>
        <p:cNvGrpSpPr/>
        <p:nvPr/>
      </p:nvGrpSpPr>
      <p:grpSpPr>
        <a:xfrm>
          <a:off x="0" y="0"/>
          <a:ext cx="0" cy="0"/>
          <a:chOff x="0" y="0"/>
          <a:chExt cx="0" cy="0"/>
        </a:xfrm>
      </p:grpSpPr>
      <p:sp>
        <p:nvSpPr>
          <p:cNvPr id="2" name="Text 0"/>
          <p:cNvSpPr/>
          <p:nvPr/>
        </p:nvSpPr>
        <p:spPr>
          <a:xfrm>
            <a:off x="812800" y="812800"/>
            <a:ext cx="1365647" cy="314920"/>
          </a:xfrm>
          <a:prstGeom prst="roundRect">
            <a:avLst>
              <a:gd name="adj" fmla="val 12098"/>
            </a:avLst>
          </a:prstGeom>
          <a:solidFill>
            <a:srgbClr val="F5B841"/>
          </a:solidFill>
          <a:ln/>
        </p:spPr>
        <p:txBody>
          <a:bodyPr wrap="none" lIns="0" tIns="0" rIns="0" bIns="0" rtlCol="0" anchor="ctr">
            <a:normAutofit/>
          </a:bodyPr>
          <a:lstStyle/>
          <a:p>
            <a:pPr algn="ctr" indent="0" marL="0">
              <a:lnSpc>
                <a:spcPts val="1680"/>
              </a:lnSpc>
              <a:buNone/>
            </a:pPr>
            <a:r>
              <a:rPr lang="en-US" sz="1200" b="1" spc="150" kern="0" dirty="0">
                <a:solidFill>
                  <a:srgbClr val="12151C"/>
                </a:solidFill>
                <a:latin typeface="Space Grotesk" pitchFamily="34" charset="0"/>
                <a:ea typeface="Space Grotesk" pitchFamily="34" charset="-122"/>
                <a:cs typeface="Space Grotesk" pitchFamily="34" charset="-120"/>
              </a:rPr>
              <a:t>CONCLUSION</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EDEFF3"/>
                </a:solidFill>
                <a:latin typeface="Space Grotesk" pitchFamily="34" charset="0"/>
                <a:ea typeface="Space Grotesk" pitchFamily="34" charset="-122"/>
                <a:cs typeface="Space Grotesk" pitchFamily="34" charset="-120"/>
              </a:rPr>
              <a:t>De 34.2% à 61.2% : ce qu'on retient</a:t>
            </a:r>
            <a:endParaRPr lang="en-US" sz="2800" dirty="0"/>
          </a:p>
        </p:txBody>
      </p:sp>
      <p:sp>
        <p:nvSpPr>
          <p:cNvPr id="4" name="Shape 2"/>
          <p:cNvSpPr/>
          <p:nvPr/>
        </p:nvSpPr>
        <p:spPr>
          <a:xfrm>
            <a:off x="812800" y="1836341"/>
            <a:ext cx="2527300" cy="0"/>
          </a:xfrm>
          <a:prstGeom prst="line">
            <a:avLst/>
          </a:prstGeom>
          <a:noFill/>
          <a:ln w="25400">
            <a:solidFill>
              <a:srgbClr val="3A4152"/>
            </a:solidFill>
            <a:prstDash val="solid"/>
          </a:ln>
        </p:spPr>
      </p:sp>
      <p:sp>
        <p:nvSpPr>
          <p:cNvPr id="5" name="Text 3"/>
          <p:cNvSpPr/>
          <p:nvPr/>
        </p:nvSpPr>
        <p:spPr>
          <a:xfrm>
            <a:off x="8128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A3ABBA"/>
                </a:solidFill>
                <a:latin typeface="JetBrains Mono" pitchFamily="49" charset="0"/>
                <a:ea typeface="JetBrains Mono" pitchFamily="49" charset="-122"/>
                <a:cs typeface="JetBrains Mono" pitchFamily="49" charset="-120"/>
              </a:rPr>
              <a:t>34.2%</a:t>
            </a:r>
            <a:endParaRPr lang="en-US" sz="3600" dirty="0"/>
          </a:p>
        </p:txBody>
      </p:sp>
      <p:sp>
        <p:nvSpPr>
          <p:cNvPr id="6" name="Text 4"/>
          <p:cNvSpPr/>
          <p:nvPr/>
        </p:nvSpPr>
        <p:spPr>
          <a:xfrm>
            <a:off x="8128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baseline dense, validation</a:t>
            </a:r>
            <a:endParaRPr lang="en-US" sz="1200" dirty="0"/>
          </a:p>
        </p:txBody>
      </p:sp>
      <p:sp>
        <p:nvSpPr>
          <p:cNvPr id="7" name="Shape 5"/>
          <p:cNvSpPr/>
          <p:nvPr/>
        </p:nvSpPr>
        <p:spPr>
          <a:xfrm>
            <a:off x="3492500" y="1836341"/>
            <a:ext cx="2527300" cy="0"/>
          </a:xfrm>
          <a:prstGeom prst="line">
            <a:avLst/>
          </a:prstGeom>
          <a:noFill/>
          <a:ln w="25400">
            <a:solidFill>
              <a:srgbClr val="6B7386"/>
            </a:solidFill>
            <a:prstDash val="solid"/>
          </a:ln>
        </p:spPr>
      </p:sp>
      <p:sp>
        <p:nvSpPr>
          <p:cNvPr id="8" name="Text 6"/>
          <p:cNvSpPr/>
          <p:nvPr/>
        </p:nvSpPr>
        <p:spPr>
          <a:xfrm>
            <a:off x="34925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EDEFF3"/>
                </a:solidFill>
                <a:latin typeface="JetBrains Mono" pitchFamily="49" charset="0"/>
                <a:ea typeface="JetBrains Mono" pitchFamily="49" charset="-122"/>
                <a:cs typeface="JetBrains Mono" pitchFamily="49" charset="-120"/>
              </a:rPr>
              <a:t>50.9%</a:t>
            </a:r>
            <a:endParaRPr lang="en-US" sz="3600" dirty="0"/>
          </a:p>
        </p:txBody>
      </p:sp>
      <p:sp>
        <p:nvSpPr>
          <p:cNvPr id="9" name="Text 7"/>
          <p:cNvSpPr/>
          <p:nvPr/>
        </p:nvSpPr>
        <p:spPr>
          <a:xfrm>
            <a:off x="34925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CNN de base, validation</a:t>
            </a:r>
            <a:endParaRPr lang="en-US" sz="1200" dirty="0"/>
          </a:p>
        </p:txBody>
      </p:sp>
      <p:sp>
        <p:nvSpPr>
          <p:cNvPr id="10" name="Shape 8"/>
          <p:cNvSpPr/>
          <p:nvPr/>
        </p:nvSpPr>
        <p:spPr>
          <a:xfrm>
            <a:off x="6172200" y="1836341"/>
            <a:ext cx="2527300" cy="0"/>
          </a:xfrm>
          <a:prstGeom prst="line">
            <a:avLst/>
          </a:prstGeom>
          <a:noFill/>
          <a:ln w="25400">
            <a:solidFill>
              <a:srgbClr val="FF9B7A"/>
            </a:solidFill>
            <a:prstDash val="solid"/>
          </a:ln>
        </p:spPr>
      </p:sp>
      <p:sp>
        <p:nvSpPr>
          <p:cNvPr id="11" name="Text 9"/>
          <p:cNvSpPr/>
          <p:nvPr/>
        </p:nvSpPr>
        <p:spPr>
          <a:xfrm>
            <a:off x="61722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F9B7A"/>
                </a:solidFill>
                <a:latin typeface="JetBrains Mono" pitchFamily="49" charset="0"/>
                <a:ea typeface="JetBrains Mono" pitchFamily="49" charset="-122"/>
                <a:cs typeface="JetBrains Mono" pitchFamily="49" charset="-120"/>
              </a:rPr>
              <a:t>60.2%</a:t>
            </a:r>
            <a:endParaRPr lang="en-US" sz="3600" dirty="0"/>
          </a:p>
        </p:txBody>
      </p:sp>
      <p:sp>
        <p:nvSpPr>
          <p:cNvPr id="12" name="Text 10"/>
          <p:cNvSpPr/>
          <p:nvPr/>
        </p:nvSpPr>
        <p:spPr>
          <a:xfrm>
            <a:off x="61722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modèle final E4, validation</a:t>
            </a:r>
            <a:endParaRPr lang="en-US" sz="1200" dirty="0"/>
          </a:p>
        </p:txBody>
      </p:sp>
      <p:sp>
        <p:nvSpPr>
          <p:cNvPr id="13" name="Shape 11"/>
          <p:cNvSpPr/>
          <p:nvPr/>
        </p:nvSpPr>
        <p:spPr>
          <a:xfrm>
            <a:off x="8851900" y="1836341"/>
            <a:ext cx="2527300" cy="0"/>
          </a:xfrm>
          <a:prstGeom prst="line">
            <a:avLst/>
          </a:prstGeom>
          <a:noFill/>
          <a:ln w="25400">
            <a:solidFill>
              <a:srgbClr val="F5B841"/>
            </a:solidFill>
            <a:prstDash val="solid"/>
          </a:ln>
        </p:spPr>
      </p:sp>
      <p:sp>
        <p:nvSpPr>
          <p:cNvPr id="14" name="Text 12"/>
          <p:cNvSpPr/>
          <p:nvPr/>
        </p:nvSpPr>
        <p:spPr>
          <a:xfrm>
            <a:off x="8851900" y="1950641"/>
            <a:ext cx="2603119" cy="52829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F5B841"/>
                </a:solidFill>
                <a:latin typeface="JetBrains Mono" pitchFamily="49" charset="0"/>
                <a:ea typeface="JetBrains Mono" pitchFamily="49" charset="-122"/>
                <a:cs typeface="JetBrains Mono" pitchFamily="49" charset="-120"/>
              </a:rPr>
              <a:t>61.2%</a:t>
            </a:r>
            <a:endParaRPr lang="en-US" sz="3600" dirty="0"/>
          </a:p>
        </p:txBody>
      </p:sp>
      <p:sp>
        <p:nvSpPr>
          <p:cNvPr id="15" name="Text 13"/>
          <p:cNvSpPr/>
          <p:nvPr/>
        </p:nvSpPr>
        <p:spPr>
          <a:xfrm>
            <a:off x="8851900" y="2491631"/>
            <a:ext cx="2603119" cy="223490"/>
          </a:xfrm>
          <a:prstGeom prst="rect">
            <a:avLst/>
          </a:prstGeom>
          <a:noFill/>
          <a:ln/>
        </p:spPr>
        <p:txBody>
          <a:bodyPr wrap="square" lIns="0" tIns="0" rIns="0" bIns="0" rtlCol="0" anchor="t">
            <a:normAutofit/>
          </a:bodyPr>
          <a:lstStyle/>
          <a:p>
            <a:pPr algn="l" indent="0" marL="0">
              <a:lnSpc>
                <a:spcPts val="1560"/>
              </a:lnSpc>
              <a:buNone/>
            </a:pPr>
            <a:r>
              <a:rPr lang="en-US" sz="1200" dirty="0">
                <a:solidFill>
                  <a:srgbClr val="A3ABBA"/>
                </a:solidFill>
                <a:latin typeface="DM Sans" pitchFamily="34" charset="0"/>
                <a:ea typeface="DM Sans" pitchFamily="34" charset="-122"/>
                <a:cs typeface="DM Sans" pitchFamily="34" charset="-120"/>
              </a:rPr>
              <a:t>modèle final E4, test</a:t>
            </a:r>
            <a:endParaRPr lang="en-US" sz="1200" dirty="0"/>
          </a:p>
        </p:txBody>
      </p:sp>
      <p:sp>
        <p:nvSpPr>
          <p:cNvPr id="16" name="Shape 14"/>
          <p:cNvSpPr/>
          <p:nvPr/>
        </p:nvSpPr>
        <p:spPr>
          <a:xfrm>
            <a:off x="812800" y="2892921"/>
            <a:ext cx="3420517" cy="1280120"/>
          </a:xfrm>
          <a:prstGeom prst="roundRect">
            <a:avLst>
              <a:gd name="adj" fmla="val 5953"/>
            </a:avLst>
          </a:prstGeom>
          <a:solidFill>
            <a:srgbClr val="1A1F2A"/>
          </a:solidFill>
          <a:ln/>
        </p:spPr>
      </p:sp>
      <p:sp>
        <p:nvSpPr>
          <p:cNvPr id="17" name="Text 15"/>
          <p:cNvSpPr/>
          <p:nvPr/>
        </p:nvSpPr>
        <p:spPr>
          <a:xfrm>
            <a:off x="1016000" y="3096121"/>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41"/>
                </a:solidFill>
                <a:latin typeface="Space Grotesk" pitchFamily="34" charset="0"/>
                <a:ea typeface="Space Grotesk" pitchFamily="34" charset="-122"/>
                <a:cs typeface="Space Grotesk" pitchFamily="34" charset="-120"/>
              </a:rPr>
              <a:t>CE QUI A MARCHÉ</a:t>
            </a:r>
            <a:endParaRPr lang="en-US" sz="1200" dirty="0"/>
          </a:p>
        </p:txBody>
      </p:sp>
      <p:sp>
        <p:nvSpPr>
          <p:cNvPr id="18" name="Text 16"/>
          <p:cNvSpPr/>
          <p:nvPr/>
        </p:nvSpPr>
        <p:spPr>
          <a:xfrm>
            <a:off x="1016000" y="3385641"/>
            <a:ext cx="310454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DEFF3"/>
                </a:solidFill>
                <a:latin typeface="Space Grotesk" pitchFamily="34" charset="0"/>
                <a:ea typeface="Space Grotesk" pitchFamily="34" charset="-122"/>
                <a:cs typeface="Space Grotesk" pitchFamily="34" charset="-120"/>
              </a:rPr>
              <a:t>Convolutions et augmentation</a:t>
            </a:r>
            <a:endParaRPr lang="en-US" sz="2000" dirty="0"/>
          </a:p>
        </p:txBody>
      </p:sp>
      <p:sp>
        <p:nvSpPr>
          <p:cNvPr id="19" name="Shape 17"/>
          <p:cNvSpPr/>
          <p:nvPr/>
        </p:nvSpPr>
        <p:spPr>
          <a:xfrm>
            <a:off x="4385717" y="2892921"/>
            <a:ext cx="3420517" cy="1280120"/>
          </a:xfrm>
          <a:prstGeom prst="roundRect">
            <a:avLst>
              <a:gd name="adj" fmla="val 5953"/>
            </a:avLst>
          </a:prstGeom>
          <a:solidFill>
            <a:srgbClr val="1A1F2A"/>
          </a:solidFill>
          <a:ln/>
        </p:spPr>
      </p:sp>
      <p:sp>
        <p:nvSpPr>
          <p:cNvPr id="20" name="Text 18"/>
          <p:cNvSpPr/>
          <p:nvPr/>
        </p:nvSpPr>
        <p:spPr>
          <a:xfrm>
            <a:off x="4588917" y="3096121"/>
            <a:ext cx="310454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41"/>
                </a:solidFill>
                <a:latin typeface="Space Grotesk" pitchFamily="34" charset="0"/>
                <a:ea typeface="Space Grotesk" pitchFamily="34" charset="-122"/>
                <a:cs typeface="Space Grotesk" pitchFamily="34" charset="-120"/>
              </a:rPr>
              <a:t>LA LIMITE</a:t>
            </a:r>
            <a:endParaRPr lang="en-US" sz="1200" dirty="0"/>
          </a:p>
        </p:txBody>
      </p:sp>
      <p:sp>
        <p:nvSpPr>
          <p:cNvPr id="21" name="Text 19"/>
          <p:cNvSpPr/>
          <p:nvPr/>
        </p:nvSpPr>
        <p:spPr>
          <a:xfrm>
            <a:off x="4588917" y="3385641"/>
            <a:ext cx="3104540"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DEFF3"/>
                </a:solidFill>
                <a:latin typeface="Space Grotesk" pitchFamily="34" charset="0"/>
                <a:ea typeface="Space Grotesk" pitchFamily="34" charset="-122"/>
                <a:cs typeface="Space Grotesk" pitchFamily="34" charset="-120"/>
              </a:rPr>
              <a:t>fear et disgust restent difficiles</a:t>
            </a:r>
            <a:endParaRPr lang="en-US" sz="2000" dirty="0"/>
          </a:p>
        </p:txBody>
      </p:sp>
      <p:sp>
        <p:nvSpPr>
          <p:cNvPr id="22" name="Shape 20"/>
          <p:cNvSpPr/>
          <p:nvPr/>
        </p:nvSpPr>
        <p:spPr>
          <a:xfrm>
            <a:off x="7958634" y="2892921"/>
            <a:ext cx="3420566" cy="1280120"/>
          </a:xfrm>
          <a:prstGeom prst="roundRect">
            <a:avLst>
              <a:gd name="adj" fmla="val 5953"/>
            </a:avLst>
          </a:prstGeom>
          <a:solidFill>
            <a:srgbClr val="1A1F2A"/>
          </a:solidFill>
          <a:ln/>
        </p:spPr>
      </p:sp>
      <p:sp>
        <p:nvSpPr>
          <p:cNvPr id="23" name="Text 21"/>
          <p:cNvSpPr/>
          <p:nvPr/>
        </p:nvSpPr>
        <p:spPr>
          <a:xfrm>
            <a:off x="8161834" y="3096121"/>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5B841"/>
                </a:solidFill>
                <a:latin typeface="Space Grotesk" pitchFamily="34" charset="0"/>
                <a:ea typeface="Space Grotesk" pitchFamily="34" charset="-122"/>
                <a:cs typeface="Space Grotesk" pitchFamily="34" charset="-120"/>
              </a:rPr>
              <a:t>LA SUITE</a:t>
            </a:r>
            <a:endParaRPr lang="en-US" sz="1200" dirty="0"/>
          </a:p>
        </p:txBody>
      </p:sp>
      <p:sp>
        <p:nvSpPr>
          <p:cNvPr id="24" name="Text 22"/>
          <p:cNvSpPr/>
          <p:nvPr/>
        </p:nvSpPr>
        <p:spPr>
          <a:xfrm>
            <a:off x="8161834" y="3385641"/>
            <a:ext cx="3104591"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EDEFF3"/>
                </a:solidFill>
                <a:latin typeface="Space Grotesk" pitchFamily="34" charset="0"/>
                <a:ea typeface="Space Grotesk" pitchFamily="34" charset="-122"/>
                <a:cs typeface="Space Grotesk" pitchFamily="34" charset="-120"/>
              </a:rPr>
              <a:t>Entraîner avec SGD au lieu d'Adam</a:t>
            </a:r>
            <a:endParaRPr lang="en-US" sz="2000" dirty="0"/>
          </a:p>
        </p:txBody>
      </p:sp>
      <p:sp>
        <p:nvSpPr>
          <p:cNvPr id="25" name="Text 23"/>
          <p:cNvSpPr/>
          <p:nvPr/>
        </p:nvSpPr>
        <p:spPr>
          <a:xfrm>
            <a:off x="812800" y="6238280"/>
            <a:ext cx="9156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3ABBA"/>
                </a:solidFill>
                <a:latin typeface="DM Sans" pitchFamily="34" charset="0"/>
                <a:ea typeface="DM Sans" pitchFamily="34" charset="-122"/>
                <a:cs typeface="DM Sans" pitchFamily="34" charset="-120"/>
              </a:rPr>
              <a:t>Ensuite, la démo : la dernière cellule du notebook prédit l'expression d'une image.</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3ABBA"/>
                </a:solidFill>
                <a:latin typeface="Space Grotesk" pitchFamily="34" charset="0"/>
                <a:ea typeface="Space Grotesk" pitchFamily="34" charset="-122"/>
                <a:cs typeface="Space Grotesk" pitchFamily="34" charset="-120"/>
              </a:rPr>
              <a:t>10</a:t>
            </a:r>
            <a:endParaRPr lang="en-US" sz="1200" dirty="0"/>
          </a:p>
        </p:txBody>
      </p:sp>
    </p:spTree>
  </p:cSld>
  <p:clrMapOvr>
    <a:masterClrMapping/>
  </p:clrMapOvr>
</p:sld>
</file>

<file path=ppt/theme/theme1.xml><?xml version="1.0" encoding="utf-8"?>
<a:theme xmlns:a="http://schemas.openxmlformats.org/drawingml/2006/main" name="Soutenance — Reconnaissance d'expressions faciales">
  <a:themeElements>
    <a:clrScheme name="Soutenance — Reconnaissance d'expressions faciales">
      <a:dk1>
        <a:srgbClr val="12151C"/>
      </a:dk1>
      <a:lt1>
        <a:srgbClr val="EDEFF3"/>
      </a:lt1>
      <a:dk2>
        <a:srgbClr val="282B32"/>
      </a:dk2>
      <a:lt2>
        <a:srgbClr val="B6B9BD"/>
      </a:lt2>
      <a:accent1>
        <a:srgbClr val="F5B841"/>
      </a:accent1>
      <a:accent2>
        <a:srgbClr val="FF9B7A"/>
      </a:accent2>
      <a:accent3>
        <a:srgbClr val="5DD6A2"/>
      </a:accent3>
      <a:accent4>
        <a:srgbClr val="7FB0FF"/>
      </a:accent4>
      <a:accent5>
        <a:srgbClr val="C4A1FF"/>
      </a:accent5>
      <a:accent6>
        <a:srgbClr val="A3ABBA"/>
      </a:accent6>
      <a:hlink>
        <a:srgbClr val="0563C1"/>
      </a:hlink>
      <a:folHlink>
        <a:srgbClr val="954F72"/>
      </a:folHlink>
    </a:clrScheme>
    <a:fontScheme name="Soutenance — Reconnaissance d'expressions faciales">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 Reconnaissance d'expressions faciales</dc:title>
  <dc:subject/>
  <dc:creator/>
  <cp:lastModifiedBy/>
  <cp:revision>1</cp:revision>
  <dcterms:created xsi:type="dcterms:W3CDTF">2026-10-08T21:13:59Z</dcterms:created>
  <dcterms:modified xsi:type="dcterms:W3CDTF">2026-10-08T21:13:59Z</dcterms:modified>
</cp:coreProperties>
</file>