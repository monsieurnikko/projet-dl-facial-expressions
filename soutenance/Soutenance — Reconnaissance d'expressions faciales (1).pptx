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présente notre projet de reconnaissance d'expressions faciales. Les 7 visages viennent du dataset, un par classe : ce sont des images 48x48 en niveaux de gris, c'est tout ce que le réseau reçoit. Le but : dire laquelle des 7 expressions l'image montre. On suit le plan du sujet, parties 1 à 6, puis une démo.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pris FER2013 parce qu'il est public, très utilisé, et que les visages sont déjà découpés. Images collectées sur Google Images par mots-clés d'émotions, recadrées automatiquement puis vérifiées à la main, en 48x48 niveaux de gris. Le dataset d'origine a 35 887 images (28 709 train, 7 178 test). À l'étape 0 on retire 13 images vides, sans visage (12 dans train dont 7 dans angry, 1 dans test) : il reste 35 874 images, 28 697 en train et 7 177 en test. Le graphique montre le déséquilibre : c'est pour ça qu'on regarde le rappel par classe et pas seulement l'accuracy. Rôles : le train sert à apprendre les poids, la validation à suivre l'entraînement et choisir les modèles, le test est gardé pour la fin. Normalisation : petites valeurs, entraînement plus stable. One-hot : va avec softmax et categorical_crossentropy.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schéma du sujet, il sert de point de comparaison. Chaque neurone fait une somme pondérée des 2304 pixels plus un biais, puis ReLU. Softmax donne 7 probabilités qui font 1 au total, la classe prédite est la plus probable. Paramètres : 2304 x 128 + 128 = 295 040, puis 128 x 7 + 7 = 903. Apprentissage : propagation avant sur un lot de 128 images, calcul de la loss (-log de la proba donnée à la vraie classe), rétropropagation pour avoir le gradient de chaque poids, puis Adam bouge les poids dans le sens qui fait baisser la loss. 34.7% c'est mieux que le hasard (14.3%) et que toujours happy (24.4%), mais faible. Sur l'image d'exemple la baseline trouve la bonne classe, neutral, avec 65%. Un visage un peu décalé devient un vecteur complètement différent, c'est ce que le CNN doit corriger.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l'architecture du schéma du sujet. Chaque filtre glisse sur l'image et produit une feature map. La première convolution utilise des filtres 5x5 : sur l'image d'entrée il n'y a qu'un canal, donc un filtre plus large coûte peu (832 paramètres) et voit un morceau de visage plus grand dès la première couche. Ensuite il y a 32 canaux, un 5x5 coûterait presque trois fois plus qu'un 3x3, on reste en 3x3. Le premier bloc trouve des motifs simples (bords, coins), le deuxième les combine en motifs plus grands (un oeil, une bouche). Paramètres d'une convolution = (noyau x noyau x canaux en entrée + 1 biais) x nombre de filtres : (5x5x1 + 1) x 32 = 832, (3x3x32 + 1) x 64 = 18 496. Dense : 6400 x 7 + 7 = 44 807. Padding valid : la sortie perd 4 pixels avec le 5x5 (48 - 5 + 1 = 44) et 2 avec le 3x3 (22 - 3 + 1 = 20). Avec padding same on garderait la taille. Le pooling n'a aucun paramètre : 44 donne 22, puis 20 donne 10. On double les filtres (32 puis 64) quand les cartes rétrécissent. None dans les formes = la taille du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début les deux loss baissent ensemble, puis elles se séparent : la loss train continue de baisser alors que la val_loss stagne, atteint son minimum à l'époque 10 (ligne en pointillés, 1.319) puis remonte un peu (1.361 à la fin). L'accuracy train monte jusqu'à 65.3% alors que la validation plafonne vers 52%. C'est du surapprentissage : à partir de la meilleure époque le modèle commence à apprendre les images de train par coeur. L'early stopping s'arrête 6 époques plus tard (époque 16) et remet les poids de la meilleure époque. Écart train/val à la meilleure époque : 6.9 points. Pourquoi ces choix : la cross-entropy devient très grande quand le modèle se trompe en étant sûr de lui ; Adam marche bien sans réglage et la val_loss baisse dès le début ; on ne sait pas à l'avance combien d'époques il faut, c'est la validation qui décide ; patience de 6 plutôt que 3 pour ne pas s'arrêter sur un simple creux ; on surveille val_loss plutôt que val_accuracy parce qu'elle bouge plus finement. On essaie de réduire ce surapprentissage en partie 6 (dropout, augmentation).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Matrice : ligne = vraie classe, colonne = classe prédite, la diagonale = les bonnes réponses. Rappel d'une classe = bonnes réponses / nombre d'images de la classe. happy (75.4%) et surprise (66.8%) sont les mieux reconnues : le sourire, la bouche et les yeux grands ouverts se voient même en 48x48, et happy a le plus d'images. Les plus dures dans cette exécution : fear (22.9%), disgust (25.7%, 18 sur 70), sad (36.5%). Les grosses confusions passent presque toutes par sad et neutral : bouche fermée, peu de mouvement, la différence se joue sur quelques pixels autour des sourcils et de la bouche. La cinquième : neutral prédit happy (148). disgust : surtout un problème de quantité, environ 16 fois moins d'images que happy. fear est prise pour sad, angry, neutral ou surprise. ROC : une courbe par classe contre toutes les autres. L'AUC regarde si les probabilités sont plus hautes pour les bonnes images, pas si la prédiction finale est juste. disgust peut donc avoir une bonne AUC et un mauvais rappel, il faut lire la ROC avec la matrice. Autre cause probable, non mesurée : des étiquettes fausses dans FER2013.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regarde les erreurs où le modèle était le plus sûr de lui, ce sont les plus intéressantes. Cinq images étiquetées surprise, angry ou sad sont prédites happy. Pour les deux surprise et une des angry, la personne sourit ou rit : à l'oeil, la prédiction a l'air plus juste que le label. Les deux autres sont des visages d'enfants, plus difficiles à lire. Trois images sont prédites surprise : deux fear avec les yeux écarquillés et les mains sur le visage, et une happy avec la bouche grande ouverte. Le modèle a l'air de se baser surtout sur la bouche et l'ouverture des yeux, moins sur les sourcils. Les images changent un peu d'une exécution à l'autre, mais on retrouve les mêmes types d'erreurs. Les étiquettes douteuses limitent sûrement le score maximum qu'on peut avoir sur FER2013. On ne l'a pas mesuré, c'est une hypothèse à partir des exemples.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haut, le réseau complet : en gris le CNN de base, en couleur ce que chaque expérience ajoute. En bas, l'accuracy de validation de chaque modèle. Chaque expérience part du dernier modèle gardé et change une seule chose. Le reste ne bouge pas : même découpage, seed remise à 42, Adam lr 0.001, batch 128, 20 époques fixes en gardant les poids de la meilleure époque. Seul le CNN de base garde l'early stopping de la partie 4. E0 (learning rate divisé par 2 quand la val_loss ne baisse plus) : 51.1%, pas de gain. E1 (Dense 128 + 64) : 50.5%. E1 bis (batch normalization après chaque convolution) : 50.8%. E2 (dropout 0.3 avant la Dense 128) : 50.8%. E3 (blocs Conv 128 et 256) : 52.9%, loss 1.251. E4 (augmentation : miroir, petite rotation, petit zoom, flou) : le plus gros gain, 60.3%, +7.4 points sur E3, loss 1.075, meilleure époque 20 sur 20 donc le modèle progressait encore. E5 (E4 + poids par classe) : 56.2%, le rappel de disgust monte à 62.9% contre 28.6% pour E4. Du CNN de base à E2 les écarts font moins d'un point et demi : ça peut venir du hasard de l'initialisation. Les vrais effets sont ceux de E3, E4 et E5. Modèle final : E4, choisi par le code avec la règle fixée au début, la meilleure accuracy de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de la slide : avec des classes déséquilibrées, l'accuracy seule ne suffit pas pour juger un modèle. disgust représente 1.2% de la validation, donc l'accuracy ne voit presque pas si on la reconnaît. On regarde donc aussi les métriques par classe. Rappel = parmi les vraies images disgust, combien on en retrouve. Précision = parmi les images prédites disgust, combien le sont vraiment. F1 = moyenne harmonique des deux. Le rappel seul ne suffit pas non plus : il ne voit pas les fausses alertes. E5 (E4 + poids par classe) retrouve 62.9% des disgust contre 28.6% pour E4, mais sa précision tombe à 20.7% : environ quatre de ses réponses disgust sur cinq sont fausses. Le F1, qui tient compte des deux, est meilleur pour E4 (38.8% contre 31.1%). E4 a aussi la meilleure accuracy (60.3%), la plus petite loss (1.075) et le meilleur F1 sur six classes sur sept. Le modèle final est choisi par le code avec la règle fixée au début, la meilleure accuracy de validation : c'est E4. On ne change pas la règle après avoir vu les résultats. Si le but était de détecter le dégoût à tout prix, quitte à avoir beaucoup de fausses alertes, E5 serait l'alternative. Test, utilisé une seule fois sur le modèle final : 60.7% contre 60.3% en validation, c'est proche, donc le choix fait sur la validation tient sur des images qui n'avaient servi à rien avant. Rappel sur le test : angry 50.8%, disgust 21.6% (24 sur 111), fear 32.8%, happy 86.5%, neutral 70.3%, sad 37.3%, surprise 77.6%.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en trois temps. Ce qui a marché : passer du réseau dense au CNN fait gagner 17 points (34.7% à 51.7%) avec 4,6 fois moins de paramètres, parce que les filtres tiennent compte du voisinage des pixels. En partie 6, c'est l'augmentation qui apporte le plus (52.9% à 60.3%) : elle réduit le surapprentissage, les courbes train et validation montent ensemble. Les autres changements (couches Dense, batch normalization, dropout, baisse du learning rate) font moins d'un point et demi, ce qui peut venir du hasard. Et pour choisir un modèle avec des classes déséquilibrées, on a regardé le rappel, la précision et le F1 par classe en plus de l'accuracy. Le score sur le test (60.7%) est proche de celui de validation (60.3%) : le choix tient. Les limites : fear et disgust restent mal reconnues ; tout vient d'une seule exécution avec une seule seed ; le modèle a appris sur des visages déjà recadrés, sur une photo entière il se trompera ; certaines étiquettes de FER2013 ont l'air fausses, ce qu'on n'a pas mesuré. La suite, c'est le transfer learning, qu'on n'a pas testé : au lieu d'apprendre les filtres à partir de zéro sur 23 000 images, on part d'un réseau déjà entraîné sur beaucoup plus d'images. Un exemple adapté : MobileNetV2. Pourquoi lui et pas un autre : (1) il est fourni dans Keras (keras.applications) avec ses poids pré-entraînés sur ImageNet (plus d'un million d'images, 1000 classes), donc on peut l'utiliser avec les mêmes outils que le reste du projet ; (2) il est léger, environ 3,5 millions de paramètres contre plus de 130 millions pour VGG16, donc il s'entraîne vite sur le GPU de Colab et risque moins de surapprendre sur nos 23 000 images ; (3) il accepte de petites images (à partir de 32x32, ses poids existent pour du 96x96), ce qui convient à nos visages 48x48 qu'on n'a pas besoin d'agrandir jusqu'à 224x224 ; (4) il a été conçu pour les téléphones, ce qui va bien avec une application en temps réel sur une webcam, comme la partie vidéo du sujet. Sa limite : il a appris sur des objets et des animaux, pas sur des visages, donc ses premières couches (bords, textures) se réutilisent bien mais les dernières sont à réentraîner. On garde ses couches de convolution, on remplace sa sortie par notre Dense(7) + softmax, on entraîne d'abord seulement cette nouvelle sortie avec le reste gelé, puis on peut dégeler les dernières couches avec un petit learning rate (fine-tuning). Il faut adapter nos images : MobileNetV2 attend 3 canaux et des images plus grandes, donc on répète le canal gris 3 fois et on agrandit de 48x48 à 96x96. Il existe aussi des modèles pré-entraînés sur des visages plutôt que sur des objets (par exemple VGGFace2), encore plus proches de notre problème, mais ils ne sont pas fournis directement dans Keras. Autres pistes à citer si on nous le demande : entraîner E4 plus longtemps (il progressait encore à la 20e époque), des poids de classe plus doux que ceux de E5, et une détection de visages avant le classifieur (parties 7 à 9 du sujet, qu'on n'a pas faites). Puis la démo : on recharge le modèle sauvegardé, on prépare une image comme à l'entraînement (gris, 48x48, divisée par 255) et on affiche les 7 probabilités. Sur l'exemple du notebook, happy sort à 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2151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EDEFF3"/>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25241"/>
            <a:ext cx="10566400" cy="4119959"/>
          </a:xfrm>
          <a:prstGeom prst="rect">
            <a:avLst/>
          </a:prstGeom>
          <a:noFill/>
          <a:ln/>
        </p:spPr>
        <p:txBody>
          <a:bodyPr wrap="square" lIns="0" tIns="0" rIns="0" bIns="0" rtlCol="0" anchor="t"/>
          <a:lstStyle>
            <a:lvl1pPr algn="l" indent="0" marL="0">
              <a:lnSpc>
                <a:spcPct val="140000"/>
              </a:lnSpc>
              <a:buNone/>
              <a:defRPr lang="en-US" sz="1600" dirty="0">
                <a:solidFill>
                  <a:srgbClr val="EDEFF3"/>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151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EDEFF3"/>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25241"/>
            <a:ext cx="10566400" cy="4119959"/>
          </a:xfrm>
          <a:prstGeom prst="rect">
            <a:avLst/>
          </a:prstGeom>
          <a:noFill/>
          <a:ln/>
        </p:spPr>
        <p:txBody>
          <a:bodyPr wrap="square" lIns="0" tIns="0" rIns="0" bIns="0" rtlCol="0" anchor="t"/>
          <a:lstStyle>
            <a:lvl1pPr algn="l" indent="0" marL="0">
              <a:lnSpc>
                <a:spcPct val="140000"/>
              </a:lnSpc>
              <a:buNone/>
              <a:defRPr lang="en-US" sz="1600" dirty="0">
                <a:solidFill>
                  <a:srgbClr val="EDEFF3"/>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2.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3463578"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PROJET DEEP LEARNING · MASTER S1</a:t>
            </a:r>
            <a:endParaRPr lang="en-US" sz="1200" dirty="0"/>
          </a:p>
        </p:txBody>
      </p:sp>
      <p:sp>
        <p:nvSpPr>
          <p:cNvPr id="3" name="Text 1"/>
          <p:cNvSpPr/>
          <p:nvPr/>
        </p:nvSpPr>
        <p:spPr>
          <a:xfrm>
            <a:off x="8403709" y="863600"/>
            <a:ext cx="29754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DM Sans" pitchFamily="34" charset="0"/>
                <a:ea typeface="DM Sans" pitchFamily="34" charset="-122"/>
                <a:cs typeface="DM Sans" pitchFamily="34" charset="-120"/>
              </a:rPr>
              <a:t>Duc Duy et Simon · 9 octobre 2026</a:t>
            </a:r>
            <a:endParaRPr lang="en-US" sz="1200" dirty="0"/>
          </a:p>
        </p:txBody>
      </p:sp>
      <p:sp>
        <p:nvSpPr>
          <p:cNvPr id="4" name="Text 2"/>
          <p:cNvSpPr/>
          <p:nvPr>
            <p:ph type="title"/>
          </p:nvPr>
        </p:nvSpPr>
        <p:spPr>
          <a:xfrm>
            <a:off x="812800" y="1814860"/>
            <a:ext cx="10883392" cy="1579860"/>
          </a:xfrm>
          <a:prstGeom prst="rect">
            <a:avLst/>
          </a:prstGeom>
          <a:noFill/>
          <a:ln/>
        </p:spPr>
        <p:txBody>
          <a:bodyPr wrap="square" lIns="0" tIns="0" rIns="0" bIns="0" rtlCol="0" anchor="t">
            <a:normAutofit/>
          </a:bodyPr>
          <a:lstStyle/>
          <a:p>
            <a:pPr algn="l" indent="0" marL="0">
              <a:lnSpc>
                <a:spcPts val="6120"/>
              </a:lnSpc>
              <a:buNone/>
            </a:pPr>
            <a:r>
              <a:rPr lang="en-US" sz="6000" b="1" i="0" spc="-100" kern="0" dirty="0">
                <a:solidFill>
                  <a:srgbClr val="EDEFF3"/>
                </a:solidFill>
                <a:latin typeface="Space Grotesk" pitchFamily="34" charset="0"/>
                <a:ea typeface="Space Grotesk" pitchFamily="34" charset="-122"/>
                <a:cs typeface="Space Grotesk" pitchFamily="34" charset="-120"/>
              </a:rPr>
              <a:t>Quelle </a:t>
            </a:r>
            <a:r>
              <a:rPr lang="en-US" sz="6000" b="1" i="0" spc="-100" kern="0" dirty="0">
                <a:solidFill>
                  <a:srgbClr val="F5B841"/>
                </a:solidFill>
                <a:latin typeface="Space Grotesk" pitchFamily="34" charset="0"/>
                <a:ea typeface="Space Grotesk" pitchFamily="34" charset="-122"/>
                <a:cs typeface="Space Grotesk" pitchFamily="34" charset="-120"/>
              </a:rPr>
              <a:t>expression</a:t>
            </a:r>
            <a:r>
              <a:rPr lang="en-US" sz="6000" b="1" i="0" spc="-100" kern="0" dirty="0">
                <a:solidFill>
                  <a:srgbClr val="EDEFF3"/>
                </a:solidFill>
                <a:latin typeface="Space Grotesk" pitchFamily="34" charset="0"/>
                <a:ea typeface="Space Grotesk" pitchFamily="34" charset="-122"/>
                <a:cs typeface="Space Grotesk" pitchFamily="34" charset="-120"/>
              </a:rPr>
              <a:t> voit le réseau ?</a:t>
            </a:r>
            <a:endParaRPr lang="en-US" sz="6000" dirty="0"/>
          </a:p>
        </p:txBody>
      </p:sp>
      <p:sp>
        <p:nvSpPr>
          <p:cNvPr id="5" name="Text 3"/>
          <p:cNvSpPr/>
          <p:nvPr/>
        </p:nvSpPr>
        <p:spPr>
          <a:xfrm>
            <a:off x="812800" y="349632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A3ABBA"/>
                </a:solidFill>
                <a:latin typeface="DM Sans" pitchFamily="34" charset="0"/>
                <a:ea typeface="DM Sans" pitchFamily="34" charset="-122"/>
                <a:cs typeface="DM Sans" pitchFamily="34" charset="-120"/>
              </a:rPr>
              <a:t>Reconnaissance d'expressions faciales avec un CNN entraîné sur FER2013</a:t>
            </a:r>
            <a:endParaRPr lang="en-US" sz="1600" dirty="0"/>
          </a:p>
        </p:txBody>
      </p:sp>
      <p:pic>
        <p:nvPicPr>
          <p:cNvPr id="6" name="Image 0" descr="Visage FER2013 de la classe angry, 48x48 pixels agrandi">    </p:cNvPr>
          <p:cNvPicPr>
            <a:picLocks noChangeAspect="1"/>
          </p:cNvPicPr>
          <p:nvPr/>
        </p:nvPicPr>
        <p:blipFill>
          <a:blip r:embed="rId1"/>
          <a:srcRect l="0" r="0" t="0" b="0"/>
          <a:stretch/>
        </p:blipFill>
        <p:spPr>
          <a:xfrm rot="21420000">
            <a:off x="850900" y="4485680"/>
            <a:ext cx="1219200" cy="1219200"/>
          </a:xfrm>
          <a:prstGeom prst="rect">
            <a:avLst/>
          </a:prstGeom>
        </p:spPr>
      </p:pic>
      <p:sp>
        <p:nvSpPr>
          <p:cNvPr id="7" name="Shape 4"/>
          <p:cNvSpPr/>
          <p:nvPr/>
        </p:nvSpPr>
        <p:spPr>
          <a:xfrm rot="21420000">
            <a:off x="831850" y="4466630"/>
            <a:ext cx="1257300" cy="1257300"/>
          </a:xfrm>
          <a:prstGeom prst="rect">
            <a:avLst/>
          </a:prstGeom>
          <a:noFill/>
          <a:ln w="38100">
            <a:solidFill>
              <a:srgbClr val="EDEFF3"/>
            </a:solidFill>
            <a:prstDash val="solid"/>
          </a:ln>
        </p:spPr>
      </p:sp>
      <p:sp>
        <p:nvSpPr>
          <p:cNvPr id="8" name="Text 5"/>
          <p:cNvSpPr/>
          <p:nvPr/>
        </p:nvSpPr>
        <p:spPr>
          <a:xfrm>
            <a:off x="1186180" y="5831880"/>
            <a:ext cx="5486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angry</a:t>
            </a:r>
            <a:endParaRPr lang="en-US" sz="1200" dirty="0"/>
          </a:p>
        </p:txBody>
      </p:sp>
      <p:pic>
        <p:nvPicPr>
          <p:cNvPr id="9" name="Image 1" descr="Visage FER2013 de la classe disgust, 48x48 pixels agrandi">    </p:cNvPr>
          <p:cNvPicPr>
            <a:picLocks noChangeAspect="1"/>
          </p:cNvPicPr>
          <p:nvPr/>
        </p:nvPicPr>
        <p:blipFill>
          <a:blip r:embed="rId2"/>
          <a:srcRect l="0" r="0" t="0" b="0"/>
          <a:stretch/>
        </p:blipFill>
        <p:spPr>
          <a:xfrm rot="120000">
            <a:off x="2396083" y="4485680"/>
            <a:ext cx="1219200" cy="1219200"/>
          </a:xfrm>
          <a:prstGeom prst="rect">
            <a:avLst/>
          </a:prstGeom>
        </p:spPr>
      </p:pic>
      <p:sp>
        <p:nvSpPr>
          <p:cNvPr id="10" name="Shape 6"/>
          <p:cNvSpPr/>
          <p:nvPr/>
        </p:nvSpPr>
        <p:spPr>
          <a:xfrm rot="120000">
            <a:off x="2377033" y="4466630"/>
            <a:ext cx="1257300" cy="1257300"/>
          </a:xfrm>
          <a:prstGeom prst="rect">
            <a:avLst/>
          </a:prstGeom>
          <a:noFill/>
          <a:ln w="38100">
            <a:solidFill>
              <a:srgbClr val="EDEFF3"/>
            </a:solidFill>
            <a:prstDash val="solid"/>
          </a:ln>
        </p:spPr>
      </p:sp>
      <p:sp>
        <p:nvSpPr>
          <p:cNvPr id="11" name="Text 7"/>
          <p:cNvSpPr/>
          <p:nvPr/>
        </p:nvSpPr>
        <p:spPr>
          <a:xfrm>
            <a:off x="2621593" y="5831880"/>
            <a:ext cx="7681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disgust</a:t>
            </a:r>
            <a:endParaRPr lang="en-US" sz="1200" dirty="0"/>
          </a:p>
        </p:txBody>
      </p:sp>
      <p:pic>
        <p:nvPicPr>
          <p:cNvPr id="12" name="Image 2" descr="Visage FER2013 de la classe fear, 48x48 pixels agrandi">    </p:cNvPr>
          <p:cNvPicPr>
            <a:picLocks noChangeAspect="1"/>
          </p:cNvPicPr>
          <p:nvPr/>
        </p:nvPicPr>
        <p:blipFill>
          <a:blip r:embed="rId3"/>
          <a:srcRect l="0" r="0" t="0" b="0"/>
          <a:stretch/>
        </p:blipFill>
        <p:spPr>
          <a:xfrm rot="21480000">
            <a:off x="3941217" y="4485680"/>
            <a:ext cx="1219200" cy="1219200"/>
          </a:xfrm>
          <a:prstGeom prst="rect">
            <a:avLst/>
          </a:prstGeom>
        </p:spPr>
      </p:pic>
      <p:sp>
        <p:nvSpPr>
          <p:cNvPr id="13" name="Shape 8"/>
          <p:cNvSpPr/>
          <p:nvPr/>
        </p:nvSpPr>
        <p:spPr>
          <a:xfrm rot="21480000">
            <a:off x="3922167" y="4466630"/>
            <a:ext cx="1257300" cy="1257300"/>
          </a:xfrm>
          <a:prstGeom prst="rect">
            <a:avLst/>
          </a:prstGeom>
          <a:noFill/>
          <a:ln w="38100">
            <a:solidFill>
              <a:srgbClr val="EDEFF3"/>
            </a:solidFill>
            <a:prstDash val="solid"/>
          </a:ln>
        </p:spPr>
      </p:sp>
      <p:sp>
        <p:nvSpPr>
          <p:cNvPr id="14" name="Text 9"/>
          <p:cNvSpPr/>
          <p:nvPr/>
        </p:nvSpPr>
        <p:spPr>
          <a:xfrm>
            <a:off x="4331330" y="5831880"/>
            <a:ext cx="43892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fear</a:t>
            </a:r>
            <a:endParaRPr lang="en-US" sz="1200" dirty="0"/>
          </a:p>
        </p:txBody>
      </p:sp>
      <p:pic>
        <p:nvPicPr>
          <p:cNvPr id="15" name="Image 3" descr="Visage FER2013 de la classe happy, 48x48 pixels agrandi">    </p:cNvPr>
          <p:cNvPicPr>
            <a:picLocks noChangeAspect="1"/>
          </p:cNvPicPr>
          <p:nvPr/>
        </p:nvPicPr>
        <p:blipFill>
          <a:blip r:embed="rId4"/>
          <a:srcRect l="0" r="0" t="0" b="0"/>
          <a:stretch/>
        </p:blipFill>
        <p:spPr>
          <a:xfrm rot="180000">
            <a:off x="5486400" y="4485680"/>
            <a:ext cx="1219200" cy="1219200"/>
          </a:xfrm>
          <a:prstGeom prst="rect">
            <a:avLst/>
          </a:prstGeom>
        </p:spPr>
      </p:pic>
      <p:sp>
        <p:nvSpPr>
          <p:cNvPr id="16" name="Shape 10"/>
          <p:cNvSpPr/>
          <p:nvPr/>
        </p:nvSpPr>
        <p:spPr>
          <a:xfrm rot="180000">
            <a:off x="5467350" y="4466630"/>
            <a:ext cx="1257300" cy="1257300"/>
          </a:xfrm>
          <a:prstGeom prst="rect">
            <a:avLst/>
          </a:prstGeom>
          <a:noFill/>
          <a:ln w="38100">
            <a:solidFill>
              <a:srgbClr val="EDEFF3"/>
            </a:solidFill>
            <a:prstDash val="solid"/>
          </a:ln>
        </p:spPr>
      </p:sp>
      <p:sp>
        <p:nvSpPr>
          <p:cNvPr id="17" name="Text 11"/>
          <p:cNvSpPr/>
          <p:nvPr/>
        </p:nvSpPr>
        <p:spPr>
          <a:xfrm>
            <a:off x="5821680" y="5831880"/>
            <a:ext cx="5486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happy</a:t>
            </a:r>
            <a:endParaRPr lang="en-US" sz="1200" dirty="0"/>
          </a:p>
        </p:txBody>
      </p:sp>
      <p:pic>
        <p:nvPicPr>
          <p:cNvPr id="18" name="Image 4" descr="Visage FER2013 de la classe neutral, 48x48 pixels agrandi">    </p:cNvPr>
          <p:cNvPicPr>
            <a:picLocks noChangeAspect="1"/>
          </p:cNvPicPr>
          <p:nvPr/>
        </p:nvPicPr>
        <p:blipFill>
          <a:blip r:embed="rId5"/>
          <a:srcRect l="0" r="0" t="0" b="0"/>
          <a:stretch/>
        </p:blipFill>
        <p:spPr>
          <a:xfrm rot="21480000">
            <a:off x="7031583" y="4485680"/>
            <a:ext cx="1219200" cy="1219200"/>
          </a:xfrm>
          <a:prstGeom prst="rect">
            <a:avLst/>
          </a:prstGeom>
        </p:spPr>
      </p:pic>
      <p:sp>
        <p:nvSpPr>
          <p:cNvPr id="19" name="Shape 12"/>
          <p:cNvSpPr/>
          <p:nvPr/>
        </p:nvSpPr>
        <p:spPr>
          <a:xfrm rot="21480000">
            <a:off x="7012533" y="4466630"/>
            <a:ext cx="1257300" cy="1257300"/>
          </a:xfrm>
          <a:prstGeom prst="rect">
            <a:avLst/>
          </a:prstGeom>
          <a:noFill/>
          <a:ln w="38100">
            <a:solidFill>
              <a:srgbClr val="EDEFF3"/>
            </a:solidFill>
            <a:prstDash val="solid"/>
          </a:ln>
        </p:spPr>
      </p:sp>
      <p:sp>
        <p:nvSpPr>
          <p:cNvPr id="20" name="Text 13"/>
          <p:cNvSpPr/>
          <p:nvPr/>
        </p:nvSpPr>
        <p:spPr>
          <a:xfrm>
            <a:off x="7257093" y="5831880"/>
            <a:ext cx="7681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neutral</a:t>
            </a:r>
            <a:endParaRPr lang="en-US" sz="1200" dirty="0"/>
          </a:p>
        </p:txBody>
      </p:sp>
      <p:pic>
        <p:nvPicPr>
          <p:cNvPr id="21" name="Image 5" descr="Visage FER2013 de la classe sad, 48x48 pixels agrandi">    </p:cNvPr>
          <p:cNvPicPr>
            <a:picLocks noChangeAspect="1"/>
          </p:cNvPicPr>
          <p:nvPr/>
        </p:nvPicPr>
        <p:blipFill>
          <a:blip r:embed="rId6"/>
          <a:srcRect l="0" r="0" t="0" b="0"/>
          <a:stretch/>
        </p:blipFill>
        <p:spPr>
          <a:xfrm rot="120000">
            <a:off x="8576717" y="4485680"/>
            <a:ext cx="1219200" cy="1219200"/>
          </a:xfrm>
          <a:prstGeom prst="rect">
            <a:avLst/>
          </a:prstGeom>
        </p:spPr>
      </p:pic>
      <p:sp>
        <p:nvSpPr>
          <p:cNvPr id="22" name="Shape 14"/>
          <p:cNvSpPr/>
          <p:nvPr/>
        </p:nvSpPr>
        <p:spPr>
          <a:xfrm rot="120000">
            <a:off x="8557667" y="4466630"/>
            <a:ext cx="1257300" cy="1257300"/>
          </a:xfrm>
          <a:prstGeom prst="rect">
            <a:avLst/>
          </a:prstGeom>
          <a:noFill/>
          <a:ln w="38100">
            <a:solidFill>
              <a:srgbClr val="EDEFF3"/>
            </a:solidFill>
            <a:prstDash val="solid"/>
          </a:ln>
        </p:spPr>
      </p:sp>
      <p:sp>
        <p:nvSpPr>
          <p:cNvPr id="23" name="Text 15"/>
          <p:cNvSpPr/>
          <p:nvPr/>
        </p:nvSpPr>
        <p:spPr>
          <a:xfrm>
            <a:off x="9021713" y="5831880"/>
            <a:ext cx="32920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sad</a:t>
            </a:r>
            <a:endParaRPr lang="en-US" sz="1200" dirty="0"/>
          </a:p>
        </p:txBody>
      </p:sp>
      <p:pic>
        <p:nvPicPr>
          <p:cNvPr id="24" name="Image 6" descr="Visage FER2013 de la classe surprise, 48x48 pixels agrandi">    </p:cNvPr>
          <p:cNvPicPr>
            <a:picLocks noChangeAspect="1"/>
          </p:cNvPicPr>
          <p:nvPr/>
        </p:nvPicPr>
        <p:blipFill>
          <a:blip r:embed="rId7"/>
          <a:srcRect l="0" r="0" t="0" b="0"/>
          <a:stretch/>
        </p:blipFill>
        <p:spPr>
          <a:xfrm rot="21420000">
            <a:off x="10121900" y="4485680"/>
            <a:ext cx="1219200" cy="1219200"/>
          </a:xfrm>
          <a:prstGeom prst="rect">
            <a:avLst/>
          </a:prstGeom>
        </p:spPr>
      </p:pic>
      <p:sp>
        <p:nvSpPr>
          <p:cNvPr id="25" name="Shape 16"/>
          <p:cNvSpPr/>
          <p:nvPr/>
        </p:nvSpPr>
        <p:spPr>
          <a:xfrm rot="21420000">
            <a:off x="10102850" y="4466630"/>
            <a:ext cx="1257300" cy="1257300"/>
          </a:xfrm>
          <a:prstGeom prst="rect">
            <a:avLst/>
          </a:prstGeom>
          <a:noFill/>
          <a:ln w="38100">
            <a:solidFill>
              <a:srgbClr val="EDEFF3"/>
            </a:solidFill>
            <a:prstDash val="solid"/>
          </a:ln>
        </p:spPr>
      </p:sp>
      <p:sp>
        <p:nvSpPr>
          <p:cNvPr id="26" name="Text 17"/>
          <p:cNvSpPr/>
          <p:nvPr/>
        </p:nvSpPr>
        <p:spPr>
          <a:xfrm>
            <a:off x="10292576" y="5831880"/>
            <a:ext cx="87784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surprise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1974304"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PARTIE 1 · DONNÉES</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DEFF3"/>
                </a:solidFill>
                <a:latin typeface="Space Grotesk" pitchFamily="34" charset="0"/>
                <a:ea typeface="Space Grotesk" pitchFamily="34" charset="-122"/>
                <a:cs typeface="Space Grotesk" pitchFamily="34" charset="-120"/>
              </a:rPr>
              <a:t>FER2013 : 35 887 visages, 7 classes déséquilibrées</a:t>
            </a:r>
            <a:endParaRPr lang="en-US" sz="2800" dirty="0"/>
          </a:p>
        </p:txBody>
      </p:sp>
      <p:sp>
        <p:nvSpPr>
          <p:cNvPr id="4" name="Shape 2"/>
          <p:cNvSpPr/>
          <p:nvPr/>
        </p:nvSpPr>
        <p:spPr>
          <a:xfrm>
            <a:off x="812800" y="1823641"/>
            <a:ext cx="2927350" cy="4013200"/>
          </a:xfrm>
          <a:prstGeom prst="roundRect">
            <a:avLst>
              <a:gd name="adj" fmla="val 2603"/>
            </a:avLst>
          </a:prstGeom>
          <a:solidFill>
            <a:srgbClr val="FFFFFF"/>
          </a:solidFill>
          <a:ln/>
        </p:spPr>
      </p:sp>
      <p:pic>
        <p:nvPicPr>
          <p:cNvPr id="5" name="Image 0" descr="Cinq images d'exemple pour chacune des 7 classes de FER2013">    </p:cNvPr>
          <p:cNvPicPr>
            <a:picLocks noChangeAspect="1"/>
          </p:cNvPicPr>
          <p:nvPr/>
        </p:nvPicPr>
        <p:blipFill>
          <a:blip r:embed="rId1"/>
          <a:srcRect l="-36" r="-36" t="0" b="0"/>
          <a:stretch/>
        </p:blipFill>
        <p:spPr>
          <a:xfrm>
            <a:off x="889000" y="1899841"/>
            <a:ext cx="2774950" cy="3860800"/>
          </a:xfrm>
          <a:prstGeom prst="rect">
            <a:avLst/>
          </a:prstGeom>
        </p:spPr>
      </p:pic>
      <p:sp>
        <p:nvSpPr>
          <p:cNvPr id="6" name="Shape 3"/>
          <p:cNvSpPr/>
          <p:nvPr/>
        </p:nvSpPr>
        <p:spPr>
          <a:xfrm>
            <a:off x="3994150" y="1823641"/>
            <a:ext cx="4216400" cy="2419350"/>
          </a:xfrm>
          <a:prstGeom prst="roundRect">
            <a:avLst>
              <a:gd name="adj" fmla="val 3150"/>
            </a:avLst>
          </a:prstGeom>
          <a:solidFill>
            <a:srgbClr val="FFFFFF"/>
          </a:solidFill>
          <a:ln/>
        </p:spPr>
      </p:sp>
      <p:pic>
        <p:nvPicPr>
          <p:cNvPr id="7" name="Image 1" descr="Graphique en barres du nombre d'images d'entraînement par classe">    </p:cNvPr>
          <p:cNvPicPr>
            <a:picLocks noChangeAspect="1"/>
          </p:cNvPicPr>
          <p:nvPr/>
        </p:nvPicPr>
        <p:blipFill>
          <a:blip r:embed="rId2"/>
          <a:srcRect l="0" r="0" t="-33" b="-33"/>
          <a:stretch/>
        </p:blipFill>
        <p:spPr>
          <a:xfrm>
            <a:off x="4070350" y="1899841"/>
            <a:ext cx="4064000" cy="2266950"/>
          </a:xfrm>
          <a:prstGeom prst="rect">
            <a:avLst/>
          </a:prstGeom>
        </p:spPr>
      </p:pic>
      <p:sp>
        <p:nvSpPr>
          <p:cNvPr id="8" name="Shape 4"/>
          <p:cNvSpPr/>
          <p:nvPr/>
        </p:nvSpPr>
        <p:spPr>
          <a:xfrm>
            <a:off x="8366125" y="1826816"/>
            <a:ext cx="3009900" cy="2089150"/>
          </a:xfrm>
          <a:prstGeom prst="roundRect">
            <a:avLst>
              <a:gd name="adj" fmla="val 3495"/>
            </a:avLst>
          </a:prstGeom>
          <a:solidFill>
            <a:srgbClr val="0B0D12"/>
          </a:solidFill>
          <a:ln w="6350">
            <a:solidFill>
              <a:srgbClr val="2C3340"/>
            </a:solidFill>
            <a:prstDash val="solid"/>
          </a:ln>
        </p:spPr>
      </p:sp>
      <p:sp>
        <p:nvSpPr>
          <p:cNvPr id="9" name="Text 5"/>
          <p:cNvSpPr/>
          <p:nvPr/>
        </p:nvSpPr>
        <p:spPr>
          <a:xfrm>
            <a:off x="8521700" y="1956991"/>
            <a:ext cx="2779713"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images vérifiées: 35874</a:t>
            </a:r>
            <a:endParaRPr lang="en-US" sz="1200" dirty="0"/>
          </a:p>
        </p:txBody>
      </p:sp>
      <p:sp>
        <p:nvSpPr>
          <p:cNvPr id="10" name="Text 6"/>
          <p:cNvSpPr/>
          <p:nvPr/>
        </p:nvSpPr>
        <p:spPr>
          <a:xfrm>
            <a:off x="8521700" y="2223691"/>
            <a:ext cx="2779713"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train: 22958</a:t>
            </a:r>
            <a:endParaRPr lang="en-US" sz="1200" dirty="0"/>
          </a:p>
        </p:txBody>
      </p:sp>
      <p:sp>
        <p:nvSpPr>
          <p:cNvPr id="11" name="Text 7"/>
          <p:cNvSpPr/>
          <p:nvPr/>
        </p:nvSpPr>
        <p:spPr>
          <a:xfrm>
            <a:off x="8521700" y="2490391"/>
            <a:ext cx="2779713"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val: 5739</a:t>
            </a:r>
            <a:endParaRPr lang="en-US" sz="1200" dirty="0"/>
          </a:p>
        </p:txBody>
      </p:sp>
      <p:sp>
        <p:nvSpPr>
          <p:cNvPr id="12" name="Text 8"/>
          <p:cNvSpPr/>
          <p:nvPr/>
        </p:nvSpPr>
        <p:spPr>
          <a:xfrm>
            <a:off x="8521700" y="2757091"/>
            <a:ext cx="2779713"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test: 7177</a:t>
            </a:r>
            <a:endParaRPr lang="en-US" sz="1200" dirty="0"/>
          </a:p>
        </p:txBody>
      </p:sp>
      <p:sp>
        <p:nvSpPr>
          <p:cNvPr id="13" name="Text 9"/>
          <p:cNvSpPr/>
          <p:nvPr/>
        </p:nvSpPr>
        <p:spPr>
          <a:xfrm>
            <a:off x="8521700" y="3023791"/>
            <a:ext cx="2779713"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tailles: (48, 48)</a:t>
            </a:r>
            <a:endParaRPr lang="en-US" sz="1200" dirty="0"/>
          </a:p>
        </p:txBody>
      </p:sp>
      <p:sp>
        <p:nvSpPr>
          <p:cNvPr id="14" name="Text 10"/>
          <p:cNvSpPr/>
          <p:nvPr/>
        </p:nvSpPr>
        <p:spPr>
          <a:xfrm>
            <a:off x="8521700" y="3290491"/>
            <a:ext cx="2779713"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modes: L, .jpg</a:t>
            </a:r>
            <a:endParaRPr lang="en-US" sz="1200" dirty="0"/>
          </a:p>
        </p:txBody>
      </p:sp>
      <p:sp>
        <p:nvSpPr>
          <p:cNvPr id="15" name="Text 11"/>
          <p:cNvSpPr/>
          <p:nvPr/>
        </p:nvSpPr>
        <p:spPr>
          <a:xfrm>
            <a:off x="8521700" y="3557191"/>
            <a:ext cx="2779713"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ratio max/min: 16.5</a:t>
            </a:r>
            <a:endParaRPr lang="en-US" sz="1200" dirty="0"/>
          </a:p>
        </p:txBody>
      </p:sp>
      <p:sp>
        <p:nvSpPr>
          <p:cNvPr id="16" name="Text 12"/>
          <p:cNvSpPr/>
          <p:nvPr/>
        </p:nvSpPr>
        <p:spPr>
          <a:xfrm>
            <a:off x="3994150" y="4395391"/>
            <a:ext cx="2430869" cy="9499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Source.</a:t>
            </a:r>
            <a:r>
              <a:rPr lang="en-US" sz="1300" dirty="0">
                <a:solidFill>
                  <a:srgbClr val="A3ABBA"/>
                </a:solidFill>
                <a:latin typeface="DM Sans" pitchFamily="34" charset="0"/>
                <a:ea typeface="DM Sans" pitchFamily="34" charset="-122"/>
                <a:cs typeface="DM Sans" pitchFamily="34" charset="-120"/>
              </a:rPr>
              <a:t> Kaggle msambare/fer2013, Carrier et Courville (ICML 2013), licence DbCL v1.0.</a:t>
            </a:r>
            <a:endParaRPr lang="en-US" sz="1300" dirty="0"/>
          </a:p>
        </p:txBody>
      </p:sp>
      <p:sp>
        <p:nvSpPr>
          <p:cNvPr id="17" name="Text 13"/>
          <p:cNvSpPr/>
          <p:nvPr/>
        </p:nvSpPr>
        <p:spPr>
          <a:xfrm>
            <a:off x="6506617" y="4395391"/>
            <a:ext cx="2430869" cy="9499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Déséquilibre.</a:t>
            </a:r>
            <a:r>
              <a:rPr lang="en-US" sz="1300" dirty="0">
                <a:solidFill>
                  <a:srgbClr val="A3ABBA"/>
                </a:solidFill>
                <a:latin typeface="DM Sans" pitchFamily="34" charset="0"/>
                <a:ea typeface="DM Sans" pitchFamily="34" charset="-122"/>
                <a:cs typeface="DM Sans" pitchFamily="34" charset="-120"/>
              </a:rPr>
              <a:t> 436 images disgust contre 7 214 happy. 13 images vides retirées.</a:t>
            </a:r>
            <a:endParaRPr lang="en-US" sz="1300" dirty="0"/>
          </a:p>
        </p:txBody>
      </p:sp>
      <p:sp>
        <p:nvSpPr>
          <p:cNvPr id="18" name="Text 14"/>
          <p:cNvSpPr/>
          <p:nvPr/>
        </p:nvSpPr>
        <p:spPr>
          <a:xfrm>
            <a:off x="9019084" y="4395391"/>
            <a:ext cx="2430869" cy="9499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Préparation.</a:t>
            </a:r>
            <a:r>
              <a:rPr lang="en-US" sz="1300" dirty="0">
                <a:solidFill>
                  <a:srgbClr val="A3ABBA"/>
                </a:solidFill>
                <a:latin typeface="DM Sans" pitchFamily="34" charset="0"/>
                <a:ea typeface="DM Sans" pitchFamily="34" charset="-122"/>
                <a:cs typeface="DM Sans" pitchFamily="34" charset="-120"/>
              </a:rPr>
              <a:t> Pixels divisés par 255, labels en one-hot, 20% du train pour la validation.</a:t>
            </a:r>
            <a:endParaRPr lang="en-US" sz="1300" dirty="0"/>
          </a:p>
        </p:txBody>
      </p:sp>
      <p:sp>
        <p:nvSpPr>
          <p:cNvPr id="19"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Sorties de l'étape 0 et des cellules 1a, 1b et 1c du notebook</a:t>
            </a:r>
            <a:endParaRPr lang="en-US" sz="1200" dirty="0"/>
          </a:p>
        </p:txBody>
      </p:sp>
      <p:sp>
        <p:nvSpPr>
          <p:cNvPr id="20"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Space Grotesk" pitchFamily="34" charset="0"/>
                <a:ea typeface="Space Grotesk" pitchFamily="34" charset="-122"/>
                <a:cs typeface="Space Grotesk"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2645966"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PARTIE 2 · BASELINE DENSE</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DEFF3"/>
                </a:solidFill>
                <a:latin typeface="Space Grotesk" pitchFamily="34" charset="0"/>
                <a:ea typeface="Space Grotesk" pitchFamily="34" charset="-122"/>
                <a:cs typeface="Space Grotesk" pitchFamily="34" charset="-120"/>
              </a:rPr>
              <a:t>Un réseau dense reste sous 35% en validation</a:t>
            </a:r>
            <a:endParaRPr lang="en-US" sz="2800" dirty="0"/>
          </a:p>
        </p:txBody>
      </p:sp>
      <p:sp>
        <p:nvSpPr>
          <p:cNvPr id="4" name="Shape 2"/>
          <p:cNvSpPr/>
          <p:nvPr/>
        </p:nvSpPr>
        <p:spPr>
          <a:xfrm>
            <a:off x="812800" y="1823641"/>
            <a:ext cx="6375400" cy="2736850"/>
          </a:xfrm>
          <a:prstGeom prst="roundRect">
            <a:avLst>
              <a:gd name="adj" fmla="val 2784"/>
            </a:avLst>
          </a:prstGeom>
          <a:solidFill>
            <a:srgbClr val="FFFFFF"/>
          </a:solidFill>
          <a:ln/>
        </p:spPr>
      </p:sp>
      <p:pic>
        <p:nvPicPr>
          <p:cNvPr id="5" name="Image 0" descr="Courbes de loss et d'accuracy de la baseline dense, train et validation, sur 20 époques">    </p:cNvPr>
          <p:cNvPicPr>
            <a:picLocks noChangeAspect="1"/>
          </p:cNvPicPr>
          <p:nvPr/>
        </p:nvPicPr>
        <p:blipFill>
          <a:blip r:embed="rId1"/>
          <a:srcRect l="0" r="0" t="-19" b="-19"/>
          <a:stretch/>
        </p:blipFill>
        <p:spPr>
          <a:xfrm>
            <a:off x="889000" y="1899841"/>
            <a:ext cx="6223000" cy="2584450"/>
          </a:xfrm>
          <a:prstGeom prst="rect">
            <a:avLst/>
          </a:prstGeom>
        </p:spPr>
      </p:pic>
      <p:sp>
        <p:nvSpPr>
          <p:cNvPr id="6" name="Shape 3"/>
          <p:cNvSpPr/>
          <p:nvPr/>
        </p:nvSpPr>
        <p:spPr>
          <a:xfrm>
            <a:off x="815975" y="4716066"/>
            <a:ext cx="6597650" cy="488950"/>
          </a:xfrm>
          <a:prstGeom prst="roundRect">
            <a:avLst>
              <a:gd name="adj" fmla="val 14935"/>
            </a:avLst>
          </a:prstGeom>
          <a:solidFill>
            <a:srgbClr val="0B0D12"/>
          </a:solidFill>
          <a:ln w="6350">
            <a:solidFill>
              <a:srgbClr val="2C3340"/>
            </a:solidFill>
            <a:prstDash val="solid"/>
          </a:ln>
        </p:spPr>
      </p:sp>
      <p:sp>
        <p:nvSpPr>
          <p:cNvPr id="7" name="Text 4"/>
          <p:cNvSpPr/>
          <p:nvPr/>
        </p:nvSpPr>
        <p:spPr>
          <a:xfrm>
            <a:off x="971550" y="4846241"/>
            <a:ext cx="277748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5B841"/>
                </a:solidFill>
                <a:latin typeface="JetBrains Mono" pitchFamily="49" charset="0"/>
                <a:ea typeface="JetBrains Mono" pitchFamily="49" charset="-122"/>
                <a:cs typeface="JetBrains Mono" pitchFamily="49" charset="-120"/>
              </a:rPr>
              <a:t>accuracy val baseline: 34.7 %</a:t>
            </a:r>
            <a:endParaRPr lang="en-US" sz="1200" dirty="0"/>
          </a:p>
        </p:txBody>
      </p:sp>
      <p:sp>
        <p:nvSpPr>
          <p:cNvPr id="8" name="Text 5"/>
          <p:cNvSpPr/>
          <p:nvPr/>
        </p:nvSpPr>
        <p:spPr>
          <a:xfrm>
            <a:off x="3749030" y="4846241"/>
            <a:ext cx="134278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hasard: 14.3 %</a:t>
            </a:r>
            <a:endParaRPr lang="en-US" sz="1200" dirty="0"/>
          </a:p>
        </p:txBody>
      </p:sp>
      <p:sp>
        <p:nvSpPr>
          <p:cNvPr id="9" name="Text 6"/>
          <p:cNvSpPr/>
          <p:nvPr/>
        </p:nvSpPr>
        <p:spPr>
          <a:xfrm>
            <a:off x="5091816" y="4846241"/>
            <a:ext cx="2166234"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toujours happy : 24.4 %</a:t>
            </a:r>
            <a:endParaRPr lang="en-US" sz="1200" dirty="0"/>
          </a:p>
        </p:txBody>
      </p:sp>
      <p:sp>
        <p:nvSpPr>
          <p:cNvPr id="10" name="Text 7"/>
          <p:cNvSpPr/>
          <p:nvPr/>
        </p:nvSpPr>
        <p:spPr>
          <a:xfrm>
            <a:off x="7670800" y="1823641"/>
            <a:ext cx="381965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Architecture</a:t>
            </a:r>
            <a:endParaRPr lang="en-US" sz="1400" dirty="0"/>
          </a:p>
        </p:txBody>
      </p:sp>
      <p:sp>
        <p:nvSpPr>
          <p:cNvPr id="11" name="Text 8"/>
          <p:cNvSpPr/>
          <p:nvPr/>
        </p:nvSpPr>
        <p:spPr>
          <a:xfrm>
            <a:off x="7670800" y="2163961"/>
            <a:ext cx="381965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DEFF3"/>
                </a:solidFill>
                <a:latin typeface="DM Sans" pitchFamily="34" charset="0"/>
                <a:ea typeface="DM Sans" pitchFamily="34" charset="-122"/>
                <a:cs typeface="DM Sans" pitchFamily="34" charset="-120"/>
              </a:rPr>
              <a:t>Flatten (2304 valeurs), Dense 128 + ReLU, Dense 7 + softmax. 295 943 paramètres, Adam, 20 époques fixes.</a:t>
            </a:r>
            <a:endParaRPr lang="en-US" sz="1300" dirty="0"/>
          </a:p>
        </p:txBody>
      </p:sp>
      <p:sp>
        <p:nvSpPr>
          <p:cNvPr id="12" name="Text 9"/>
          <p:cNvSpPr/>
          <p:nvPr/>
        </p:nvSpPr>
        <p:spPr>
          <a:xfrm>
            <a:off x="7670800" y="2984351"/>
            <a:ext cx="381965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Sortie pour une image</a:t>
            </a:r>
            <a:endParaRPr lang="en-US" sz="1400" dirty="0"/>
          </a:p>
        </p:txBody>
      </p:sp>
      <p:sp>
        <p:nvSpPr>
          <p:cNvPr id="13" name="Shape 10"/>
          <p:cNvSpPr/>
          <p:nvPr/>
        </p:nvSpPr>
        <p:spPr>
          <a:xfrm>
            <a:off x="7670800" y="3324671"/>
            <a:ext cx="1104900" cy="1206500"/>
          </a:xfrm>
          <a:prstGeom prst="roundRect">
            <a:avLst>
              <a:gd name="adj" fmla="val 6897"/>
            </a:avLst>
          </a:prstGeom>
          <a:solidFill>
            <a:srgbClr val="FFFFFF"/>
          </a:solidFill>
          <a:ln/>
        </p:spPr>
      </p:sp>
      <p:pic>
        <p:nvPicPr>
          <p:cNvPr id="14" name="Image 1" descr="Image de validation de la classe neutral donnée à la baseline">    </p:cNvPr>
          <p:cNvPicPr>
            <a:picLocks noChangeAspect="1"/>
          </p:cNvPicPr>
          <p:nvPr/>
        </p:nvPicPr>
        <p:blipFill>
          <a:blip r:embed="rId2"/>
          <a:srcRect l="0" r="0" t="-131" b="-131"/>
          <a:stretch/>
        </p:blipFill>
        <p:spPr>
          <a:xfrm>
            <a:off x="7747000" y="3400871"/>
            <a:ext cx="952500" cy="1054100"/>
          </a:xfrm>
          <a:prstGeom prst="rect">
            <a:avLst/>
          </a:prstGeom>
        </p:spPr>
      </p:pic>
      <p:sp>
        <p:nvSpPr>
          <p:cNvPr id="15" name="Shape 11"/>
          <p:cNvSpPr/>
          <p:nvPr/>
        </p:nvSpPr>
        <p:spPr>
          <a:xfrm>
            <a:off x="8931275" y="3327846"/>
            <a:ext cx="2444750" cy="2281833"/>
          </a:xfrm>
          <a:prstGeom prst="roundRect">
            <a:avLst>
              <a:gd name="adj" fmla="val 3200"/>
            </a:avLst>
          </a:prstGeom>
          <a:solidFill>
            <a:srgbClr val="0B0D12"/>
          </a:solidFill>
          <a:ln w="6350">
            <a:solidFill>
              <a:srgbClr val="2C3340"/>
            </a:solidFill>
            <a:prstDash val="solid"/>
          </a:ln>
        </p:spPr>
      </p:sp>
      <p:sp>
        <p:nvSpPr>
          <p:cNvPr id="16" name="Text 12"/>
          <p:cNvSpPr/>
          <p:nvPr/>
        </p:nvSpPr>
        <p:spPr>
          <a:xfrm>
            <a:off x="9086850" y="3458021"/>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angry 0.02</a:t>
            </a:r>
            <a:endParaRPr lang="en-US" sz="1200" dirty="0"/>
          </a:p>
        </p:txBody>
      </p:sp>
      <p:sp>
        <p:nvSpPr>
          <p:cNvPr id="17" name="Text 13"/>
          <p:cNvSpPr/>
          <p:nvPr/>
        </p:nvSpPr>
        <p:spPr>
          <a:xfrm>
            <a:off x="9086850" y="3684042"/>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disgust 0.0</a:t>
            </a:r>
            <a:endParaRPr lang="en-US" sz="1200" dirty="0"/>
          </a:p>
        </p:txBody>
      </p:sp>
      <p:sp>
        <p:nvSpPr>
          <p:cNvPr id="18" name="Text 14"/>
          <p:cNvSpPr/>
          <p:nvPr/>
        </p:nvSpPr>
        <p:spPr>
          <a:xfrm>
            <a:off x="9086850" y="3910062"/>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fear 0.03</a:t>
            </a:r>
            <a:endParaRPr lang="en-US" sz="1200" dirty="0"/>
          </a:p>
        </p:txBody>
      </p:sp>
      <p:sp>
        <p:nvSpPr>
          <p:cNvPr id="19" name="Text 15"/>
          <p:cNvSpPr/>
          <p:nvPr/>
        </p:nvSpPr>
        <p:spPr>
          <a:xfrm>
            <a:off x="9086850" y="4136082"/>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happy 0.26</a:t>
            </a:r>
            <a:endParaRPr lang="en-US" sz="1200" dirty="0"/>
          </a:p>
        </p:txBody>
      </p:sp>
      <p:sp>
        <p:nvSpPr>
          <p:cNvPr id="20" name="Text 16"/>
          <p:cNvSpPr/>
          <p:nvPr/>
        </p:nvSpPr>
        <p:spPr>
          <a:xfrm>
            <a:off x="9086850" y="4362103"/>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neutral 0.65</a:t>
            </a:r>
            <a:endParaRPr lang="en-US" sz="1200" dirty="0"/>
          </a:p>
        </p:txBody>
      </p:sp>
      <p:sp>
        <p:nvSpPr>
          <p:cNvPr id="21" name="Text 17"/>
          <p:cNvSpPr/>
          <p:nvPr/>
        </p:nvSpPr>
        <p:spPr>
          <a:xfrm>
            <a:off x="9086850" y="4588123"/>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sad 0.03</a:t>
            </a:r>
            <a:endParaRPr lang="en-US" sz="1200" dirty="0"/>
          </a:p>
        </p:txBody>
      </p:sp>
      <p:sp>
        <p:nvSpPr>
          <p:cNvPr id="22" name="Text 18"/>
          <p:cNvSpPr/>
          <p:nvPr/>
        </p:nvSpPr>
        <p:spPr>
          <a:xfrm>
            <a:off x="9086850" y="4814143"/>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surprise 0.01</a:t>
            </a:r>
            <a:endParaRPr lang="en-US" sz="1200" dirty="0"/>
          </a:p>
        </p:txBody>
      </p:sp>
      <p:sp>
        <p:nvSpPr>
          <p:cNvPr id="23" name="Text 19"/>
          <p:cNvSpPr/>
          <p:nvPr/>
        </p:nvSpPr>
        <p:spPr>
          <a:xfrm>
            <a:off x="9086850" y="5040164"/>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prédit: neutral</a:t>
            </a:r>
            <a:endParaRPr lang="en-US" sz="1200" dirty="0"/>
          </a:p>
        </p:txBody>
      </p:sp>
      <p:sp>
        <p:nvSpPr>
          <p:cNvPr id="24" name="Text 20"/>
          <p:cNvSpPr/>
          <p:nvPr/>
        </p:nvSpPr>
        <p:spPr>
          <a:xfrm>
            <a:off x="9086850" y="5266184"/>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vrai: neutral</a:t>
            </a:r>
            <a:endParaRPr lang="en-US" sz="1200" dirty="0"/>
          </a:p>
        </p:txBody>
      </p:sp>
      <p:sp>
        <p:nvSpPr>
          <p:cNvPr id="25" name="Text 2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Après Flatten le réseau ne sait plus quels pixels sont voisins. Sorties des cellules 2c et 2d.</a:t>
            </a:r>
            <a:endParaRPr lang="en-US" sz="1200" dirty="0"/>
          </a:p>
        </p:txBody>
      </p:sp>
      <p:sp>
        <p:nvSpPr>
          <p:cNvPr id="26"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Space Grotesk" pitchFamily="34" charset="0"/>
                <a:ea typeface="Space Grotesk" pitchFamily="34" charset="-122"/>
                <a:cs typeface="Space Grotesk"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1554311"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PARTIE 3 · CNN</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DEFF3"/>
                </a:solidFill>
                <a:latin typeface="Space Grotesk" pitchFamily="34" charset="0"/>
                <a:ea typeface="Space Grotesk" pitchFamily="34" charset="-122"/>
                <a:cs typeface="Space Grotesk" pitchFamily="34" charset="-120"/>
              </a:rPr>
              <a:t>Deux blocs convolution + pooling, 64 135 paramètres</a:t>
            </a:r>
            <a:endParaRPr lang="en-US" sz="2800" dirty="0"/>
          </a:p>
        </p:txBody>
      </p:sp>
      <p:sp>
        <p:nvSpPr>
          <p:cNvPr id="4" name="Shape 2"/>
          <p:cNvSpPr/>
          <p:nvPr/>
        </p:nvSpPr>
        <p:spPr>
          <a:xfrm>
            <a:off x="815975" y="1826816"/>
            <a:ext cx="6597650" cy="3180854"/>
          </a:xfrm>
          <a:prstGeom prst="roundRect">
            <a:avLst>
              <a:gd name="adj" fmla="val 2296"/>
            </a:avLst>
          </a:prstGeom>
          <a:solidFill>
            <a:srgbClr val="0B0D12"/>
          </a:solidFill>
          <a:ln w="6350">
            <a:solidFill>
              <a:srgbClr val="2C3340"/>
            </a:solidFill>
            <a:prstDash val="solid"/>
          </a:ln>
        </p:spPr>
      </p:sp>
      <p:sp>
        <p:nvSpPr>
          <p:cNvPr id="5" name="Text 3"/>
          <p:cNvSpPr/>
          <p:nvPr/>
        </p:nvSpPr>
        <p:spPr>
          <a:xfrm>
            <a:off x="971550" y="1956991"/>
            <a:ext cx="64750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Model: "cnn_base"</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84250" y="2259211"/>
          <a:ext cx="6273800" cy="2328763"/>
        </p:xfrm>
        <a:graphic>
          <a:graphicData uri="http://schemas.openxmlformats.org/drawingml/2006/table">
            <a:tbl>
              <a:tblPr/>
              <a:tblGrid>
                <a:gridCol w="3136900"/>
                <a:gridCol w="1882140"/>
                <a:gridCol w="1254760"/>
              </a:tblGrid>
              <a:tr h="332680">
                <a:tc>
                  <a:txBody>
                    <a:bodyPr/>
                    <a:lstStyle/>
                    <a:p>
                      <a:pPr indent="0" marL="0">
                        <a:lnSpc>
                          <a:spcPts val="1680"/>
                        </a:lnSpc>
                        <a:buNone/>
                      </a:pPr>
                      <a:r>
                        <a:rPr lang="en-US" sz="1200" b="1" dirty="0">
                          <a:solidFill>
                            <a:srgbClr val="D7DCE5"/>
                          </a:solidFill>
                          <a:latin typeface="JetBrains Mono" pitchFamily="49" charset="0"/>
                          <a:ea typeface="JetBrains Mono" pitchFamily="49" charset="-122"/>
                          <a:cs typeface="JetBrains Mono" pitchFamily="49" charset="-120"/>
                        </a:rPr>
                        <a:t>Layer (type)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E5052"/>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E5052"/>
                      </a:solidFill>
                      <a:prstDash val="solid"/>
                      <a:round/>
                      <a:headEnd type="none" w="med" len="med"/>
                      <a:tailEnd type="none" w="med" len="med"/>
                    </a:lnB>
                    <a:solidFill>
                      <a:srgbClr val="1E2024"/>
                    </a:solidFill>
                  </a:tcPr>
                </a:tc>
                <a:tc>
                  <a:txBody>
                    <a:bodyPr/>
                    <a:lstStyle/>
                    <a:p>
                      <a:pPr indent="0" marL="0">
                        <a:lnSpc>
                          <a:spcPts val="1680"/>
                        </a:lnSpc>
                        <a:buNone/>
                      </a:pPr>
                      <a:r>
                        <a:rPr lang="en-US" sz="1200" b="1" dirty="0">
                          <a:solidFill>
                            <a:srgbClr val="D7DCE5"/>
                          </a:solidFill>
                          <a:latin typeface="JetBrains Mono" pitchFamily="49" charset="0"/>
                          <a:ea typeface="JetBrains Mono" pitchFamily="49" charset="-122"/>
                          <a:cs typeface="JetBrains Mono" pitchFamily="49" charset="-120"/>
                        </a:rPr>
                        <a:t>Output Shape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E5052"/>
                      </a:solidFill>
                      <a:prstDash val="solid"/>
                      <a:round/>
                      <a:headEnd type="none" w="med" len="med"/>
                      <a:tailEnd type="none" w="med" len="med"/>
                    </a:lnL>
                    <a:lnR w="12700" cap="flat" cmpd="sng" algn="ctr">
                      <a:solidFill>
                        <a:srgbClr val="4E5052"/>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E5052"/>
                      </a:solidFill>
                      <a:prstDash val="solid"/>
                      <a:round/>
                      <a:headEnd type="none" w="med" len="med"/>
                      <a:tailEnd type="none" w="med" len="med"/>
                    </a:lnB>
                    <a:solidFill>
                      <a:srgbClr val="1E2024"/>
                    </a:solidFill>
                  </a:tcPr>
                </a:tc>
                <a:tc>
                  <a:txBody>
                    <a:bodyPr/>
                    <a:lstStyle/>
                    <a:p>
                      <a:pPr algn="r" indent="0" marL="0">
                        <a:lnSpc>
                          <a:spcPts val="1680"/>
                        </a:lnSpc>
                        <a:buNone/>
                      </a:pPr>
                      <a:r>
                        <a:rPr lang="en-US" sz="1200" b="1" dirty="0">
                          <a:solidFill>
                            <a:srgbClr val="D7DCE5"/>
                          </a:solidFill>
                          <a:latin typeface="JetBrains Mono" pitchFamily="49" charset="0"/>
                          <a:ea typeface="JetBrains Mono" pitchFamily="49" charset="-122"/>
                          <a:cs typeface="JetBrains Mono" pitchFamily="49" charset="-120"/>
                        </a:rPr>
                        <a:t>Param #</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E5052"/>
                      </a:solidFill>
                      <a:prstDash val="solid"/>
                      <a:round/>
                      <a:headEnd type="none" w="med" len="med"/>
                      <a:tailEnd type="none" w="med" len="med"/>
                    </a:lnL>
                    <a:lnR w="12700" cap="flat" cmpd="sng" algn="ctr">
                      <a:solidFill>
                        <a:srgbClr val="4E5052"/>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E5052"/>
                      </a:solidFill>
                      <a:prstDash val="solid"/>
                      <a:round/>
                      <a:headEnd type="none" w="med" len="med"/>
                      <a:tailEnd type="none" w="med" len="med"/>
                    </a:lnB>
                    <a:solidFill>
                      <a:srgbClr val="1E2024"/>
                    </a:solidFill>
                  </a:tcPr>
                </a:tc>
              </a:tr>
              <a:tr h="332680">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conv2d (Conv2D)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E5052"/>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(None, 44, 44, 32)</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E5052"/>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algn="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832</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E5052"/>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r>
              <a:tr h="332680">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max_pooling2d (MaxPooling2D)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(None, 22, 22, 32)</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algn="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r>
              <a:tr h="332680">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conv2d_1 (Conv2D)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(None, 20, 20, 64)</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algn="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18,496</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r>
              <a:tr h="332680">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max_pooling2d_1 (MaxPooling2D)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(None, 10, 10, 64)</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algn="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r>
              <a:tr h="332680">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flatten (Flatten)</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(None, 6400)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algn="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r>
              <a:tr h="332680">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dense (Dense)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(None, 7)</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algn="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44,807</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r>
            </a:tbl>
          </a:graphicData>
        </a:graphic>
      </p:graphicFrame>
      <p:sp>
        <p:nvSpPr>
          <p:cNvPr id="7" name="Text 4"/>
          <p:cNvSpPr/>
          <p:nvPr/>
        </p:nvSpPr>
        <p:spPr>
          <a:xfrm>
            <a:off x="971550" y="4664174"/>
            <a:ext cx="64750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Total params: 64,135 (250.53 KB)</a:t>
            </a:r>
            <a:endParaRPr lang="en-US" sz="1200" dirty="0"/>
          </a:p>
        </p:txBody>
      </p:sp>
      <p:sp>
        <p:nvSpPr>
          <p:cNvPr id="8" name="Text 5"/>
          <p:cNvSpPr/>
          <p:nvPr/>
        </p:nvSpPr>
        <p:spPr>
          <a:xfrm>
            <a:off x="7670800" y="1823641"/>
            <a:ext cx="3819652"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Filtres 5x5 puis 3x3.</a:t>
            </a:r>
            <a:r>
              <a:rPr lang="en-US" sz="1300" dirty="0">
                <a:solidFill>
                  <a:srgbClr val="A3ABBA"/>
                </a:solidFill>
                <a:latin typeface="DM Sans" pitchFamily="34" charset="0"/>
                <a:ea typeface="DM Sans" pitchFamily="34" charset="-122"/>
                <a:cs typeface="DM Sans" pitchFamily="34" charset="-120"/>
              </a:rPr>
              <a:t> Ils détectent des petits motifs partout dans l'image, avec les mêmes poids.</a:t>
            </a:r>
            <a:endParaRPr lang="en-US" sz="1300" dirty="0"/>
          </a:p>
        </p:txBody>
      </p:sp>
      <p:sp>
        <p:nvSpPr>
          <p:cNvPr id="9" name="Text 6"/>
          <p:cNvSpPr/>
          <p:nvPr/>
        </p:nvSpPr>
        <p:spPr>
          <a:xfrm>
            <a:off x="7670800" y="2669431"/>
            <a:ext cx="3819652"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48 - 5 + 1 = 44.</a:t>
            </a:r>
            <a:r>
              <a:rPr lang="en-US" sz="1300" dirty="0">
                <a:solidFill>
                  <a:srgbClr val="A3ABBA"/>
                </a:solidFill>
                <a:latin typeface="DM Sans" pitchFamily="34" charset="0"/>
                <a:ea typeface="DM Sans" pitchFamily="34" charset="-122"/>
                <a:cs typeface="DM Sans" pitchFamily="34" charset="-120"/>
              </a:rPr>
              <a:t> Stride 1, padding valid : la sortie rétrécit à chaque convolution.</a:t>
            </a:r>
            <a:endParaRPr lang="en-US" sz="1300" dirty="0"/>
          </a:p>
        </p:txBody>
      </p:sp>
      <p:sp>
        <p:nvSpPr>
          <p:cNvPr id="10" name="Text 7"/>
          <p:cNvSpPr/>
          <p:nvPr/>
        </p:nvSpPr>
        <p:spPr>
          <a:xfrm>
            <a:off x="7670800" y="3284091"/>
            <a:ext cx="3819652"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MaxPooling 2x2.</a:t>
            </a:r>
            <a:r>
              <a:rPr lang="en-US" sz="1300" dirty="0">
                <a:solidFill>
                  <a:srgbClr val="A3ABBA"/>
                </a:solidFill>
                <a:latin typeface="DM Sans" pitchFamily="34" charset="0"/>
                <a:ea typeface="DM Sans" pitchFamily="34" charset="-122"/>
                <a:cs typeface="DM Sans" pitchFamily="34" charset="-120"/>
              </a:rPr>
              <a:t> Divise la taille par 2 et rend le modèle moins sensible aux décalages.</a:t>
            </a:r>
            <a:endParaRPr lang="en-US" sz="1300" dirty="0"/>
          </a:p>
        </p:txBody>
      </p:sp>
      <p:sp>
        <p:nvSpPr>
          <p:cNvPr id="11" name="Text 8"/>
          <p:cNvSpPr/>
          <p:nvPr/>
        </p:nvSpPr>
        <p:spPr>
          <a:xfrm>
            <a:off x="7670800" y="3898751"/>
            <a:ext cx="3819652"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4,6 fois moins</a:t>
            </a:r>
            <a:r>
              <a:rPr lang="en-US" sz="1300" dirty="0">
                <a:solidFill>
                  <a:srgbClr val="A3ABBA"/>
                </a:solidFill>
                <a:latin typeface="DM Sans" pitchFamily="34" charset="0"/>
                <a:ea typeface="DM Sans" pitchFamily="34" charset="-122"/>
                <a:cs typeface="DM Sans" pitchFamily="34" charset="-120"/>
              </a:rPr>
              <a:t> de paramètres que la baseline (295 943).</a:t>
            </a:r>
            <a:endParaRPr lang="en-US" sz="1300" dirty="0"/>
          </a:p>
        </p:txBody>
      </p:sp>
      <p:sp>
        <p:nvSpPr>
          <p:cNvPr id="12" name="Text 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Sortie de cnn.summary(), cellule 3a. Les numéros ajoutés par Keras aux noms de couches sont retirés.</a:t>
            </a:r>
            <a:endParaRPr lang="en-US" sz="1200" dirty="0"/>
          </a:p>
        </p:txBody>
      </p:sp>
      <p:sp>
        <p:nvSpPr>
          <p:cNvPr id="13"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Space Grotesk" pitchFamily="34" charset="0"/>
                <a:ea typeface="Space Grotesk" pitchFamily="34" charset="-122"/>
                <a:cs typeface="Space Grotesk"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2534096"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PARTIE 4 · ENTRAÎNEMENT</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DEFF3"/>
                </a:solidFill>
                <a:latin typeface="Space Grotesk" pitchFamily="34" charset="0"/>
                <a:ea typeface="Space Grotesk" pitchFamily="34" charset="-122"/>
                <a:cs typeface="Space Grotesk" pitchFamily="34" charset="-120"/>
              </a:rPr>
              <a:t>Le CNN atteint 51.7%, puis surapprend après l'époque 10</a:t>
            </a:r>
            <a:endParaRPr lang="en-US" sz="2800" dirty="0"/>
          </a:p>
        </p:txBody>
      </p:sp>
      <p:sp>
        <p:nvSpPr>
          <p:cNvPr id="4" name="Shape 2"/>
          <p:cNvSpPr/>
          <p:nvPr/>
        </p:nvSpPr>
        <p:spPr>
          <a:xfrm>
            <a:off x="812800" y="1823641"/>
            <a:ext cx="6375400" cy="2762250"/>
          </a:xfrm>
          <a:prstGeom prst="roundRect">
            <a:avLst>
              <a:gd name="adj" fmla="val 2759"/>
            </a:avLst>
          </a:prstGeom>
          <a:solidFill>
            <a:srgbClr val="FFFFFF"/>
          </a:solidFill>
          <a:ln/>
        </p:spPr>
      </p:sp>
      <p:pic>
        <p:nvPicPr>
          <p:cNvPr id="5" name="Image 0" descr="Courbes de loss et d'accuracy du CNN de base, train et validation, avec la meilleure époque (10) en pointillés">    </p:cNvPr>
          <p:cNvPicPr>
            <a:picLocks noChangeAspect="1"/>
          </p:cNvPicPr>
          <p:nvPr/>
        </p:nvPicPr>
        <p:blipFill>
          <a:blip r:embed="rId1"/>
          <a:srcRect l="0" r="0" t="-51" b="-51"/>
          <a:stretch/>
        </p:blipFill>
        <p:spPr>
          <a:xfrm>
            <a:off x="889000" y="1899841"/>
            <a:ext cx="6223000" cy="2609850"/>
          </a:xfrm>
          <a:prstGeom prst="rect">
            <a:avLst/>
          </a:prstGeom>
        </p:spPr>
      </p:pic>
      <p:sp>
        <p:nvSpPr>
          <p:cNvPr id="6" name="Shape 3"/>
          <p:cNvSpPr/>
          <p:nvPr/>
        </p:nvSpPr>
        <p:spPr>
          <a:xfrm>
            <a:off x="815975" y="4741466"/>
            <a:ext cx="6597650" cy="925711"/>
          </a:xfrm>
          <a:prstGeom prst="roundRect">
            <a:avLst>
              <a:gd name="adj" fmla="val 7889"/>
            </a:avLst>
          </a:prstGeom>
          <a:solidFill>
            <a:srgbClr val="0B0D12"/>
          </a:solidFill>
          <a:ln w="6350">
            <a:solidFill>
              <a:srgbClr val="2C3340"/>
            </a:solidFill>
            <a:prstDash val="solid"/>
          </a:ln>
        </p:spPr>
      </p:sp>
      <p:sp>
        <p:nvSpPr>
          <p:cNvPr id="7" name="Text 4"/>
          <p:cNvSpPr/>
          <p:nvPr/>
        </p:nvSpPr>
        <p:spPr>
          <a:xfrm>
            <a:off x="971550" y="4846241"/>
            <a:ext cx="64750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époques faites: 16 / meilleure: 10</a:t>
            </a:r>
            <a:endParaRPr lang="en-US" sz="1200" dirty="0"/>
          </a:p>
        </p:txBody>
      </p:sp>
      <p:sp>
        <p:nvSpPr>
          <p:cNvPr id="8" name="Text 5"/>
          <p:cNvSpPr/>
          <p:nvPr/>
        </p:nvSpPr>
        <p:spPr>
          <a:xfrm>
            <a:off x="971550" y="5097661"/>
            <a:ext cx="64750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meilleure époque: acc train 58.6 acc val 51.7 val_loss 1.319</a:t>
            </a:r>
            <a:endParaRPr lang="en-US" sz="1200" dirty="0"/>
          </a:p>
        </p:txBody>
      </p:sp>
      <p:sp>
        <p:nvSpPr>
          <p:cNvPr id="9" name="Text 6"/>
          <p:cNvSpPr/>
          <p:nvPr/>
        </p:nvSpPr>
        <p:spPr>
          <a:xfrm>
            <a:off x="971550" y="5349081"/>
            <a:ext cx="64750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dernière époque: acc train 65.3 acc val 52.1 val_loss 1.361</a:t>
            </a:r>
            <a:endParaRPr lang="en-US" sz="1200" dirty="0"/>
          </a:p>
        </p:txBody>
      </p:sp>
      <p:sp>
        <p:nvSpPr>
          <p:cNvPr id="10" name="Text 7"/>
          <p:cNvSpPr/>
          <p:nvPr/>
        </p:nvSpPr>
        <p:spPr>
          <a:xfrm>
            <a:off x="7670800" y="1823641"/>
            <a:ext cx="381965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Loss</a:t>
            </a:r>
            <a:endParaRPr lang="en-US" sz="1400" dirty="0"/>
          </a:p>
        </p:txBody>
      </p:sp>
      <p:sp>
        <p:nvSpPr>
          <p:cNvPr id="11" name="Text 8"/>
          <p:cNvSpPr/>
          <p:nvPr/>
        </p:nvSpPr>
        <p:spPr>
          <a:xfrm>
            <a:off x="7670800" y="2062361"/>
            <a:ext cx="381965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DEFF3"/>
                </a:solidFill>
                <a:latin typeface="DM Sans" pitchFamily="34" charset="0"/>
                <a:ea typeface="DM Sans" pitchFamily="34" charset="-122"/>
                <a:cs typeface="DM Sans" pitchFamily="34" charset="-120"/>
              </a:rPr>
              <a:t>categorical_crossentropy : une classe par image, one-hot, softmax</a:t>
            </a:r>
            <a:endParaRPr lang="en-US" sz="1300" dirty="0"/>
          </a:p>
        </p:txBody>
      </p:sp>
      <p:sp>
        <p:nvSpPr>
          <p:cNvPr id="12" name="Text 9"/>
          <p:cNvSpPr/>
          <p:nvPr/>
        </p:nvSpPr>
        <p:spPr>
          <a:xfrm>
            <a:off x="7670800" y="2647752"/>
            <a:ext cx="381965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Optimiseur</a:t>
            </a:r>
            <a:endParaRPr lang="en-US" sz="1400" dirty="0"/>
          </a:p>
        </p:txBody>
      </p:sp>
      <p:sp>
        <p:nvSpPr>
          <p:cNvPr id="13" name="Text 10"/>
          <p:cNvSpPr/>
          <p:nvPr/>
        </p:nvSpPr>
        <p:spPr>
          <a:xfrm>
            <a:off x="7670800" y="2886472"/>
            <a:ext cx="381965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DEFF3"/>
                </a:solidFill>
                <a:latin typeface="DM Sans" pitchFamily="34" charset="0"/>
                <a:ea typeface="DM Sans" pitchFamily="34" charset="-122"/>
                <a:cs typeface="DM Sans" pitchFamily="34" charset="-120"/>
              </a:rPr>
              <a:t>Adam, learning rate 0.001</a:t>
            </a:r>
            <a:endParaRPr lang="en-US" sz="1300" dirty="0"/>
          </a:p>
        </p:txBody>
      </p:sp>
      <p:sp>
        <p:nvSpPr>
          <p:cNvPr id="14" name="Text 11"/>
          <p:cNvSpPr/>
          <p:nvPr/>
        </p:nvSpPr>
        <p:spPr>
          <a:xfrm>
            <a:off x="7670800" y="3249017"/>
            <a:ext cx="381965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Batch size</a:t>
            </a:r>
            <a:endParaRPr lang="en-US" sz="1400" dirty="0"/>
          </a:p>
        </p:txBody>
      </p:sp>
      <p:sp>
        <p:nvSpPr>
          <p:cNvPr id="15" name="Text 12"/>
          <p:cNvSpPr/>
          <p:nvPr/>
        </p:nvSpPr>
        <p:spPr>
          <a:xfrm>
            <a:off x="7670800" y="3487738"/>
            <a:ext cx="381965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DEFF3"/>
                </a:solidFill>
                <a:latin typeface="DM Sans" pitchFamily="34" charset="0"/>
                <a:ea typeface="DM Sans" pitchFamily="34" charset="-122"/>
                <a:cs typeface="DM Sans" pitchFamily="34" charset="-120"/>
              </a:rPr>
              <a:t>128, soit 180 mises à jour par époque</a:t>
            </a:r>
            <a:endParaRPr lang="en-US" sz="1300" dirty="0"/>
          </a:p>
        </p:txBody>
      </p:sp>
      <p:sp>
        <p:nvSpPr>
          <p:cNvPr id="16" name="Text 13"/>
          <p:cNvSpPr/>
          <p:nvPr/>
        </p:nvSpPr>
        <p:spPr>
          <a:xfrm>
            <a:off x="7670800" y="3850283"/>
            <a:ext cx="381965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Époques</a:t>
            </a:r>
            <a:endParaRPr lang="en-US" sz="1400" dirty="0"/>
          </a:p>
        </p:txBody>
      </p:sp>
      <p:sp>
        <p:nvSpPr>
          <p:cNvPr id="17" name="Text 14"/>
          <p:cNvSpPr/>
          <p:nvPr/>
        </p:nvSpPr>
        <p:spPr>
          <a:xfrm>
            <a:off x="7670800" y="4089003"/>
            <a:ext cx="381965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DEFF3"/>
                </a:solidFill>
                <a:latin typeface="DM Sans" pitchFamily="34" charset="0"/>
                <a:ea typeface="DM Sans" pitchFamily="34" charset="-122"/>
                <a:cs typeface="DM Sans" pitchFamily="34" charset="-120"/>
              </a:rPr>
              <a:t>30 max, early stopping sur val_loss avec une patience de 6</a:t>
            </a:r>
            <a:endParaRPr lang="en-US" sz="1300" dirty="0"/>
          </a:p>
        </p:txBody>
      </p:sp>
      <p:sp>
        <p:nvSpPr>
          <p:cNvPr id="18" name="Text 15"/>
          <p:cNvSpPr/>
          <p:nvPr/>
        </p:nvSpPr>
        <p:spPr>
          <a:xfrm>
            <a:off x="7670800" y="4674394"/>
            <a:ext cx="381965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Métriques</a:t>
            </a:r>
            <a:endParaRPr lang="en-US" sz="1400" dirty="0"/>
          </a:p>
        </p:txBody>
      </p:sp>
      <p:sp>
        <p:nvSpPr>
          <p:cNvPr id="19" name="Text 16"/>
          <p:cNvSpPr/>
          <p:nvPr/>
        </p:nvSpPr>
        <p:spPr>
          <a:xfrm>
            <a:off x="7670800" y="4913114"/>
            <a:ext cx="381965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DEFF3"/>
                </a:solidFill>
                <a:latin typeface="DM Sans" pitchFamily="34" charset="0"/>
                <a:ea typeface="DM Sans" pitchFamily="34" charset="-122"/>
                <a:cs typeface="DM Sans" pitchFamily="34" charset="-120"/>
              </a:rPr>
              <a:t>accuracy, puis rappel par classe</a:t>
            </a:r>
            <a:endParaRPr lang="en-US" sz="1300" dirty="0"/>
          </a:p>
        </p:txBody>
      </p:sp>
      <p:sp>
        <p:nvSpPr>
          <p:cNvPr id="20" name="Text 1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Baseline dense : 34.7% en validation. Sorties des cellules 4a et 4b.</a:t>
            </a:r>
            <a:endParaRPr lang="en-US" sz="1200" dirty="0"/>
          </a:p>
        </p:txBody>
      </p:sp>
      <p:sp>
        <p:nvSpPr>
          <p:cNvPr id="21"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Space Grotesk" pitchFamily="34" charset="0"/>
                <a:ea typeface="Space Grotesk" pitchFamily="34" charset="-122"/>
                <a:cs typeface="Space Grotesk"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2254597"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PARTIE 5 · ÉVALUATION</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DEFF3"/>
                </a:solidFill>
                <a:latin typeface="Space Grotesk" pitchFamily="34" charset="0"/>
                <a:ea typeface="Space Grotesk" pitchFamily="34" charset="-122"/>
                <a:cs typeface="Space Grotesk" pitchFamily="34" charset="-120"/>
              </a:rPr>
              <a:t>Toutes les classes ne se valent pas</a:t>
            </a:r>
            <a:endParaRPr lang="en-US" sz="2800" dirty="0"/>
          </a:p>
        </p:txBody>
      </p:sp>
      <p:sp>
        <p:nvSpPr>
          <p:cNvPr id="4" name="Shape 2"/>
          <p:cNvSpPr/>
          <p:nvPr/>
        </p:nvSpPr>
        <p:spPr>
          <a:xfrm>
            <a:off x="812800" y="1823641"/>
            <a:ext cx="3213100" cy="2819400"/>
          </a:xfrm>
          <a:prstGeom prst="roundRect">
            <a:avLst>
              <a:gd name="adj" fmla="val 2703"/>
            </a:avLst>
          </a:prstGeom>
          <a:solidFill>
            <a:srgbClr val="FFFFFF"/>
          </a:solidFill>
          <a:ln/>
        </p:spPr>
      </p:sp>
      <p:pic>
        <p:nvPicPr>
          <p:cNvPr id="5" name="Image 0" descr="Matrice de confusion du CNN sur la validation, vraie classe en ligne et classe prédite en colonne">    </p:cNvPr>
          <p:cNvPicPr>
            <a:picLocks noChangeAspect="1"/>
          </p:cNvPicPr>
          <p:nvPr/>
        </p:nvPicPr>
        <p:blipFill>
          <a:blip r:embed="rId1"/>
          <a:srcRect l="-30" r="-30" t="0" b="0"/>
          <a:stretch/>
        </p:blipFill>
        <p:spPr>
          <a:xfrm>
            <a:off x="889000" y="1899841"/>
            <a:ext cx="3060700" cy="2667000"/>
          </a:xfrm>
          <a:prstGeom prst="rect">
            <a:avLst/>
          </a:prstGeom>
        </p:spPr>
      </p:pic>
      <p:sp>
        <p:nvSpPr>
          <p:cNvPr id="6" name="Shape 3"/>
          <p:cNvSpPr/>
          <p:nvPr/>
        </p:nvSpPr>
        <p:spPr>
          <a:xfrm>
            <a:off x="4229100" y="1823641"/>
            <a:ext cx="3143250" cy="2819400"/>
          </a:xfrm>
          <a:prstGeom prst="roundRect">
            <a:avLst>
              <a:gd name="adj" fmla="val 2703"/>
            </a:avLst>
          </a:prstGeom>
          <a:solidFill>
            <a:srgbClr val="FFFFFF"/>
          </a:solidFill>
          <a:ln/>
        </p:spPr>
      </p:sp>
      <p:pic>
        <p:nvPicPr>
          <p:cNvPr id="7" name="Image 1" descr="Courbes ROC du CNN, une par classe contre toutes les autres, avec l'AUC en légende">    </p:cNvPr>
          <p:cNvPicPr>
            <a:picLocks noChangeAspect="1"/>
          </p:cNvPicPr>
          <p:nvPr/>
        </p:nvPicPr>
        <p:blipFill>
          <a:blip r:embed="rId2"/>
          <a:srcRect l="-34" r="-34" t="0" b="0"/>
          <a:stretch/>
        </p:blipFill>
        <p:spPr>
          <a:xfrm>
            <a:off x="4305300" y="1899841"/>
            <a:ext cx="2990850" cy="2667000"/>
          </a:xfrm>
          <a:prstGeom prst="rect">
            <a:avLst/>
          </a:prstGeom>
        </p:spPr>
      </p:pic>
      <p:sp>
        <p:nvSpPr>
          <p:cNvPr id="8" name="Shape 4"/>
          <p:cNvSpPr/>
          <p:nvPr/>
        </p:nvSpPr>
        <p:spPr>
          <a:xfrm>
            <a:off x="7578725" y="1826816"/>
            <a:ext cx="3797300" cy="2089150"/>
          </a:xfrm>
          <a:prstGeom prst="roundRect">
            <a:avLst>
              <a:gd name="adj" fmla="val 3495"/>
            </a:avLst>
          </a:prstGeom>
          <a:solidFill>
            <a:srgbClr val="0B0D12"/>
          </a:solidFill>
          <a:ln w="6350">
            <a:solidFill>
              <a:srgbClr val="2C3340"/>
            </a:solidFill>
            <a:prstDash val="solid"/>
          </a:ln>
        </p:spPr>
      </p:sp>
      <p:sp>
        <p:nvSpPr>
          <p:cNvPr id="9" name="Text 5"/>
          <p:cNvSpPr/>
          <p:nvPr/>
        </p:nvSpPr>
        <p:spPr>
          <a:xfrm>
            <a:off x="7734300" y="1956991"/>
            <a:ext cx="3590735"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angry rappel: 45.6 % (354/777)</a:t>
            </a:r>
            <a:endParaRPr lang="en-US" sz="1200" dirty="0"/>
          </a:p>
        </p:txBody>
      </p:sp>
      <p:sp>
        <p:nvSpPr>
          <p:cNvPr id="10" name="Text 6"/>
          <p:cNvSpPr/>
          <p:nvPr/>
        </p:nvSpPr>
        <p:spPr>
          <a:xfrm>
            <a:off x="7734300" y="2223691"/>
            <a:ext cx="3590735"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disgust rappel: 25.7 % (18/70)</a:t>
            </a:r>
            <a:endParaRPr lang="en-US" sz="1200" dirty="0"/>
          </a:p>
        </p:txBody>
      </p:sp>
      <p:sp>
        <p:nvSpPr>
          <p:cNvPr id="11" name="Text 7"/>
          <p:cNvSpPr/>
          <p:nvPr/>
        </p:nvSpPr>
        <p:spPr>
          <a:xfrm>
            <a:off x="7734300" y="2490391"/>
            <a:ext cx="3590735"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5B841"/>
                </a:solidFill>
                <a:latin typeface="JetBrains Mono" pitchFamily="49" charset="0"/>
                <a:ea typeface="JetBrains Mono" pitchFamily="49" charset="-122"/>
                <a:cs typeface="JetBrains Mono" pitchFamily="49" charset="-120"/>
              </a:rPr>
              <a:t>fear rappel: 22.9 % (187/816)</a:t>
            </a:r>
            <a:endParaRPr lang="en-US" sz="1200" dirty="0"/>
          </a:p>
        </p:txBody>
      </p:sp>
      <p:sp>
        <p:nvSpPr>
          <p:cNvPr id="12" name="Text 8"/>
          <p:cNvSpPr/>
          <p:nvPr/>
        </p:nvSpPr>
        <p:spPr>
          <a:xfrm>
            <a:off x="7734300" y="2757091"/>
            <a:ext cx="3590735"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happy rappel: 75.4 % (1055/1400)</a:t>
            </a:r>
            <a:endParaRPr lang="en-US" sz="1200" dirty="0"/>
          </a:p>
        </p:txBody>
      </p:sp>
      <p:sp>
        <p:nvSpPr>
          <p:cNvPr id="13" name="Text 9"/>
          <p:cNvSpPr/>
          <p:nvPr/>
        </p:nvSpPr>
        <p:spPr>
          <a:xfrm>
            <a:off x="7734300" y="3023791"/>
            <a:ext cx="3590735"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neutral rappel: 53.2 % (533/1001)</a:t>
            </a:r>
            <a:endParaRPr lang="en-US" sz="1200" dirty="0"/>
          </a:p>
        </p:txBody>
      </p:sp>
      <p:sp>
        <p:nvSpPr>
          <p:cNvPr id="14" name="Text 10"/>
          <p:cNvSpPr/>
          <p:nvPr/>
        </p:nvSpPr>
        <p:spPr>
          <a:xfrm>
            <a:off x="7734300" y="3290491"/>
            <a:ext cx="3590735"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sad rappel: 36.5 % (362/992)</a:t>
            </a:r>
            <a:endParaRPr lang="en-US" sz="1200" dirty="0"/>
          </a:p>
        </p:txBody>
      </p:sp>
      <p:sp>
        <p:nvSpPr>
          <p:cNvPr id="15" name="Text 11"/>
          <p:cNvSpPr/>
          <p:nvPr/>
        </p:nvSpPr>
        <p:spPr>
          <a:xfrm>
            <a:off x="7734300" y="3557191"/>
            <a:ext cx="3590735"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surprise rappel: 66.8 % (456/683)</a:t>
            </a:r>
            <a:endParaRPr lang="en-US" sz="1200" dirty="0"/>
          </a:p>
        </p:txBody>
      </p:sp>
      <p:sp>
        <p:nvSpPr>
          <p:cNvPr id="16" name="Text 12"/>
          <p:cNvSpPr/>
          <p:nvPr/>
        </p:nvSpPr>
        <p:spPr>
          <a:xfrm>
            <a:off x="812800" y="4846241"/>
            <a:ext cx="5310886"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Confusions les plus fréquentes.</a:t>
            </a:r>
            <a:r>
              <a:rPr lang="en-US" sz="1300" dirty="0">
                <a:solidFill>
                  <a:srgbClr val="A3ABBA"/>
                </a:solidFill>
                <a:latin typeface="DM Sans" pitchFamily="34" charset="0"/>
                <a:ea typeface="DM Sans" pitchFamily="34" charset="-122"/>
                <a:cs typeface="DM Sans" pitchFamily="34" charset="-120"/>
              </a:rPr>
              <a:t> sad prédit neutral (203), sad prédit angry (153), fear prédit sad (152), neutral prédit sad (150).</a:t>
            </a:r>
            <a:endParaRPr lang="en-US" sz="1300" dirty="0"/>
          </a:p>
        </p:txBody>
      </p:sp>
      <p:sp>
        <p:nvSpPr>
          <p:cNvPr id="17" name="Text 13"/>
          <p:cNvSpPr/>
          <p:nvPr/>
        </p:nvSpPr>
        <p:spPr>
          <a:xfrm>
            <a:off x="6223000" y="4846241"/>
            <a:ext cx="5310886"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Classes difficiles.</a:t>
            </a:r>
            <a:r>
              <a:rPr lang="en-US" sz="1300" dirty="0">
                <a:solidFill>
                  <a:srgbClr val="A3ABBA"/>
                </a:solidFill>
                <a:latin typeface="DM Sans" pitchFamily="34" charset="0"/>
                <a:ea typeface="DM Sans" pitchFamily="34" charset="-122"/>
                <a:cs typeface="DM Sans" pitchFamily="34" charset="-120"/>
              </a:rPr>
              <a:t> fear n'a pas de signe à elle, disgust manque d'images (436 en train), sad se confond avec neutral.</a:t>
            </a:r>
            <a:endParaRPr lang="en-US" sz="1300" dirty="0"/>
          </a:p>
        </p:txBody>
      </p:sp>
      <p:sp>
        <p:nvSpPr>
          <p:cNvPr id="18" name="Text 1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CNN de base, validation, 5 739 images. Sorties des cellules 5a, 5b et 5c.</a:t>
            </a:r>
            <a:endParaRPr lang="en-US" sz="1200" dirty="0"/>
          </a:p>
        </p:txBody>
      </p:sp>
      <p:sp>
        <p:nvSpPr>
          <p:cNvPr id="19"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Space Grotesk" pitchFamily="34" charset="0"/>
                <a:ea typeface="Space Grotesk" pitchFamily="34" charset="-122"/>
                <a:cs typeface="Space Grotesk"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1979513"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PARTIE 5 · ERREURS</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DEFF3"/>
                </a:solidFill>
                <a:latin typeface="Space Grotesk" pitchFamily="34" charset="0"/>
                <a:ea typeface="Space Grotesk" pitchFamily="34" charset="-122"/>
                <a:cs typeface="Space Grotesk" pitchFamily="34" charset="-120"/>
              </a:rPr>
              <a:t>Les erreurs les plus confiantes du CNN</a:t>
            </a:r>
            <a:endParaRPr lang="en-US" sz="2800" dirty="0"/>
          </a:p>
        </p:txBody>
      </p:sp>
      <p:sp>
        <p:nvSpPr>
          <p:cNvPr id="4" name="Shape 2"/>
          <p:cNvSpPr/>
          <p:nvPr/>
        </p:nvSpPr>
        <p:spPr>
          <a:xfrm>
            <a:off x="812800" y="1823641"/>
            <a:ext cx="7391400" cy="3105150"/>
          </a:xfrm>
          <a:prstGeom prst="roundRect">
            <a:avLst>
              <a:gd name="adj" fmla="val 2454"/>
            </a:avLst>
          </a:prstGeom>
          <a:solidFill>
            <a:srgbClr val="FFFFFF"/>
          </a:solidFill>
          <a:ln/>
        </p:spPr>
      </p:sp>
      <p:pic>
        <p:nvPicPr>
          <p:cNvPr id="5" name="Image 0" descr="Douze images de validation avec vraie classe, classe prédite et probabilité : 4 bonnes prédictions et 8 erreurs">    </p:cNvPr>
          <p:cNvPicPr>
            <a:picLocks noChangeAspect="1"/>
          </p:cNvPicPr>
          <p:nvPr/>
        </p:nvPicPr>
        <p:blipFill>
          <a:blip r:embed="rId1"/>
          <a:srcRect l="-38" r="-38" t="0" b="0"/>
          <a:stretch/>
        </p:blipFill>
        <p:spPr>
          <a:xfrm>
            <a:off x="889000" y="1899841"/>
            <a:ext cx="7239000" cy="2952750"/>
          </a:xfrm>
          <a:prstGeom prst="rect">
            <a:avLst/>
          </a:prstGeom>
        </p:spPr>
      </p:pic>
      <p:sp>
        <p:nvSpPr>
          <p:cNvPr id="6" name="Text 3"/>
          <p:cNvSpPr/>
          <p:nvPr/>
        </p:nvSpPr>
        <p:spPr>
          <a:xfrm>
            <a:off x="812800" y="5081191"/>
            <a:ext cx="761314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3ABBA"/>
                </a:solidFill>
                <a:latin typeface="DM Sans" pitchFamily="34" charset="0"/>
                <a:ea typeface="DM Sans" pitchFamily="34" charset="-122"/>
                <a:cs typeface="DM Sans" pitchFamily="34" charset="-120"/>
              </a:rPr>
              <a:t>Sur ces 8 erreurs, le modèle met entre 97% et 99% sur la mauvaise classe et au plus 2% sur la vraie.</a:t>
            </a:r>
            <a:endParaRPr lang="en-US" sz="1300" dirty="0"/>
          </a:p>
        </p:txBody>
      </p:sp>
      <p:sp>
        <p:nvSpPr>
          <p:cNvPr id="7" name="Text 4"/>
          <p:cNvSpPr/>
          <p:nvPr/>
        </p:nvSpPr>
        <p:spPr>
          <a:xfrm>
            <a:off x="8458200" y="1823641"/>
            <a:ext cx="300863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Expressions proches</a:t>
            </a:r>
            <a:endParaRPr lang="en-US" sz="1400" dirty="0"/>
          </a:p>
        </p:txBody>
      </p:sp>
      <p:sp>
        <p:nvSpPr>
          <p:cNvPr id="8" name="Text 5"/>
          <p:cNvSpPr/>
          <p:nvPr/>
        </p:nvSpPr>
        <p:spPr>
          <a:xfrm>
            <a:off x="8458200" y="2087761"/>
            <a:ext cx="300863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DEFF3"/>
                </a:solidFill>
                <a:latin typeface="DM Sans" pitchFamily="34" charset="0"/>
                <a:ea typeface="DM Sans" pitchFamily="34" charset="-122"/>
                <a:cs typeface="DM Sans" pitchFamily="34" charset="-120"/>
              </a:rPr>
              <a:t>fear prédite surprise : yeux écarquillés, bouche ouverte, mains sur le visage.</a:t>
            </a:r>
            <a:endParaRPr lang="en-US" sz="1300" dirty="0"/>
          </a:p>
        </p:txBody>
      </p:sp>
      <p:sp>
        <p:nvSpPr>
          <p:cNvPr id="9" name="Text 6"/>
          <p:cNvSpPr/>
          <p:nvPr/>
        </p:nvSpPr>
        <p:spPr>
          <a:xfrm>
            <a:off x="8458200" y="2958951"/>
            <a:ext cx="300863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Étiquettes douteuses</a:t>
            </a:r>
            <a:endParaRPr lang="en-US" sz="1400" dirty="0"/>
          </a:p>
        </p:txBody>
      </p:sp>
      <p:sp>
        <p:nvSpPr>
          <p:cNvPr id="10" name="Text 7"/>
          <p:cNvSpPr/>
          <p:nvPr/>
        </p:nvSpPr>
        <p:spPr>
          <a:xfrm>
            <a:off x="8458200" y="3223071"/>
            <a:ext cx="300863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DEFF3"/>
                </a:solidFill>
                <a:latin typeface="DM Sans" pitchFamily="34" charset="0"/>
                <a:ea typeface="DM Sans" pitchFamily="34" charset="-122"/>
                <a:cs typeface="DM Sans" pitchFamily="34" charset="-120"/>
              </a:rPr>
              <a:t>surprise et angry prédites happy alors que la personne sourit ou rit.</a:t>
            </a:r>
            <a:endParaRPr lang="en-US" sz="1300" dirty="0"/>
          </a:p>
        </p:txBody>
      </p:sp>
      <p:sp>
        <p:nvSpPr>
          <p:cNvPr id="11" name="Text 8"/>
          <p:cNvSpPr/>
          <p:nvPr/>
        </p:nvSpPr>
        <p:spPr>
          <a:xfrm>
            <a:off x="8458200" y="3863132"/>
            <a:ext cx="300863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Ce que le modèle regarde</a:t>
            </a:r>
            <a:endParaRPr lang="en-US" sz="1400" dirty="0"/>
          </a:p>
        </p:txBody>
      </p:sp>
      <p:sp>
        <p:nvSpPr>
          <p:cNvPr id="12" name="Text 9"/>
          <p:cNvSpPr/>
          <p:nvPr/>
        </p:nvSpPr>
        <p:spPr>
          <a:xfrm>
            <a:off x="8458200" y="4127252"/>
            <a:ext cx="300863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DEFF3"/>
                </a:solidFill>
                <a:latin typeface="DM Sans" pitchFamily="34" charset="0"/>
                <a:ea typeface="DM Sans" pitchFamily="34" charset="-122"/>
                <a:cs typeface="DM Sans" pitchFamily="34" charset="-120"/>
              </a:rPr>
              <a:t>Surtout la bouche et l'ouverture des yeux, moins les sourcils.</a:t>
            </a:r>
            <a:endParaRPr lang="en-US" sz="1300" dirty="0"/>
          </a:p>
        </p:txBody>
      </p:sp>
      <p:sp>
        <p:nvSpPr>
          <p:cNvPr id="13" name="Text 1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En vert 4 bonnes prédictions, en rouge 8 erreurs. Sortie de la cellule 5d.</a:t>
            </a:r>
            <a:endParaRPr lang="en-US" sz="1200" dirty="0"/>
          </a:p>
        </p:txBody>
      </p:sp>
      <p:sp>
        <p:nvSpPr>
          <p:cNvPr id="14"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Space Grotesk" pitchFamily="34" charset="0"/>
                <a:ea typeface="Space Grotesk" pitchFamily="34" charset="-122"/>
                <a:cs typeface="Space Grotesk"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2362944"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PARTIE 6 · EXPÉRIENCES</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DEFF3"/>
                </a:solidFill>
                <a:latin typeface="Space Grotesk" pitchFamily="34" charset="0"/>
                <a:ea typeface="Space Grotesk" pitchFamily="34" charset="-122"/>
                <a:cs typeface="Space Grotesk" pitchFamily="34" charset="-120"/>
              </a:rPr>
              <a:t>L'augmentation apporte le plus gros gain</a:t>
            </a:r>
            <a:endParaRPr lang="en-US" sz="2800" dirty="0"/>
          </a:p>
        </p:txBody>
      </p:sp>
      <p:sp>
        <p:nvSpPr>
          <p:cNvPr id="4" name="Text 2"/>
          <p:cNvSpPr/>
          <p:nvPr/>
        </p:nvSpPr>
        <p:spPr>
          <a:xfrm>
            <a:off x="812800" y="1823641"/>
            <a:ext cx="736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9B7A"/>
                </a:solidFill>
                <a:latin typeface="Space Grotesk" pitchFamily="34" charset="0"/>
                <a:ea typeface="Space Grotesk" pitchFamily="34" charset="-122"/>
                <a:cs typeface="Space Grotesk" pitchFamily="34" charset="-120"/>
              </a:rPr>
              <a:t>E4</a:t>
            </a:r>
            <a:endParaRPr lang="en-US" sz="1200" dirty="0"/>
          </a:p>
        </p:txBody>
      </p:sp>
      <p:sp>
        <p:nvSpPr>
          <p:cNvPr id="5" name="Text 3"/>
          <p:cNvSpPr/>
          <p:nvPr/>
        </p:nvSpPr>
        <p:spPr>
          <a:xfrm>
            <a:off x="8128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FF9B7A"/>
          </a:solidFill>
          <a:ln/>
        </p:spPr>
        <p:txBody>
          <a:bodyPr wrap="square" lIns="25400" tIns="50800" rIns="25400" bIns="50800" rtlCol="0" anchor="ctr">
            <a:normAutofit/>
          </a:bodyPr>
          <a:lstStyle/>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Augm.</a:t>
            </a:r>
            <a:endParaRPr lang="en-US" sz="1200" dirty="0"/>
          </a:p>
        </p:txBody>
      </p:sp>
      <p:sp>
        <p:nvSpPr>
          <p:cNvPr id="6" name="Text 4"/>
          <p:cNvSpPr/>
          <p:nvPr/>
        </p:nvSpPr>
        <p:spPr>
          <a:xfrm>
            <a:off x="1549400" y="1823641"/>
            <a:ext cx="298246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ABBA"/>
                </a:solidFill>
                <a:latin typeface="Space Grotesk" pitchFamily="34" charset="0"/>
                <a:ea typeface="Space Grotesk" pitchFamily="34" charset="-122"/>
                <a:cs typeface="Space Grotesk" pitchFamily="34" charset="-120"/>
              </a:rPr>
              <a:t>CNN de base</a:t>
            </a:r>
            <a:endParaRPr lang="en-US" sz="1200" dirty="0"/>
          </a:p>
        </p:txBody>
      </p:sp>
      <p:sp>
        <p:nvSpPr>
          <p:cNvPr id="7" name="Text 5"/>
          <p:cNvSpPr/>
          <p:nvPr/>
        </p:nvSpPr>
        <p:spPr>
          <a:xfrm>
            <a:off x="15494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252B38"/>
          </a:solidFill>
          <a:ln/>
        </p:spPr>
        <p:txBody>
          <a:bodyPr wrap="square" lIns="25400" tIns="50800" rIns="25400" bIns="50800" rtlCol="0" anchor="ctr">
            <a:normAutofit/>
          </a:bodyPr>
          <a:lstStyle/>
          <a:p>
            <a:pPr algn="ctr" indent="0" marL="0">
              <a:lnSpc>
                <a:spcPts val="1500"/>
              </a:lnSpc>
              <a:buNone/>
            </a:pPr>
            <a:r>
              <a:rPr lang="en-US" sz="1200" b="1" dirty="0">
                <a:solidFill>
                  <a:srgbClr val="EDEFF3"/>
                </a:solidFill>
                <a:latin typeface="DM Sans" pitchFamily="34" charset="0"/>
                <a:ea typeface="DM Sans" pitchFamily="34" charset="-122"/>
                <a:cs typeface="DM Sans" pitchFamily="34" charset="-120"/>
              </a:rPr>
              <a:t>Conv</a:t>
            </a:r>
            <a:endParaRPr lang="en-US" sz="1200" dirty="0"/>
          </a:p>
          <a:p>
            <a:pPr algn="ctr" indent="0" marL="0">
              <a:lnSpc>
                <a:spcPts val="1500"/>
              </a:lnSpc>
              <a:buNone/>
            </a:pPr>
            <a:r>
              <a:rPr lang="en-US" sz="1200" b="1" dirty="0">
                <a:solidFill>
                  <a:srgbClr val="EDEFF3"/>
                </a:solidFill>
                <a:latin typeface="DM Sans" pitchFamily="34" charset="0"/>
                <a:ea typeface="DM Sans" pitchFamily="34" charset="-122"/>
                <a:cs typeface="DM Sans" pitchFamily="34" charset="-120"/>
              </a:rPr>
              <a:t>32</a:t>
            </a:r>
            <a:endParaRPr lang="en-US" sz="1200" dirty="0"/>
          </a:p>
        </p:txBody>
      </p:sp>
      <p:sp>
        <p:nvSpPr>
          <p:cNvPr id="8" name="Text 6"/>
          <p:cNvSpPr/>
          <p:nvPr/>
        </p:nvSpPr>
        <p:spPr>
          <a:xfrm>
            <a:off x="22860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252B38"/>
          </a:solidFill>
          <a:ln/>
        </p:spPr>
        <p:txBody>
          <a:bodyPr wrap="square" lIns="25400" tIns="50800" rIns="25400" bIns="50800" rtlCol="0" anchor="ctr">
            <a:normAutofit/>
          </a:bodyPr>
          <a:lstStyle/>
          <a:p>
            <a:pPr algn="ctr" indent="0" marL="0">
              <a:lnSpc>
                <a:spcPts val="1500"/>
              </a:lnSpc>
              <a:buNone/>
            </a:pPr>
            <a:r>
              <a:rPr lang="en-US" sz="1200" b="1" dirty="0">
                <a:solidFill>
                  <a:srgbClr val="EDEFF3"/>
                </a:solidFill>
                <a:latin typeface="DM Sans" pitchFamily="34" charset="0"/>
                <a:ea typeface="DM Sans" pitchFamily="34" charset="-122"/>
                <a:cs typeface="DM Sans" pitchFamily="34" charset="-120"/>
              </a:rPr>
              <a:t>Pool</a:t>
            </a:r>
            <a:endParaRPr lang="en-US" sz="1200" dirty="0"/>
          </a:p>
        </p:txBody>
      </p:sp>
      <p:sp>
        <p:nvSpPr>
          <p:cNvPr id="9" name="Text 7"/>
          <p:cNvSpPr/>
          <p:nvPr/>
        </p:nvSpPr>
        <p:spPr>
          <a:xfrm>
            <a:off x="30226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252B38"/>
          </a:solidFill>
          <a:ln/>
        </p:spPr>
        <p:txBody>
          <a:bodyPr wrap="square" lIns="25400" tIns="50800" rIns="25400" bIns="50800" rtlCol="0" anchor="ctr">
            <a:normAutofit/>
          </a:bodyPr>
          <a:lstStyle/>
          <a:p>
            <a:pPr algn="ctr" indent="0" marL="0">
              <a:lnSpc>
                <a:spcPts val="1500"/>
              </a:lnSpc>
              <a:buNone/>
            </a:pPr>
            <a:r>
              <a:rPr lang="en-US" sz="1200" b="1" dirty="0">
                <a:solidFill>
                  <a:srgbClr val="EDEFF3"/>
                </a:solidFill>
                <a:latin typeface="DM Sans" pitchFamily="34" charset="0"/>
                <a:ea typeface="DM Sans" pitchFamily="34" charset="-122"/>
                <a:cs typeface="DM Sans" pitchFamily="34" charset="-120"/>
              </a:rPr>
              <a:t>Conv</a:t>
            </a:r>
            <a:endParaRPr lang="en-US" sz="1200" dirty="0"/>
          </a:p>
          <a:p>
            <a:pPr algn="ctr" indent="0" marL="0">
              <a:lnSpc>
                <a:spcPts val="1500"/>
              </a:lnSpc>
              <a:buNone/>
            </a:pPr>
            <a:r>
              <a:rPr lang="en-US" sz="1200" b="1" dirty="0">
                <a:solidFill>
                  <a:srgbClr val="EDEFF3"/>
                </a:solidFill>
                <a:latin typeface="DM Sans" pitchFamily="34" charset="0"/>
                <a:ea typeface="DM Sans" pitchFamily="34" charset="-122"/>
                <a:cs typeface="DM Sans" pitchFamily="34" charset="-120"/>
              </a:rPr>
              <a:t>64</a:t>
            </a:r>
            <a:endParaRPr lang="en-US" sz="1200" dirty="0"/>
          </a:p>
        </p:txBody>
      </p:sp>
      <p:sp>
        <p:nvSpPr>
          <p:cNvPr id="10" name="Text 8"/>
          <p:cNvSpPr/>
          <p:nvPr/>
        </p:nvSpPr>
        <p:spPr>
          <a:xfrm>
            <a:off x="37592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252B38"/>
          </a:solidFill>
          <a:ln/>
        </p:spPr>
        <p:txBody>
          <a:bodyPr wrap="square" lIns="25400" tIns="50800" rIns="25400" bIns="50800" rtlCol="0" anchor="ctr">
            <a:normAutofit/>
          </a:bodyPr>
          <a:lstStyle/>
          <a:p>
            <a:pPr algn="ctr" indent="0" marL="0">
              <a:lnSpc>
                <a:spcPts val="1500"/>
              </a:lnSpc>
              <a:buNone/>
            </a:pPr>
            <a:r>
              <a:rPr lang="en-US" sz="1200" b="1" dirty="0">
                <a:solidFill>
                  <a:srgbClr val="EDEFF3"/>
                </a:solidFill>
                <a:latin typeface="DM Sans" pitchFamily="34" charset="0"/>
                <a:ea typeface="DM Sans" pitchFamily="34" charset="-122"/>
                <a:cs typeface="DM Sans" pitchFamily="34" charset="-120"/>
              </a:rPr>
              <a:t>Pool</a:t>
            </a:r>
            <a:endParaRPr lang="en-US" sz="1200" dirty="0"/>
          </a:p>
        </p:txBody>
      </p:sp>
      <p:sp>
        <p:nvSpPr>
          <p:cNvPr id="11" name="Text 9"/>
          <p:cNvSpPr/>
          <p:nvPr/>
        </p:nvSpPr>
        <p:spPr>
          <a:xfrm>
            <a:off x="4495800" y="1823641"/>
            <a:ext cx="298246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D6A2"/>
                </a:solidFill>
                <a:latin typeface="Space Grotesk" pitchFamily="34" charset="0"/>
                <a:ea typeface="Space Grotesk" pitchFamily="34" charset="-122"/>
                <a:cs typeface="Space Grotesk" pitchFamily="34" charset="-120"/>
              </a:rPr>
              <a:t>E3 · deux blocs de plus</a:t>
            </a:r>
            <a:endParaRPr lang="en-US" sz="1200" dirty="0"/>
          </a:p>
        </p:txBody>
      </p:sp>
      <p:sp>
        <p:nvSpPr>
          <p:cNvPr id="12" name="Text 10"/>
          <p:cNvSpPr/>
          <p:nvPr/>
        </p:nvSpPr>
        <p:spPr>
          <a:xfrm>
            <a:off x="44958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5DD6A2"/>
          </a:solidFill>
          <a:ln/>
        </p:spPr>
        <p:txBody>
          <a:bodyPr wrap="square" lIns="25400" tIns="50800" rIns="25400" bIns="50800" rtlCol="0" anchor="ctr">
            <a:normAutofit/>
          </a:bodyPr>
          <a:lstStyle/>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Conv</a:t>
            </a:r>
            <a:endParaRPr lang="en-US" sz="1200" dirty="0"/>
          </a:p>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128</a:t>
            </a:r>
            <a:endParaRPr lang="en-US" sz="1200" dirty="0"/>
          </a:p>
        </p:txBody>
      </p:sp>
      <p:sp>
        <p:nvSpPr>
          <p:cNvPr id="13" name="Text 11"/>
          <p:cNvSpPr/>
          <p:nvPr/>
        </p:nvSpPr>
        <p:spPr>
          <a:xfrm>
            <a:off x="52324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5DD6A2"/>
          </a:solidFill>
          <a:ln/>
        </p:spPr>
        <p:txBody>
          <a:bodyPr wrap="square" lIns="25400" tIns="50800" rIns="25400" bIns="50800" rtlCol="0" anchor="ctr">
            <a:normAutofit/>
          </a:bodyPr>
          <a:lstStyle/>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Pool</a:t>
            </a:r>
            <a:endParaRPr lang="en-US" sz="1200" dirty="0"/>
          </a:p>
        </p:txBody>
      </p:sp>
      <p:sp>
        <p:nvSpPr>
          <p:cNvPr id="14" name="Text 12"/>
          <p:cNvSpPr/>
          <p:nvPr/>
        </p:nvSpPr>
        <p:spPr>
          <a:xfrm>
            <a:off x="59690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5DD6A2"/>
          </a:solidFill>
          <a:ln/>
        </p:spPr>
        <p:txBody>
          <a:bodyPr wrap="square" lIns="25400" tIns="50800" rIns="25400" bIns="50800" rtlCol="0" anchor="ctr">
            <a:normAutofit/>
          </a:bodyPr>
          <a:lstStyle/>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Conv</a:t>
            </a:r>
            <a:endParaRPr lang="en-US" sz="1200" dirty="0"/>
          </a:p>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256</a:t>
            </a:r>
            <a:endParaRPr lang="en-US" sz="1200" dirty="0"/>
          </a:p>
        </p:txBody>
      </p:sp>
      <p:sp>
        <p:nvSpPr>
          <p:cNvPr id="15" name="Text 13"/>
          <p:cNvSpPr/>
          <p:nvPr/>
        </p:nvSpPr>
        <p:spPr>
          <a:xfrm>
            <a:off x="67056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5DD6A2"/>
          </a:solidFill>
          <a:ln/>
        </p:spPr>
        <p:txBody>
          <a:bodyPr wrap="square" lIns="25400" tIns="50800" rIns="25400" bIns="50800" rtlCol="0" anchor="ctr">
            <a:normAutofit/>
          </a:bodyPr>
          <a:lstStyle/>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Pool</a:t>
            </a:r>
            <a:endParaRPr lang="en-US" sz="1200" dirty="0"/>
          </a:p>
        </p:txBody>
      </p:sp>
      <p:sp>
        <p:nvSpPr>
          <p:cNvPr id="16" name="Text 14"/>
          <p:cNvSpPr/>
          <p:nvPr/>
        </p:nvSpPr>
        <p:spPr>
          <a:xfrm>
            <a:off x="74422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252B38"/>
          </a:solidFill>
          <a:ln/>
        </p:spPr>
        <p:txBody>
          <a:bodyPr wrap="square" lIns="25400" tIns="50800" rIns="25400" bIns="50800" rtlCol="0" anchor="ctr">
            <a:normAutofit/>
          </a:bodyPr>
          <a:lstStyle/>
          <a:p>
            <a:pPr algn="ctr" indent="0" marL="0">
              <a:lnSpc>
                <a:spcPts val="1500"/>
              </a:lnSpc>
              <a:buNone/>
            </a:pPr>
            <a:r>
              <a:rPr lang="en-US" sz="1200" b="1" dirty="0">
                <a:solidFill>
                  <a:srgbClr val="EDEFF3"/>
                </a:solidFill>
                <a:latin typeface="DM Sans" pitchFamily="34" charset="0"/>
                <a:ea typeface="DM Sans" pitchFamily="34" charset="-122"/>
                <a:cs typeface="DM Sans" pitchFamily="34" charset="-120"/>
              </a:rPr>
              <a:t>Flatten</a:t>
            </a:r>
            <a:endParaRPr lang="en-US" sz="1200" dirty="0"/>
          </a:p>
        </p:txBody>
      </p:sp>
      <p:sp>
        <p:nvSpPr>
          <p:cNvPr id="17" name="Text 15"/>
          <p:cNvSpPr/>
          <p:nvPr/>
        </p:nvSpPr>
        <p:spPr>
          <a:xfrm>
            <a:off x="8178800" y="1823641"/>
            <a:ext cx="736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A1FF"/>
                </a:solidFill>
                <a:latin typeface="Space Grotesk" pitchFamily="34" charset="0"/>
                <a:ea typeface="Space Grotesk" pitchFamily="34" charset="-122"/>
                <a:cs typeface="Space Grotesk" pitchFamily="34" charset="-120"/>
              </a:rPr>
              <a:t>E2</a:t>
            </a:r>
            <a:endParaRPr lang="en-US" sz="1200" dirty="0"/>
          </a:p>
        </p:txBody>
      </p:sp>
      <p:sp>
        <p:nvSpPr>
          <p:cNvPr id="18" name="Text 16"/>
          <p:cNvSpPr/>
          <p:nvPr/>
        </p:nvSpPr>
        <p:spPr>
          <a:xfrm>
            <a:off x="81788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C4A1FF"/>
          </a:solidFill>
          <a:ln/>
        </p:spPr>
        <p:txBody>
          <a:bodyPr wrap="square" lIns="25400" tIns="50800" rIns="25400" bIns="50800" rtlCol="0" anchor="ctr">
            <a:normAutofit/>
          </a:bodyPr>
          <a:lstStyle/>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Dropout</a:t>
            </a:r>
            <a:endParaRPr lang="en-US" sz="1200" dirty="0"/>
          </a:p>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0.3</a:t>
            </a:r>
            <a:endParaRPr lang="en-US" sz="1200" dirty="0"/>
          </a:p>
        </p:txBody>
      </p:sp>
      <p:sp>
        <p:nvSpPr>
          <p:cNvPr id="19" name="Text 17"/>
          <p:cNvSpPr/>
          <p:nvPr/>
        </p:nvSpPr>
        <p:spPr>
          <a:xfrm>
            <a:off x="8915400" y="1823641"/>
            <a:ext cx="1473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FB0FF"/>
                </a:solidFill>
                <a:latin typeface="Space Grotesk" pitchFamily="34" charset="0"/>
                <a:ea typeface="Space Grotesk" pitchFamily="34" charset="-122"/>
                <a:cs typeface="Space Grotesk" pitchFamily="34" charset="-120"/>
              </a:rPr>
              <a:t>E1 · Dense</a:t>
            </a:r>
            <a:endParaRPr lang="en-US" sz="1200" dirty="0"/>
          </a:p>
        </p:txBody>
      </p:sp>
      <p:sp>
        <p:nvSpPr>
          <p:cNvPr id="20" name="Text 18"/>
          <p:cNvSpPr/>
          <p:nvPr/>
        </p:nvSpPr>
        <p:spPr>
          <a:xfrm>
            <a:off x="89154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7FB0FF"/>
          </a:solidFill>
          <a:ln/>
        </p:spPr>
        <p:txBody>
          <a:bodyPr wrap="square" lIns="25400" tIns="50800" rIns="25400" bIns="50800" rtlCol="0" anchor="ctr">
            <a:normAutofit/>
          </a:bodyPr>
          <a:lstStyle/>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Dense</a:t>
            </a:r>
            <a:endParaRPr lang="en-US" sz="1200" dirty="0"/>
          </a:p>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128</a:t>
            </a:r>
            <a:endParaRPr lang="en-US" sz="1200" dirty="0"/>
          </a:p>
        </p:txBody>
      </p:sp>
      <p:sp>
        <p:nvSpPr>
          <p:cNvPr id="21" name="Text 19"/>
          <p:cNvSpPr/>
          <p:nvPr/>
        </p:nvSpPr>
        <p:spPr>
          <a:xfrm>
            <a:off x="96520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7FB0FF"/>
          </a:solidFill>
          <a:ln/>
        </p:spPr>
        <p:txBody>
          <a:bodyPr wrap="square" lIns="25400" tIns="50800" rIns="25400" bIns="50800" rtlCol="0" anchor="ctr">
            <a:normAutofit/>
          </a:bodyPr>
          <a:lstStyle/>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Dense</a:t>
            </a:r>
            <a:endParaRPr lang="en-US" sz="1200" dirty="0"/>
          </a:p>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64</a:t>
            </a:r>
            <a:endParaRPr lang="en-US" sz="1200" dirty="0"/>
          </a:p>
        </p:txBody>
      </p:sp>
      <p:sp>
        <p:nvSpPr>
          <p:cNvPr id="22" name="Text 20"/>
          <p:cNvSpPr/>
          <p:nvPr/>
        </p:nvSpPr>
        <p:spPr>
          <a:xfrm>
            <a:off x="10388600" y="2100461"/>
            <a:ext cx="685800" cy="889000"/>
          </a:xfrm>
          <a:prstGeom prst="roundRect">
            <a:avLst>
              <a:gd name="adj" fmla="val 9259"/>
            </a:avLst>
          </a:prstGeom>
          <a:solidFill>
            <a:srgbClr val="252B38"/>
          </a:solidFill>
          <a:ln/>
        </p:spPr>
        <p:txBody>
          <a:bodyPr wrap="none" lIns="0" tIns="32201" rIns="0" bIns="32201" rtlCol="0" anchor="ctr">
            <a:normAutofit/>
          </a:bodyPr>
          <a:lstStyle/>
          <a:p>
            <a:pPr algn="ctr" indent="0" marL="0">
              <a:lnSpc>
                <a:spcPts val="1500"/>
              </a:lnSpc>
              <a:buNone/>
            </a:pPr>
            <a:r>
              <a:rPr lang="en-US" sz="1200" b="1" dirty="0">
                <a:solidFill>
                  <a:srgbClr val="EDEFF3"/>
                </a:solidFill>
                <a:latin typeface="DM Sans" pitchFamily="34" charset="0"/>
                <a:ea typeface="DM Sans" pitchFamily="34" charset="-122"/>
                <a:cs typeface="DM Sans" pitchFamily="34" charset="-120"/>
              </a:rPr>
              <a:t>Dense 7</a:t>
            </a:r>
            <a:endParaRPr lang="en-US" sz="1200" dirty="0"/>
          </a:p>
        </p:txBody>
      </p:sp>
      <p:sp>
        <p:nvSpPr>
          <p:cNvPr id="23" name="Text 21"/>
          <p:cNvSpPr/>
          <p:nvPr/>
        </p:nvSpPr>
        <p:spPr>
          <a:xfrm>
            <a:off x="1055370" y="3726061"/>
            <a:ext cx="59436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A3ABBA"/>
                </a:solidFill>
                <a:latin typeface="JetBrains Mono" pitchFamily="49" charset="0"/>
                <a:ea typeface="JetBrains Mono" pitchFamily="49" charset="-122"/>
                <a:cs typeface="JetBrains Mono" pitchFamily="49" charset="-120"/>
              </a:rPr>
              <a:t>34.7%</a:t>
            </a:r>
            <a:endParaRPr lang="en-US" sz="1300" dirty="0"/>
          </a:p>
        </p:txBody>
      </p:sp>
      <p:sp>
        <p:nvSpPr>
          <p:cNvPr id="24" name="Shape 22"/>
          <p:cNvSpPr/>
          <p:nvPr/>
        </p:nvSpPr>
        <p:spPr>
          <a:xfrm>
            <a:off x="1047750" y="3995291"/>
            <a:ext cx="609600" cy="730250"/>
          </a:xfrm>
          <a:prstGeom prst="roundRect">
            <a:avLst>
              <a:gd name="adj" fmla="val 6250"/>
            </a:avLst>
          </a:prstGeom>
          <a:solidFill>
            <a:srgbClr val="3A4152"/>
          </a:solidFill>
          <a:ln/>
        </p:spPr>
      </p:sp>
      <p:sp>
        <p:nvSpPr>
          <p:cNvPr id="25" name="Text 23"/>
          <p:cNvSpPr/>
          <p:nvPr/>
        </p:nvSpPr>
        <p:spPr>
          <a:xfrm>
            <a:off x="1059304" y="4763641"/>
            <a:ext cx="586442"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A3ABBA"/>
                </a:solidFill>
                <a:latin typeface="Space Grotesk" pitchFamily="34" charset="0"/>
                <a:ea typeface="Space Grotesk" pitchFamily="34" charset="-122"/>
                <a:cs typeface="Space Grotesk" pitchFamily="34" charset="-120"/>
              </a:rPr>
              <a:t>Dense</a:t>
            </a:r>
            <a:endParaRPr lang="en-US" sz="1300" dirty="0"/>
          </a:p>
        </p:txBody>
      </p:sp>
      <p:sp>
        <p:nvSpPr>
          <p:cNvPr id="26" name="Text 24"/>
          <p:cNvSpPr/>
          <p:nvPr/>
        </p:nvSpPr>
        <p:spPr>
          <a:xfrm>
            <a:off x="1059557" y="5032871"/>
            <a:ext cx="636786"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baseline</a:t>
            </a:r>
            <a:endParaRPr lang="en-US" sz="1200" dirty="0"/>
          </a:p>
        </p:txBody>
      </p:sp>
      <p:sp>
        <p:nvSpPr>
          <p:cNvPr id="27" name="Text 25"/>
          <p:cNvSpPr/>
          <p:nvPr/>
        </p:nvSpPr>
        <p:spPr>
          <a:xfrm>
            <a:off x="2241233" y="3370461"/>
            <a:ext cx="59436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JetBrains Mono" pitchFamily="49" charset="0"/>
                <a:ea typeface="JetBrains Mono" pitchFamily="49" charset="-122"/>
                <a:cs typeface="JetBrains Mono" pitchFamily="49" charset="-120"/>
              </a:rPr>
              <a:t>51.7%</a:t>
            </a:r>
            <a:endParaRPr lang="en-US" sz="1300" dirty="0"/>
          </a:p>
        </p:txBody>
      </p:sp>
      <p:sp>
        <p:nvSpPr>
          <p:cNvPr id="28" name="Shape 26"/>
          <p:cNvSpPr/>
          <p:nvPr/>
        </p:nvSpPr>
        <p:spPr>
          <a:xfrm>
            <a:off x="2233613" y="3639691"/>
            <a:ext cx="609600" cy="1085850"/>
          </a:xfrm>
          <a:prstGeom prst="roundRect">
            <a:avLst>
              <a:gd name="adj" fmla="val 6250"/>
            </a:avLst>
          </a:prstGeom>
          <a:solidFill>
            <a:srgbClr val="6B7386"/>
          </a:solidFill>
          <a:ln/>
        </p:spPr>
      </p:sp>
      <p:sp>
        <p:nvSpPr>
          <p:cNvPr id="29" name="Text 27"/>
          <p:cNvSpPr/>
          <p:nvPr/>
        </p:nvSpPr>
        <p:spPr>
          <a:xfrm>
            <a:off x="2341845" y="4763641"/>
            <a:ext cx="393085"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Space Grotesk" pitchFamily="34" charset="0"/>
                <a:ea typeface="Space Grotesk" pitchFamily="34" charset="-122"/>
                <a:cs typeface="Space Grotesk" pitchFamily="34" charset="-120"/>
              </a:rPr>
              <a:t>CNN</a:t>
            </a:r>
            <a:endParaRPr lang="en-US" sz="1300" dirty="0"/>
          </a:p>
        </p:txBody>
      </p:sp>
      <p:sp>
        <p:nvSpPr>
          <p:cNvPr id="30" name="Text 28"/>
          <p:cNvSpPr/>
          <p:nvPr/>
        </p:nvSpPr>
        <p:spPr>
          <a:xfrm>
            <a:off x="2256383" y="5032871"/>
            <a:ext cx="614859"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de base</a:t>
            </a:r>
            <a:endParaRPr lang="en-US" sz="1200" dirty="0"/>
          </a:p>
        </p:txBody>
      </p:sp>
      <p:sp>
        <p:nvSpPr>
          <p:cNvPr id="31" name="Text 29"/>
          <p:cNvSpPr/>
          <p:nvPr/>
        </p:nvSpPr>
        <p:spPr>
          <a:xfrm>
            <a:off x="3427095" y="3383161"/>
            <a:ext cx="59436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JetBrains Mono" pitchFamily="49" charset="0"/>
                <a:ea typeface="JetBrains Mono" pitchFamily="49" charset="-122"/>
                <a:cs typeface="JetBrains Mono" pitchFamily="49" charset="-120"/>
              </a:rPr>
              <a:t>51.1%</a:t>
            </a:r>
            <a:endParaRPr lang="en-US" sz="1300" dirty="0"/>
          </a:p>
        </p:txBody>
      </p:sp>
      <p:sp>
        <p:nvSpPr>
          <p:cNvPr id="32" name="Shape 30"/>
          <p:cNvSpPr/>
          <p:nvPr/>
        </p:nvSpPr>
        <p:spPr>
          <a:xfrm>
            <a:off x="3419475" y="3652391"/>
            <a:ext cx="609600" cy="1073150"/>
          </a:xfrm>
          <a:prstGeom prst="roundRect">
            <a:avLst>
              <a:gd name="adj" fmla="val 6250"/>
            </a:avLst>
          </a:prstGeom>
          <a:solidFill>
            <a:srgbClr val="EDEFF3"/>
          </a:solidFill>
          <a:ln/>
        </p:spPr>
      </p:sp>
      <p:sp>
        <p:nvSpPr>
          <p:cNvPr id="33" name="Text 31"/>
          <p:cNvSpPr/>
          <p:nvPr/>
        </p:nvSpPr>
        <p:spPr>
          <a:xfrm>
            <a:off x="3599607" y="4763641"/>
            <a:ext cx="249287"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Space Grotesk" pitchFamily="34" charset="0"/>
                <a:ea typeface="Space Grotesk" pitchFamily="34" charset="-122"/>
                <a:cs typeface="Space Grotesk" pitchFamily="34" charset="-120"/>
              </a:rPr>
              <a:t>E0</a:t>
            </a:r>
            <a:endParaRPr lang="en-US" sz="1300" dirty="0"/>
          </a:p>
        </p:txBody>
      </p:sp>
      <p:sp>
        <p:nvSpPr>
          <p:cNvPr id="34" name="Text 32"/>
          <p:cNvSpPr/>
          <p:nvPr/>
        </p:nvSpPr>
        <p:spPr>
          <a:xfrm>
            <a:off x="3261320" y="5032871"/>
            <a:ext cx="97666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LR qui baisse</a:t>
            </a:r>
            <a:endParaRPr lang="en-US" sz="1200" dirty="0"/>
          </a:p>
        </p:txBody>
      </p:sp>
      <p:sp>
        <p:nvSpPr>
          <p:cNvPr id="35" name="Text 33"/>
          <p:cNvSpPr/>
          <p:nvPr/>
        </p:nvSpPr>
        <p:spPr>
          <a:xfrm>
            <a:off x="4612958" y="3395861"/>
            <a:ext cx="59436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JetBrains Mono" pitchFamily="49" charset="0"/>
                <a:ea typeface="JetBrains Mono" pitchFamily="49" charset="-122"/>
                <a:cs typeface="JetBrains Mono" pitchFamily="49" charset="-120"/>
              </a:rPr>
              <a:t>50.5%</a:t>
            </a:r>
            <a:endParaRPr lang="en-US" sz="1300" dirty="0"/>
          </a:p>
        </p:txBody>
      </p:sp>
      <p:sp>
        <p:nvSpPr>
          <p:cNvPr id="36" name="Shape 34"/>
          <p:cNvSpPr/>
          <p:nvPr/>
        </p:nvSpPr>
        <p:spPr>
          <a:xfrm>
            <a:off x="4605338" y="3665091"/>
            <a:ext cx="609600" cy="1060450"/>
          </a:xfrm>
          <a:prstGeom prst="roundRect">
            <a:avLst>
              <a:gd name="adj" fmla="val 6250"/>
            </a:avLst>
          </a:prstGeom>
          <a:solidFill>
            <a:srgbClr val="7FB0FF"/>
          </a:solidFill>
          <a:ln/>
        </p:spPr>
      </p:sp>
      <p:sp>
        <p:nvSpPr>
          <p:cNvPr id="37" name="Text 35"/>
          <p:cNvSpPr/>
          <p:nvPr/>
        </p:nvSpPr>
        <p:spPr>
          <a:xfrm>
            <a:off x="4801691" y="4763641"/>
            <a:ext cx="216892"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7FB0FF"/>
                </a:solidFill>
                <a:latin typeface="Space Grotesk" pitchFamily="34" charset="0"/>
                <a:ea typeface="Space Grotesk" pitchFamily="34" charset="-122"/>
                <a:cs typeface="Space Grotesk" pitchFamily="34" charset="-120"/>
              </a:rPr>
              <a:t>E1</a:t>
            </a:r>
            <a:endParaRPr lang="en-US" sz="1300" dirty="0"/>
          </a:p>
        </p:txBody>
      </p:sp>
      <p:sp>
        <p:nvSpPr>
          <p:cNvPr id="38" name="Text 36"/>
          <p:cNvSpPr/>
          <p:nvPr/>
        </p:nvSpPr>
        <p:spPr>
          <a:xfrm>
            <a:off x="4689128" y="5032871"/>
            <a:ext cx="4927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Dense</a:t>
            </a:r>
            <a:endParaRPr lang="en-US" sz="1200" dirty="0"/>
          </a:p>
        </p:txBody>
      </p:sp>
      <p:sp>
        <p:nvSpPr>
          <p:cNvPr id="39" name="Text 37"/>
          <p:cNvSpPr/>
          <p:nvPr/>
        </p:nvSpPr>
        <p:spPr>
          <a:xfrm>
            <a:off x="5798820" y="3389511"/>
            <a:ext cx="59436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JetBrains Mono" pitchFamily="49" charset="0"/>
                <a:ea typeface="JetBrains Mono" pitchFamily="49" charset="-122"/>
                <a:cs typeface="JetBrains Mono" pitchFamily="49" charset="-120"/>
              </a:rPr>
              <a:t>50.8%</a:t>
            </a:r>
            <a:endParaRPr lang="en-US" sz="1300" dirty="0"/>
          </a:p>
        </p:txBody>
      </p:sp>
      <p:sp>
        <p:nvSpPr>
          <p:cNvPr id="40" name="Shape 38"/>
          <p:cNvSpPr/>
          <p:nvPr/>
        </p:nvSpPr>
        <p:spPr>
          <a:xfrm>
            <a:off x="5791200" y="3658741"/>
            <a:ext cx="609600" cy="1066800"/>
          </a:xfrm>
          <a:prstGeom prst="roundRect">
            <a:avLst>
              <a:gd name="adj" fmla="val 6250"/>
            </a:avLst>
          </a:prstGeom>
          <a:solidFill>
            <a:srgbClr val="F5B841"/>
          </a:solidFill>
          <a:ln/>
        </p:spPr>
      </p:sp>
      <p:sp>
        <p:nvSpPr>
          <p:cNvPr id="41" name="Text 39"/>
          <p:cNvSpPr/>
          <p:nvPr/>
        </p:nvSpPr>
        <p:spPr>
          <a:xfrm>
            <a:off x="5829717" y="4763641"/>
            <a:ext cx="532567"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F5B841"/>
                </a:solidFill>
                <a:latin typeface="Space Grotesk" pitchFamily="34" charset="0"/>
                <a:ea typeface="Space Grotesk" pitchFamily="34" charset="-122"/>
                <a:cs typeface="Space Grotesk" pitchFamily="34" charset="-120"/>
              </a:rPr>
              <a:t>E1 bis</a:t>
            </a:r>
            <a:endParaRPr lang="en-US" sz="1300" dirty="0"/>
          </a:p>
        </p:txBody>
      </p:sp>
      <p:sp>
        <p:nvSpPr>
          <p:cNvPr id="42" name="Text 40"/>
          <p:cNvSpPr/>
          <p:nvPr/>
        </p:nvSpPr>
        <p:spPr>
          <a:xfrm>
            <a:off x="5699522" y="5032871"/>
            <a:ext cx="843756"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BatchNorm</a:t>
            </a:r>
            <a:endParaRPr lang="en-US" sz="1200" dirty="0"/>
          </a:p>
        </p:txBody>
      </p:sp>
      <p:sp>
        <p:nvSpPr>
          <p:cNvPr id="43" name="Text 41"/>
          <p:cNvSpPr/>
          <p:nvPr/>
        </p:nvSpPr>
        <p:spPr>
          <a:xfrm>
            <a:off x="6984683" y="3389511"/>
            <a:ext cx="59436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JetBrains Mono" pitchFamily="49" charset="0"/>
                <a:ea typeface="JetBrains Mono" pitchFamily="49" charset="-122"/>
                <a:cs typeface="JetBrains Mono" pitchFamily="49" charset="-120"/>
              </a:rPr>
              <a:t>50.8%</a:t>
            </a:r>
            <a:endParaRPr lang="en-US" sz="1300" dirty="0"/>
          </a:p>
        </p:txBody>
      </p:sp>
      <p:sp>
        <p:nvSpPr>
          <p:cNvPr id="44" name="Shape 42"/>
          <p:cNvSpPr/>
          <p:nvPr/>
        </p:nvSpPr>
        <p:spPr>
          <a:xfrm>
            <a:off x="6977063" y="3658741"/>
            <a:ext cx="609600" cy="1066800"/>
          </a:xfrm>
          <a:prstGeom prst="roundRect">
            <a:avLst>
              <a:gd name="adj" fmla="val 6250"/>
            </a:avLst>
          </a:prstGeom>
          <a:solidFill>
            <a:srgbClr val="C4A1FF"/>
          </a:solidFill>
          <a:ln/>
        </p:spPr>
      </p:sp>
      <p:sp>
        <p:nvSpPr>
          <p:cNvPr id="45" name="Text 43"/>
          <p:cNvSpPr/>
          <p:nvPr/>
        </p:nvSpPr>
        <p:spPr>
          <a:xfrm>
            <a:off x="7161659" y="4763641"/>
            <a:ext cx="240357"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C4A1FF"/>
                </a:solidFill>
                <a:latin typeface="Space Grotesk" pitchFamily="34" charset="0"/>
                <a:ea typeface="Space Grotesk" pitchFamily="34" charset="-122"/>
                <a:cs typeface="Space Grotesk" pitchFamily="34" charset="-120"/>
              </a:rPr>
              <a:t>E2</a:t>
            </a:r>
            <a:endParaRPr lang="en-US" sz="1300" dirty="0"/>
          </a:p>
        </p:txBody>
      </p:sp>
      <p:sp>
        <p:nvSpPr>
          <p:cNvPr id="46" name="Text 44"/>
          <p:cNvSpPr/>
          <p:nvPr/>
        </p:nvSpPr>
        <p:spPr>
          <a:xfrm>
            <a:off x="6991052" y="5032871"/>
            <a:ext cx="63237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Dropout</a:t>
            </a:r>
            <a:endParaRPr lang="en-US" sz="1200" dirty="0"/>
          </a:p>
        </p:txBody>
      </p:sp>
      <p:sp>
        <p:nvSpPr>
          <p:cNvPr id="47" name="Text 45"/>
          <p:cNvSpPr/>
          <p:nvPr/>
        </p:nvSpPr>
        <p:spPr>
          <a:xfrm>
            <a:off x="8170545" y="3345061"/>
            <a:ext cx="59436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JetBrains Mono" pitchFamily="49" charset="0"/>
                <a:ea typeface="JetBrains Mono" pitchFamily="49" charset="-122"/>
                <a:cs typeface="JetBrains Mono" pitchFamily="49" charset="-120"/>
              </a:rPr>
              <a:t>52.9%</a:t>
            </a:r>
            <a:endParaRPr lang="en-US" sz="1300" dirty="0"/>
          </a:p>
        </p:txBody>
      </p:sp>
      <p:sp>
        <p:nvSpPr>
          <p:cNvPr id="48" name="Shape 46"/>
          <p:cNvSpPr/>
          <p:nvPr/>
        </p:nvSpPr>
        <p:spPr>
          <a:xfrm>
            <a:off x="8162925" y="3614291"/>
            <a:ext cx="609600" cy="1111250"/>
          </a:xfrm>
          <a:prstGeom prst="roundRect">
            <a:avLst>
              <a:gd name="adj" fmla="val 6250"/>
            </a:avLst>
          </a:prstGeom>
          <a:solidFill>
            <a:srgbClr val="5DD6A2"/>
          </a:solidFill>
          <a:ln/>
        </p:spPr>
      </p:sp>
      <p:sp>
        <p:nvSpPr>
          <p:cNvPr id="49" name="Text 47"/>
          <p:cNvSpPr/>
          <p:nvPr/>
        </p:nvSpPr>
        <p:spPr>
          <a:xfrm>
            <a:off x="8346380" y="4763641"/>
            <a:ext cx="242689"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5DD6A2"/>
                </a:solidFill>
                <a:latin typeface="Space Grotesk" pitchFamily="34" charset="0"/>
                <a:ea typeface="Space Grotesk" pitchFamily="34" charset="-122"/>
                <a:cs typeface="Space Grotesk" pitchFamily="34" charset="-120"/>
              </a:rPr>
              <a:t>E3</a:t>
            </a:r>
            <a:endParaRPr lang="en-US" sz="1300" dirty="0"/>
          </a:p>
        </p:txBody>
      </p:sp>
      <p:sp>
        <p:nvSpPr>
          <p:cNvPr id="50" name="Text 48"/>
          <p:cNvSpPr/>
          <p:nvPr/>
        </p:nvSpPr>
        <p:spPr>
          <a:xfrm>
            <a:off x="8211840" y="5032871"/>
            <a:ext cx="5625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2 blocs</a:t>
            </a:r>
            <a:endParaRPr lang="en-US" sz="1200" dirty="0"/>
          </a:p>
        </p:txBody>
      </p:sp>
      <p:sp>
        <p:nvSpPr>
          <p:cNvPr id="51" name="Text 49"/>
          <p:cNvSpPr/>
          <p:nvPr/>
        </p:nvSpPr>
        <p:spPr>
          <a:xfrm>
            <a:off x="9356408" y="3192661"/>
            <a:ext cx="59436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FF9B7A"/>
                </a:solidFill>
                <a:latin typeface="JetBrains Mono" pitchFamily="49" charset="0"/>
                <a:ea typeface="JetBrains Mono" pitchFamily="49" charset="-122"/>
                <a:cs typeface="JetBrains Mono" pitchFamily="49" charset="-120"/>
              </a:rPr>
              <a:t>60.3%</a:t>
            </a:r>
            <a:endParaRPr lang="en-US" sz="1300" dirty="0"/>
          </a:p>
        </p:txBody>
      </p:sp>
      <p:sp>
        <p:nvSpPr>
          <p:cNvPr id="52" name="Shape 50"/>
          <p:cNvSpPr/>
          <p:nvPr/>
        </p:nvSpPr>
        <p:spPr>
          <a:xfrm>
            <a:off x="9348788" y="3461891"/>
            <a:ext cx="609600" cy="1263650"/>
          </a:xfrm>
          <a:prstGeom prst="roundRect">
            <a:avLst>
              <a:gd name="adj" fmla="val 6250"/>
            </a:avLst>
          </a:prstGeom>
          <a:solidFill>
            <a:srgbClr val="FF9B7A"/>
          </a:solidFill>
          <a:ln/>
        </p:spPr>
      </p:sp>
      <p:sp>
        <p:nvSpPr>
          <p:cNvPr id="53" name="Text 51"/>
          <p:cNvSpPr/>
          <p:nvPr/>
        </p:nvSpPr>
        <p:spPr>
          <a:xfrm>
            <a:off x="9529911" y="4763641"/>
            <a:ext cx="247303"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FF9B7A"/>
                </a:solidFill>
                <a:latin typeface="Space Grotesk" pitchFamily="34" charset="0"/>
                <a:ea typeface="Space Grotesk" pitchFamily="34" charset="-122"/>
                <a:cs typeface="Space Grotesk" pitchFamily="34" charset="-120"/>
              </a:rPr>
              <a:t>E4</a:t>
            </a:r>
            <a:endParaRPr lang="en-US" sz="1300" dirty="0"/>
          </a:p>
        </p:txBody>
      </p:sp>
      <p:sp>
        <p:nvSpPr>
          <p:cNvPr id="54" name="Text 52"/>
          <p:cNvSpPr/>
          <p:nvPr/>
        </p:nvSpPr>
        <p:spPr>
          <a:xfrm>
            <a:off x="9163695" y="5032871"/>
            <a:ext cx="1030585"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augmentation</a:t>
            </a:r>
            <a:endParaRPr lang="en-US" sz="1200" dirty="0"/>
          </a:p>
        </p:txBody>
      </p:sp>
      <p:sp>
        <p:nvSpPr>
          <p:cNvPr id="55" name="Text 53"/>
          <p:cNvSpPr/>
          <p:nvPr/>
        </p:nvSpPr>
        <p:spPr>
          <a:xfrm>
            <a:off x="10542270" y="3281561"/>
            <a:ext cx="59436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JetBrains Mono" pitchFamily="49" charset="0"/>
                <a:ea typeface="JetBrains Mono" pitchFamily="49" charset="-122"/>
                <a:cs typeface="JetBrains Mono" pitchFamily="49" charset="-120"/>
              </a:rPr>
              <a:t>56.2%</a:t>
            </a:r>
            <a:endParaRPr lang="en-US" sz="1300" dirty="0"/>
          </a:p>
        </p:txBody>
      </p:sp>
      <p:sp>
        <p:nvSpPr>
          <p:cNvPr id="56" name="Shape 54"/>
          <p:cNvSpPr/>
          <p:nvPr/>
        </p:nvSpPr>
        <p:spPr>
          <a:xfrm>
            <a:off x="10534650" y="3550791"/>
            <a:ext cx="609600" cy="1174750"/>
          </a:xfrm>
          <a:prstGeom prst="roundRect">
            <a:avLst>
              <a:gd name="adj" fmla="val 6250"/>
            </a:avLst>
          </a:prstGeom>
          <a:solidFill>
            <a:srgbClr val="EDEFF3"/>
          </a:solidFill>
          <a:ln/>
        </p:spPr>
      </p:sp>
      <p:sp>
        <p:nvSpPr>
          <p:cNvPr id="57" name="Text 55"/>
          <p:cNvSpPr/>
          <p:nvPr/>
        </p:nvSpPr>
        <p:spPr>
          <a:xfrm>
            <a:off x="10718750" y="4763641"/>
            <a:ext cx="24135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Space Grotesk" pitchFamily="34" charset="0"/>
                <a:ea typeface="Space Grotesk" pitchFamily="34" charset="-122"/>
                <a:cs typeface="Space Grotesk" pitchFamily="34" charset="-120"/>
              </a:rPr>
              <a:t>E5</a:t>
            </a:r>
            <a:endParaRPr lang="en-US" sz="1300" dirty="0"/>
          </a:p>
        </p:txBody>
      </p:sp>
      <p:sp>
        <p:nvSpPr>
          <p:cNvPr id="58" name="Text 56"/>
          <p:cNvSpPr/>
          <p:nvPr/>
        </p:nvSpPr>
        <p:spPr>
          <a:xfrm>
            <a:off x="10361861" y="5032871"/>
            <a:ext cx="1005929"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poids classes</a:t>
            </a:r>
            <a:endParaRPr lang="en-US" sz="1200" dirty="0"/>
          </a:p>
        </p:txBody>
      </p:sp>
      <p:sp>
        <p:nvSpPr>
          <p:cNvPr id="59" name="Text 5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Accuracy de validation, 5 739 images. E4 : modèle retenu, meilleure accuracy et plus petite loss (1.075).</a:t>
            </a:r>
            <a:endParaRPr lang="en-US" sz="1200" dirty="0"/>
          </a:p>
        </p:txBody>
      </p:sp>
      <p:sp>
        <p:nvSpPr>
          <p:cNvPr id="60" name="Text 5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Space Grotesk" pitchFamily="34" charset="0"/>
                <a:ea typeface="Space Grotesk" pitchFamily="34" charset="-122"/>
                <a:cs typeface="Space Grotesk"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2789982"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PARTIE 6 · CHOIX DU MODÈLE</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DEFF3"/>
                </a:solidFill>
                <a:latin typeface="Space Grotesk" pitchFamily="34" charset="0"/>
                <a:ea typeface="Space Grotesk" pitchFamily="34" charset="-122"/>
                <a:cs typeface="Space Grotesk" pitchFamily="34" charset="-120"/>
              </a:rPr>
              <a:t>Choisir le modèle : l'accuracy ne suffit pas</a:t>
            </a:r>
            <a:endParaRPr lang="en-US" sz="2800" dirty="0"/>
          </a:p>
        </p:txBody>
      </p:sp>
      <p:sp>
        <p:nvSpPr>
          <p:cNvPr id="4" name="Text 2"/>
          <p:cNvSpPr/>
          <p:nvPr/>
        </p:nvSpPr>
        <p:spPr>
          <a:xfrm>
            <a:off x="812800" y="1823641"/>
            <a:ext cx="6278880"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Classes déséquilibrées.</a:t>
            </a:r>
            <a:r>
              <a:rPr lang="en-US" sz="1300" dirty="0">
                <a:solidFill>
                  <a:srgbClr val="A3ABBA"/>
                </a:solidFill>
                <a:latin typeface="DM Sans" pitchFamily="34" charset="0"/>
                <a:ea typeface="DM Sans" pitchFamily="34" charset="-122"/>
                <a:cs typeface="DM Sans" pitchFamily="34" charset="-120"/>
              </a:rPr>
              <a:t> disgust, c'est 70 images sur 5 739 en validation : l'accuracy ne la voit presque pas. On compare donc E4 et E5 sur quatre métriques.</a:t>
            </a:r>
            <a:endParaRPr lang="en-US" sz="1300" dirty="0"/>
          </a:p>
        </p:txBody>
      </p:sp>
      <p:sp>
        <p:nvSpPr>
          <p:cNvPr id="5" name="Text 3"/>
          <p:cNvSpPr/>
          <p:nvPr/>
        </p:nvSpPr>
        <p:spPr>
          <a:xfrm>
            <a:off x="812800" y="2769741"/>
            <a:ext cx="16383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DEFF3"/>
                </a:solidFill>
                <a:latin typeface="Space Grotesk" pitchFamily="34" charset="0"/>
                <a:ea typeface="Space Grotesk" pitchFamily="34" charset="-122"/>
                <a:cs typeface="Space Grotesk" pitchFamily="34" charset="-120"/>
              </a:rPr>
              <a:t>Accuracy</a:t>
            </a:r>
            <a:endParaRPr lang="en-US" sz="1400" dirty="0"/>
          </a:p>
        </p:txBody>
      </p:sp>
      <p:sp>
        <p:nvSpPr>
          <p:cNvPr id="6" name="Text 4"/>
          <p:cNvSpPr/>
          <p:nvPr/>
        </p:nvSpPr>
        <p:spPr>
          <a:xfrm>
            <a:off x="2527300" y="2644031"/>
            <a:ext cx="36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B7A"/>
                </a:solidFill>
                <a:latin typeface="JetBrains Mono" pitchFamily="49" charset="0"/>
                <a:ea typeface="JetBrains Mono" pitchFamily="49" charset="-122"/>
                <a:cs typeface="JetBrains Mono" pitchFamily="49" charset="-120"/>
              </a:rPr>
              <a:t>E4</a:t>
            </a:r>
            <a:endParaRPr lang="en-US" sz="1200" dirty="0"/>
          </a:p>
        </p:txBody>
      </p:sp>
      <p:sp>
        <p:nvSpPr>
          <p:cNvPr id="7" name="Shape 5"/>
          <p:cNvSpPr/>
          <p:nvPr/>
        </p:nvSpPr>
        <p:spPr>
          <a:xfrm>
            <a:off x="2921000" y="2655441"/>
            <a:ext cx="3060700" cy="190500"/>
          </a:xfrm>
          <a:prstGeom prst="roundRect">
            <a:avLst>
              <a:gd name="adj" fmla="val 13333"/>
            </a:avLst>
          </a:prstGeom>
          <a:solidFill>
            <a:srgbClr val="FF9B7A"/>
          </a:solidFill>
          <a:ln/>
        </p:spPr>
      </p:sp>
      <p:sp>
        <p:nvSpPr>
          <p:cNvPr id="8" name="Text 6"/>
          <p:cNvSpPr/>
          <p:nvPr/>
        </p:nvSpPr>
        <p:spPr>
          <a:xfrm>
            <a:off x="6057900" y="2644031"/>
            <a:ext cx="5486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B841"/>
                </a:solidFill>
                <a:latin typeface="JetBrains Mono" pitchFamily="49" charset="0"/>
                <a:ea typeface="JetBrains Mono" pitchFamily="49" charset="-122"/>
                <a:cs typeface="JetBrains Mono" pitchFamily="49" charset="-120"/>
              </a:rPr>
              <a:t>60.3%</a:t>
            </a:r>
            <a:endParaRPr lang="en-US" sz="1200" dirty="0"/>
          </a:p>
        </p:txBody>
      </p:sp>
      <p:sp>
        <p:nvSpPr>
          <p:cNvPr id="9" name="Text 7"/>
          <p:cNvSpPr/>
          <p:nvPr/>
        </p:nvSpPr>
        <p:spPr>
          <a:xfrm>
            <a:off x="2527300" y="2895451"/>
            <a:ext cx="36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FF3"/>
                </a:solidFill>
                <a:latin typeface="JetBrains Mono" pitchFamily="49" charset="0"/>
                <a:ea typeface="JetBrains Mono" pitchFamily="49" charset="-122"/>
                <a:cs typeface="JetBrains Mono" pitchFamily="49" charset="-120"/>
              </a:rPr>
              <a:t>E5</a:t>
            </a:r>
            <a:endParaRPr lang="en-US" sz="1200" dirty="0"/>
          </a:p>
        </p:txBody>
      </p:sp>
      <p:sp>
        <p:nvSpPr>
          <p:cNvPr id="10" name="Shape 8"/>
          <p:cNvSpPr/>
          <p:nvPr/>
        </p:nvSpPr>
        <p:spPr>
          <a:xfrm>
            <a:off x="2921000" y="2906861"/>
            <a:ext cx="2857500" cy="190500"/>
          </a:xfrm>
          <a:prstGeom prst="roundRect">
            <a:avLst>
              <a:gd name="adj" fmla="val 13333"/>
            </a:avLst>
          </a:prstGeom>
          <a:solidFill>
            <a:srgbClr val="EDEFF3"/>
          </a:solidFill>
          <a:ln/>
        </p:spPr>
      </p:sp>
      <p:sp>
        <p:nvSpPr>
          <p:cNvPr id="11" name="Text 9"/>
          <p:cNvSpPr/>
          <p:nvPr/>
        </p:nvSpPr>
        <p:spPr>
          <a:xfrm>
            <a:off x="5854700" y="2895451"/>
            <a:ext cx="548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JetBrains Mono" pitchFamily="49" charset="0"/>
                <a:ea typeface="JetBrains Mono" pitchFamily="49" charset="-122"/>
                <a:cs typeface="JetBrains Mono" pitchFamily="49" charset="-120"/>
              </a:rPr>
              <a:t>56.2%</a:t>
            </a:r>
            <a:endParaRPr lang="en-US" sz="1200" dirty="0"/>
          </a:p>
        </p:txBody>
      </p:sp>
      <p:sp>
        <p:nvSpPr>
          <p:cNvPr id="12" name="Text 10"/>
          <p:cNvSpPr/>
          <p:nvPr/>
        </p:nvSpPr>
        <p:spPr>
          <a:xfrm>
            <a:off x="812800" y="3361482"/>
            <a:ext cx="16383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DEFF3"/>
                </a:solidFill>
                <a:latin typeface="Space Grotesk" pitchFamily="34" charset="0"/>
                <a:ea typeface="Space Grotesk" pitchFamily="34" charset="-122"/>
                <a:cs typeface="Space Grotesk" pitchFamily="34" charset="-120"/>
              </a:rPr>
              <a:t>Rappel disgust</a:t>
            </a:r>
            <a:endParaRPr lang="en-US" sz="1400" dirty="0"/>
          </a:p>
        </p:txBody>
      </p:sp>
      <p:sp>
        <p:nvSpPr>
          <p:cNvPr id="13" name="Text 11"/>
          <p:cNvSpPr/>
          <p:nvPr/>
        </p:nvSpPr>
        <p:spPr>
          <a:xfrm>
            <a:off x="2527300" y="3235771"/>
            <a:ext cx="36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B7A"/>
                </a:solidFill>
                <a:latin typeface="JetBrains Mono" pitchFamily="49" charset="0"/>
                <a:ea typeface="JetBrains Mono" pitchFamily="49" charset="-122"/>
                <a:cs typeface="JetBrains Mono" pitchFamily="49" charset="-120"/>
              </a:rPr>
              <a:t>E4</a:t>
            </a:r>
            <a:endParaRPr lang="en-US" sz="1200" dirty="0"/>
          </a:p>
        </p:txBody>
      </p:sp>
      <p:sp>
        <p:nvSpPr>
          <p:cNvPr id="14" name="Shape 12"/>
          <p:cNvSpPr/>
          <p:nvPr/>
        </p:nvSpPr>
        <p:spPr>
          <a:xfrm>
            <a:off x="2921000" y="3247182"/>
            <a:ext cx="1454150" cy="190500"/>
          </a:xfrm>
          <a:prstGeom prst="roundRect">
            <a:avLst>
              <a:gd name="adj" fmla="val 13333"/>
            </a:avLst>
          </a:prstGeom>
          <a:solidFill>
            <a:srgbClr val="FF9B7A"/>
          </a:solidFill>
          <a:ln/>
        </p:spPr>
      </p:sp>
      <p:sp>
        <p:nvSpPr>
          <p:cNvPr id="15" name="Text 13"/>
          <p:cNvSpPr/>
          <p:nvPr/>
        </p:nvSpPr>
        <p:spPr>
          <a:xfrm>
            <a:off x="4451350" y="3235771"/>
            <a:ext cx="548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JetBrains Mono" pitchFamily="49" charset="0"/>
                <a:ea typeface="JetBrains Mono" pitchFamily="49" charset="-122"/>
                <a:cs typeface="JetBrains Mono" pitchFamily="49" charset="-120"/>
              </a:rPr>
              <a:t>28.6%</a:t>
            </a:r>
            <a:endParaRPr lang="en-US" sz="1200" dirty="0"/>
          </a:p>
        </p:txBody>
      </p:sp>
      <p:sp>
        <p:nvSpPr>
          <p:cNvPr id="16" name="Text 14"/>
          <p:cNvSpPr/>
          <p:nvPr/>
        </p:nvSpPr>
        <p:spPr>
          <a:xfrm>
            <a:off x="2527300" y="3487192"/>
            <a:ext cx="36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FF3"/>
                </a:solidFill>
                <a:latin typeface="JetBrains Mono" pitchFamily="49" charset="0"/>
                <a:ea typeface="JetBrains Mono" pitchFamily="49" charset="-122"/>
                <a:cs typeface="JetBrains Mono" pitchFamily="49" charset="-120"/>
              </a:rPr>
              <a:t>E5</a:t>
            </a:r>
            <a:endParaRPr lang="en-US" sz="1200" dirty="0"/>
          </a:p>
        </p:txBody>
      </p:sp>
      <p:sp>
        <p:nvSpPr>
          <p:cNvPr id="17" name="Shape 15"/>
          <p:cNvSpPr/>
          <p:nvPr/>
        </p:nvSpPr>
        <p:spPr>
          <a:xfrm>
            <a:off x="2921000" y="3498602"/>
            <a:ext cx="3194050" cy="190500"/>
          </a:xfrm>
          <a:prstGeom prst="roundRect">
            <a:avLst>
              <a:gd name="adj" fmla="val 13333"/>
            </a:avLst>
          </a:prstGeom>
          <a:solidFill>
            <a:srgbClr val="EDEFF3"/>
          </a:solidFill>
          <a:ln/>
        </p:spPr>
      </p:sp>
      <p:sp>
        <p:nvSpPr>
          <p:cNvPr id="18" name="Text 16"/>
          <p:cNvSpPr/>
          <p:nvPr/>
        </p:nvSpPr>
        <p:spPr>
          <a:xfrm>
            <a:off x="6191250" y="3487192"/>
            <a:ext cx="5486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B841"/>
                </a:solidFill>
                <a:latin typeface="JetBrains Mono" pitchFamily="49" charset="0"/>
                <a:ea typeface="JetBrains Mono" pitchFamily="49" charset="-122"/>
                <a:cs typeface="JetBrains Mono" pitchFamily="49" charset="-120"/>
              </a:rPr>
              <a:t>62.9%</a:t>
            </a:r>
            <a:endParaRPr lang="en-US" sz="1200" dirty="0"/>
          </a:p>
        </p:txBody>
      </p:sp>
      <p:sp>
        <p:nvSpPr>
          <p:cNvPr id="19" name="Text 17"/>
          <p:cNvSpPr/>
          <p:nvPr/>
        </p:nvSpPr>
        <p:spPr>
          <a:xfrm>
            <a:off x="812800" y="3953222"/>
            <a:ext cx="16383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DEFF3"/>
                </a:solidFill>
                <a:latin typeface="Space Grotesk" pitchFamily="34" charset="0"/>
                <a:ea typeface="Space Grotesk" pitchFamily="34" charset="-122"/>
                <a:cs typeface="Space Grotesk" pitchFamily="34" charset="-120"/>
              </a:rPr>
              <a:t>Précision disgust</a:t>
            </a:r>
            <a:endParaRPr lang="en-US" sz="1400" dirty="0"/>
          </a:p>
        </p:txBody>
      </p:sp>
      <p:sp>
        <p:nvSpPr>
          <p:cNvPr id="20" name="Text 18"/>
          <p:cNvSpPr/>
          <p:nvPr/>
        </p:nvSpPr>
        <p:spPr>
          <a:xfrm>
            <a:off x="2527300" y="3827512"/>
            <a:ext cx="36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B7A"/>
                </a:solidFill>
                <a:latin typeface="JetBrains Mono" pitchFamily="49" charset="0"/>
                <a:ea typeface="JetBrains Mono" pitchFamily="49" charset="-122"/>
                <a:cs typeface="JetBrains Mono" pitchFamily="49" charset="-120"/>
              </a:rPr>
              <a:t>E4</a:t>
            </a:r>
            <a:endParaRPr lang="en-US" sz="1200" dirty="0"/>
          </a:p>
        </p:txBody>
      </p:sp>
      <p:sp>
        <p:nvSpPr>
          <p:cNvPr id="21" name="Shape 19"/>
          <p:cNvSpPr/>
          <p:nvPr/>
        </p:nvSpPr>
        <p:spPr>
          <a:xfrm>
            <a:off x="2921000" y="3838922"/>
            <a:ext cx="3079750" cy="190500"/>
          </a:xfrm>
          <a:prstGeom prst="roundRect">
            <a:avLst>
              <a:gd name="adj" fmla="val 13333"/>
            </a:avLst>
          </a:prstGeom>
          <a:solidFill>
            <a:srgbClr val="FF9B7A"/>
          </a:solidFill>
          <a:ln/>
        </p:spPr>
      </p:sp>
      <p:sp>
        <p:nvSpPr>
          <p:cNvPr id="22" name="Text 20"/>
          <p:cNvSpPr/>
          <p:nvPr/>
        </p:nvSpPr>
        <p:spPr>
          <a:xfrm>
            <a:off x="6076950" y="3827512"/>
            <a:ext cx="5486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B841"/>
                </a:solidFill>
                <a:latin typeface="JetBrains Mono" pitchFamily="49" charset="0"/>
                <a:ea typeface="JetBrains Mono" pitchFamily="49" charset="-122"/>
                <a:cs typeface="JetBrains Mono" pitchFamily="49" charset="-120"/>
              </a:rPr>
              <a:t>60.6%</a:t>
            </a:r>
            <a:endParaRPr lang="en-US" sz="1200" dirty="0"/>
          </a:p>
        </p:txBody>
      </p:sp>
      <p:sp>
        <p:nvSpPr>
          <p:cNvPr id="23" name="Text 21"/>
          <p:cNvSpPr/>
          <p:nvPr/>
        </p:nvSpPr>
        <p:spPr>
          <a:xfrm>
            <a:off x="2527300" y="4078932"/>
            <a:ext cx="36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FF3"/>
                </a:solidFill>
                <a:latin typeface="JetBrains Mono" pitchFamily="49" charset="0"/>
                <a:ea typeface="JetBrains Mono" pitchFamily="49" charset="-122"/>
                <a:cs typeface="JetBrains Mono" pitchFamily="49" charset="-120"/>
              </a:rPr>
              <a:t>E5</a:t>
            </a:r>
            <a:endParaRPr lang="en-US" sz="1200" dirty="0"/>
          </a:p>
        </p:txBody>
      </p:sp>
      <p:sp>
        <p:nvSpPr>
          <p:cNvPr id="24" name="Shape 22"/>
          <p:cNvSpPr/>
          <p:nvPr/>
        </p:nvSpPr>
        <p:spPr>
          <a:xfrm>
            <a:off x="2921000" y="4090343"/>
            <a:ext cx="1054100" cy="190500"/>
          </a:xfrm>
          <a:prstGeom prst="roundRect">
            <a:avLst>
              <a:gd name="adj" fmla="val 13333"/>
            </a:avLst>
          </a:prstGeom>
          <a:solidFill>
            <a:srgbClr val="EDEFF3"/>
          </a:solidFill>
          <a:ln/>
        </p:spPr>
      </p:sp>
      <p:sp>
        <p:nvSpPr>
          <p:cNvPr id="25" name="Text 23"/>
          <p:cNvSpPr/>
          <p:nvPr/>
        </p:nvSpPr>
        <p:spPr>
          <a:xfrm>
            <a:off x="4051300" y="4078932"/>
            <a:ext cx="548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JetBrains Mono" pitchFamily="49" charset="0"/>
                <a:ea typeface="JetBrains Mono" pitchFamily="49" charset="-122"/>
                <a:cs typeface="JetBrains Mono" pitchFamily="49" charset="-120"/>
              </a:rPr>
              <a:t>20.7%</a:t>
            </a:r>
            <a:endParaRPr lang="en-US" sz="1200" dirty="0"/>
          </a:p>
        </p:txBody>
      </p:sp>
      <p:sp>
        <p:nvSpPr>
          <p:cNvPr id="26" name="Text 24"/>
          <p:cNvSpPr/>
          <p:nvPr/>
        </p:nvSpPr>
        <p:spPr>
          <a:xfrm>
            <a:off x="812800" y="4544963"/>
            <a:ext cx="16383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DEFF3"/>
                </a:solidFill>
                <a:latin typeface="Space Grotesk" pitchFamily="34" charset="0"/>
                <a:ea typeface="Space Grotesk" pitchFamily="34" charset="-122"/>
                <a:cs typeface="Space Grotesk" pitchFamily="34" charset="-120"/>
              </a:rPr>
              <a:t>F1 disgust</a:t>
            </a:r>
            <a:endParaRPr lang="en-US" sz="1400" dirty="0"/>
          </a:p>
        </p:txBody>
      </p:sp>
      <p:sp>
        <p:nvSpPr>
          <p:cNvPr id="27" name="Text 25"/>
          <p:cNvSpPr/>
          <p:nvPr/>
        </p:nvSpPr>
        <p:spPr>
          <a:xfrm>
            <a:off x="2527300" y="4419253"/>
            <a:ext cx="36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B7A"/>
                </a:solidFill>
                <a:latin typeface="JetBrains Mono" pitchFamily="49" charset="0"/>
                <a:ea typeface="JetBrains Mono" pitchFamily="49" charset="-122"/>
                <a:cs typeface="JetBrains Mono" pitchFamily="49" charset="-120"/>
              </a:rPr>
              <a:t>E4</a:t>
            </a:r>
            <a:endParaRPr lang="en-US" sz="1200" dirty="0"/>
          </a:p>
        </p:txBody>
      </p:sp>
      <p:sp>
        <p:nvSpPr>
          <p:cNvPr id="28" name="Shape 26"/>
          <p:cNvSpPr/>
          <p:nvPr/>
        </p:nvSpPr>
        <p:spPr>
          <a:xfrm>
            <a:off x="2921000" y="4430663"/>
            <a:ext cx="1968500" cy="190500"/>
          </a:xfrm>
          <a:prstGeom prst="roundRect">
            <a:avLst>
              <a:gd name="adj" fmla="val 13333"/>
            </a:avLst>
          </a:prstGeom>
          <a:solidFill>
            <a:srgbClr val="FF9B7A"/>
          </a:solidFill>
          <a:ln/>
        </p:spPr>
      </p:sp>
      <p:sp>
        <p:nvSpPr>
          <p:cNvPr id="29" name="Text 27"/>
          <p:cNvSpPr/>
          <p:nvPr/>
        </p:nvSpPr>
        <p:spPr>
          <a:xfrm>
            <a:off x="4965700" y="4419253"/>
            <a:ext cx="5486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B841"/>
                </a:solidFill>
                <a:latin typeface="JetBrains Mono" pitchFamily="49" charset="0"/>
                <a:ea typeface="JetBrains Mono" pitchFamily="49" charset="-122"/>
                <a:cs typeface="JetBrains Mono" pitchFamily="49" charset="-120"/>
              </a:rPr>
              <a:t>38.8%</a:t>
            </a:r>
            <a:endParaRPr lang="en-US" sz="1200" dirty="0"/>
          </a:p>
        </p:txBody>
      </p:sp>
      <p:sp>
        <p:nvSpPr>
          <p:cNvPr id="30" name="Text 28"/>
          <p:cNvSpPr/>
          <p:nvPr/>
        </p:nvSpPr>
        <p:spPr>
          <a:xfrm>
            <a:off x="2527300" y="4670673"/>
            <a:ext cx="36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FF3"/>
                </a:solidFill>
                <a:latin typeface="JetBrains Mono" pitchFamily="49" charset="0"/>
                <a:ea typeface="JetBrains Mono" pitchFamily="49" charset="-122"/>
                <a:cs typeface="JetBrains Mono" pitchFamily="49" charset="-120"/>
              </a:rPr>
              <a:t>E5</a:t>
            </a:r>
            <a:endParaRPr lang="en-US" sz="1200" dirty="0"/>
          </a:p>
        </p:txBody>
      </p:sp>
      <p:sp>
        <p:nvSpPr>
          <p:cNvPr id="31" name="Shape 29"/>
          <p:cNvSpPr/>
          <p:nvPr/>
        </p:nvSpPr>
        <p:spPr>
          <a:xfrm>
            <a:off x="2921000" y="4682083"/>
            <a:ext cx="1581150" cy="190500"/>
          </a:xfrm>
          <a:prstGeom prst="roundRect">
            <a:avLst>
              <a:gd name="adj" fmla="val 13333"/>
            </a:avLst>
          </a:prstGeom>
          <a:solidFill>
            <a:srgbClr val="EDEFF3"/>
          </a:solidFill>
          <a:ln/>
        </p:spPr>
      </p:sp>
      <p:sp>
        <p:nvSpPr>
          <p:cNvPr id="32" name="Text 30"/>
          <p:cNvSpPr/>
          <p:nvPr/>
        </p:nvSpPr>
        <p:spPr>
          <a:xfrm>
            <a:off x="4578350" y="4670673"/>
            <a:ext cx="548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JetBrains Mono" pitchFamily="49" charset="0"/>
                <a:ea typeface="JetBrains Mono" pitchFamily="49" charset="-122"/>
                <a:cs typeface="JetBrains Mono" pitchFamily="49" charset="-120"/>
              </a:rPr>
              <a:t>31.1%</a:t>
            </a:r>
            <a:endParaRPr lang="en-US" sz="1200" dirty="0"/>
          </a:p>
        </p:txBody>
      </p:sp>
      <p:sp>
        <p:nvSpPr>
          <p:cNvPr id="33" name="Text 31"/>
          <p:cNvSpPr/>
          <p:nvPr/>
        </p:nvSpPr>
        <p:spPr>
          <a:xfrm>
            <a:off x="812800" y="5010993"/>
            <a:ext cx="62788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DEFF3"/>
                </a:solidFill>
                <a:latin typeface="DM Sans" pitchFamily="34" charset="0"/>
                <a:ea typeface="DM Sans" pitchFamily="34" charset="-122"/>
                <a:cs typeface="DM Sans" pitchFamily="34" charset="-120"/>
              </a:rPr>
              <a:t>E5 retrouve plus de disgust, mais quatre de ses réponses disgust sur cinq sont fausses. On retient E4.</a:t>
            </a:r>
            <a:endParaRPr lang="en-US" sz="1300" dirty="0"/>
          </a:p>
        </p:txBody>
      </p:sp>
      <p:sp>
        <p:nvSpPr>
          <p:cNvPr id="34" name="Shape 32"/>
          <p:cNvSpPr/>
          <p:nvPr/>
        </p:nvSpPr>
        <p:spPr>
          <a:xfrm>
            <a:off x="7988300" y="1823641"/>
            <a:ext cx="2565400" cy="2254250"/>
          </a:xfrm>
          <a:prstGeom prst="roundRect">
            <a:avLst>
              <a:gd name="adj" fmla="val 3380"/>
            </a:avLst>
          </a:prstGeom>
          <a:solidFill>
            <a:srgbClr val="FFFFFF"/>
          </a:solidFill>
          <a:ln/>
        </p:spPr>
      </p:sp>
      <p:pic>
        <p:nvPicPr>
          <p:cNvPr id="35" name="Image 0" descr="Matrice de confusion du modèle final E4 sur le jeu de test">    </p:cNvPr>
          <p:cNvPicPr>
            <a:picLocks noChangeAspect="1"/>
          </p:cNvPicPr>
          <p:nvPr/>
        </p:nvPicPr>
        <p:blipFill>
          <a:blip r:embed="rId1"/>
          <a:srcRect l="-48" r="-48" t="0" b="0"/>
          <a:stretch/>
        </p:blipFill>
        <p:spPr>
          <a:xfrm>
            <a:off x="8064500" y="1899841"/>
            <a:ext cx="2413000" cy="2101850"/>
          </a:xfrm>
          <a:prstGeom prst="rect">
            <a:avLst/>
          </a:prstGeom>
        </p:spPr>
      </p:pic>
      <p:sp>
        <p:nvSpPr>
          <p:cNvPr id="36" name="Shape 33"/>
          <p:cNvSpPr/>
          <p:nvPr/>
        </p:nvSpPr>
        <p:spPr>
          <a:xfrm>
            <a:off x="7165975" y="4233466"/>
            <a:ext cx="4210050" cy="1022350"/>
          </a:xfrm>
          <a:prstGeom prst="roundRect">
            <a:avLst>
              <a:gd name="adj" fmla="val 7143"/>
            </a:avLst>
          </a:prstGeom>
          <a:solidFill>
            <a:srgbClr val="0B0D12"/>
          </a:solidFill>
          <a:ln w="6350">
            <a:solidFill>
              <a:srgbClr val="2C3340"/>
            </a:solidFill>
            <a:prstDash val="solid"/>
          </a:ln>
        </p:spPr>
      </p:sp>
      <p:sp>
        <p:nvSpPr>
          <p:cNvPr id="37" name="Text 34"/>
          <p:cNvSpPr/>
          <p:nvPr/>
        </p:nvSpPr>
        <p:spPr>
          <a:xfrm>
            <a:off x="7321550" y="4363641"/>
            <a:ext cx="401586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5B841"/>
                </a:solidFill>
                <a:latin typeface="JetBrains Mono" pitchFamily="49" charset="0"/>
                <a:ea typeface="JetBrains Mono" pitchFamily="49" charset="-122"/>
                <a:cs typeface="JetBrains Mono" pitchFamily="49" charset="-120"/>
              </a:rPr>
              <a:t>accuracy test: 60.7 %</a:t>
            </a:r>
            <a:endParaRPr lang="en-US" sz="1200" dirty="0"/>
          </a:p>
        </p:txBody>
      </p:sp>
      <p:sp>
        <p:nvSpPr>
          <p:cNvPr id="38" name="Text 35"/>
          <p:cNvSpPr/>
          <p:nvPr/>
        </p:nvSpPr>
        <p:spPr>
          <a:xfrm>
            <a:off x="7321550" y="4630341"/>
            <a:ext cx="401586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accuracy val du même modèle: 60.3 %</a:t>
            </a:r>
            <a:endParaRPr lang="en-US" sz="1200" dirty="0"/>
          </a:p>
        </p:txBody>
      </p:sp>
      <p:sp>
        <p:nvSpPr>
          <p:cNvPr id="39" name="Text 36"/>
          <p:cNvSpPr/>
          <p:nvPr/>
        </p:nvSpPr>
        <p:spPr>
          <a:xfrm>
            <a:off x="7321550" y="4897041"/>
            <a:ext cx="401586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toujours happy sur le test: 24.7 %</a:t>
            </a:r>
            <a:endParaRPr lang="en-US" sz="1200" dirty="0"/>
          </a:p>
        </p:txBody>
      </p:sp>
      <p:sp>
        <p:nvSpPr>
          <p:cNvPr id="40" name="Text 3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À gauche, validation (6g), en jaune le meilleur des deux. À droite, le test du modèle final E4, utilisé une seule fois (6i).</a:t>
            </a:r>
            <a:endParaRPr lang="en-US" sz="1200" dirty="0"/>
          </a:p>
        </p:txBody>
      </p:sp>
      <p:sp>
        <p:nvSpPr>
          <p:cNvPr id="41" name="Text 3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Space Grotesk" pitchFamily="34" charset="0"/>
                <a:ea typeface="Space Grotesk" pitchFamily="34" charset="-122"/>
                <a:cs typeface="Space Grotesk"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1365647"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CONCLUSION</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DEFF3"/>
                </a:solidFill>
                <a:latin typeface="Space Grotesk" pitchFamily="34" charset="0"/>
                <a:ea typeface="Space Grotesk" pitchFamily="34" charset="-122"/>
                <a:cs typeface="Space Grotesk" pitchFamily="34" charset="-120"/>
              </a:rPr>
              <a:t>De 34.7% à 60.7% : ce qu'on retient</a:t>
            </a:r>
            <a:endParaRPr lang="en-US" sz="2800" dirty="0"/>
          </a:p>
        </p:txBody>
      </p:sp>
      <p:sp>
        <p:nvSpPr>
          <p:cNvPr id="4" name="Shape 2"/>
          <p:cNvSpPr/>
          <p:nvPr/>
        </p:nvSpPr>
        <p:spPr>
          <a:xfrm>
            <a:off x="812800" y="1836341"/>
            <a:ext cx="2527300" cy="0"/>
          </a:xfrm>
          <a:prstGeom prst="line">
            <a:avLst/>
          </a:prstGeom>
          <a:noFill/>
          <a:ln w="25400">
            <a:solidFill>
              <a:srgbClr val="3A4152"/>
            </a:solidFill>
            <a:prstDash val="solid"/>
          </a:ln>
        </p:spPr>
      </p:sp>
      <p:sp>
        <p:nvSpPr>
          <p:cNvPr id="5" name="Text 3"/>
          <p:cNvSpPr/>
          <p:nvPr/>
        </p:nvSpPr>
        <p:spPr>
          <a:xfrm>
            <a:off x="812800" y="1950641"/>
            <a:ext cx="2603119"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A3ABBA"/>
                </a:solidFill>
                <a:latin typeface="JetBrains Mono" pitchFamily="49" charset="0"/>
                <a:ea typeface="JetBrains Mono" pitchFamily="49" charset="-122"/>
                <a:cs typeface="JetBrains Mono" pitchFamily="49" charset="-120"/>
              </a:rPr>
              <a:t>34.7%</a:t>
            </a:r>
            <a:endParaRPr lang="en-US" sz="3600" dirty="0"/>
          </a:p>
        </p:txBody>
      </p:sp>
      <p:sp>
        <p:nvSpPr>
          <p:cNvPr id="6" name="Text 4"/>
          <p:cNvSpPr/>
          <p:nvPr/>
        </p:nvSpPr>
        <p:spPr>
          <a:xfrm>
            <a:off x="812800" y="2491631"/>
            <a:ext cx="260311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3ABBA"/>
                </a:solidFill>
                <a:latin typeface="DM Sans" pitchFamily="34" charset="0"/>
                <a:ea typeface="DM Sans" pitchFamily="34" charset="-122"/>
                <a:cs typeface="DM Sans" pitchFamily="34" charset="-120"/>
              </a:rPr>
              <a:t>baseline dense, validation</a:t>
            </a:r>
            <a:endParaRPr lang="en-US" sz="1200" dirty="0"/>
          </a:p>
        </p:txBody>
      </p:sp>
      <p:sp>
        <p:nvSpPr>
          <p:cNvPr id="7" name="Shape 5"/>
          <p:cNvSpPr/>
          <p:nvPr/>
        </p:nvSpPr>
        <p:spPr>
          <a:xfrm>
            <a:off x="3492500" y="1836341"/>
            <a:ext cx="2527300" cy="0"/>
          </a:xfrm>
          <a:prstGeom prst="line">
            <a:avLst/>
          </a:prstGeom>
          <a:noFill/>
          <a:ln w="25400">
            <a:solidFill>
              <a:srgbClr val="6B7386"/>
            </a:solidFill>
            <a:prstDash val="solid"/>
          </a:ln>
        </p:spPr>
      </p:sp>
      <p:sp>
        <p:nvSpPr>
          <p:cNvPr id="8" name="Text 6"/>
          <p:cNvSpPr/>
          <p:nvPr/>
        </p:nvSpPr>
        <p:spPr>
          <a:xfrm>
            <a:off x="3492500" y="1950641"/>
            <a:ext cx="2603119"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DEFF3"/>
                </a:solidFill>
                <a:latin typeface="JetBrains Mono" pitchFamily="49" charset="0"/>
                <a:ea typeface="JetBrains Mono" pitchFamily="49" charset="-122"/>
                <a:cs typeface="JetBrains Mono" pitchFamily="49" charset="-120"/>
              </a:rPr>
              <a:t>51.7%</a:t>
            </a:r>
            <a:endParaRPr lang="en-US" sz="3600" dirty="0"/>
          </a:p>
        </p:txBody>
      </p:sp>
      <p:sp>
        <p:nvSpPr>
          <p:cNvPr id="9" name="Text 7"/>
          <p:cNvSpPr/>
          <p:nvPr/>
        </p:nvSpPr>
        <p:spPr>
          <a:xfrm>
            <a:off x="3492500" y="2491631"/>
            <a:ext cx="260311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3ABBA"/>
                </a:solidFill>
                <a:latin typeface="DM Sans" pitchFamily="34" charset="0"/>
                <a:ea typeface="DM Sans" pitchFamily="34" charset="-122"/>
                <a:cs typeface="DM Sans" pitchFamily="34" charset="-120"/>
              </a:rPr>
              <a:t>CNN de base, validation</a:t>
            </a:r>
            <a:endParaRPr lang="en-US" sz="1200" dirty="0"/>
          </a:p>
        </p:txBody>
      </p:sp>
      <p:sp>
        <p:nvSpPr>
          <p:cNvPr id="10" name="Shape 8"/>
          <p:cNvSpPr/>
          <p:nvPr/>
        </p:nvSpPr>
        <p:spPr>
          <a:xfrm>
            <a:off x="6172200" y="1836341"/>
            <a:ext cx="2527300" cy="0"/>
          </a:xfrm>
          <a:prstGeom prst="line">
            <a:avLst/>
          </a:prstGeom>
          <a:noFill/>
          <a:ln w="25400">
            <a:solidFill>
              <a:srgbClr val="FF9B7A"/>
            </a:solidFill>
            <a:prstDash val="solid"/>
          </a:ln>
        </p:spPr>
      </p:sp>
      <p:sp>
        <p:nvSpPr>
          <p:cNvPr id="11" name="Text 9"/>
          <p:cNvSpPr/>
          <p:nvPr/>
        </p:nvSpPr>
        <p:spPr>
          <a:xfrm>
            <a:off x="6172200" y="1950641"/>
            <a:ext cx="2603119"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9B7A"/>
                </a:solidFill>
                <a:latin typeface="JetBrains Mono" pitchFamily="49" charset="0"/>
                <a:ea typeface="JetBrains Mono" pitchFamily="49" charset="-122"/>
                <a:cs typeface="JetBrains Mono" pitchFamily="49" charset="-120"/>
              </a:rPr>
              <a:t>60.3%</a:t>
            </a:r>
            <a:endParaRPr lang="en-US" sz="3600" dirty="0"/>
          </a:p>
        </p:txBody>
      </p:sp>
      <p:sp>
        <p:nvSpPr>
          <p:cNvPr id="12" name="Text 10"/>
          <p:cNvSpPr/>
          <p:nvPr/>
        </p:nvSpPr>
        <p:spPr>
          <a:xfrm>
            <a:off x="6172200" y="2491631"/>
            <a:ext cx="260311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3ABBA"/>
                </a:solidFill>
                <a:latin typeface="DM Sans" pitchFamily="34" charset="0"/>
                <a:ea typeface="DM Sans" pitchFamily="34" charset="-122"/>
                <a:cs typeface="DM Sans" pitchFamily="34" charset="-120"/>
              </a:rPr>
              <a:t>modèle final E4, validation</a:t>
            </a:r>
            <a:endParaRPr lang="en-US" sz="1200" dirty="0"/>
          </a:p>
        </p:txBody>
      </p:sp>
      <p:sp>
        <p:nvSpPr>
          <p:cNvPr id="13" name="Shape 11"/>
          <p:cNvSpPr/>
          <p:nvPr/>
        </p:nvSpPr>
        <p:spPr>
          <a:xfrm>
            <a:off x="8851900" y="1836341"/>
            <a:ext cx="2527300" cy="0"/>
          </a:xfrm>
          <a:prstGeom prst="line">
            <a:avLst/>
          </a:prstGeom>
          <a:noFill/>
          <a:ln w="25400">
            <a:solidFill>
              <a:srgbClr val="F5B841"/>
            </a:solidFill>
            <a:prstDash val="solid"/>
          </a:ln>
        </p:spPr>
      </p:sp>
      <p:sp>
        <p:nvSpPr>
          <p:cNvPr id="14" name="Text 12"/>
          <p:cNvSpPr/>
          <p:nvPr/>
        </p:nvSpPr>
        <p:spPr>
          <a:xfrm>
            <a:off x="8851900" y="1950641"/>
            <a:ext cx="2603119"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5B841"/>
                </a:solidFill>
                <a:latin typeface="JetBrains Mono" pitchFamily="49" charset="0"/>
                <a:ea typeface="JetBrains Mono" pitchFamily="49" charset="-122"/>
                <a:cs typeface="JetBrains Mono" pitchFamily="49" charset="-120"/>
              </a:rPr>
              <a:t>60.7%</a:t>
            </a:r>
            <a:endParaRPr lang="en-US" sz="3600" dirty="0"/>
          </a:p>
        </p:txBody>
      </p:sp>
      <p:sp>
        <p:nvSpPr>
          <p:cNvPr id="15" name="Text 13"/>
          <p:cNvSpPr/>
          <p:nvPr/>
        </p:nvSpPr>
        <p:spPr>
          <a:xfrm>
            <a:off x="8851900" y="2491631"/>
            <a:ext cx="260311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3ABBA"/>
                </a:solidFill>
                <a:latin typeface="DM Sans" pitchFamily="34" charset="0"/>
                <a:ea typeface="DM Sans" pitchFamily="34" charset="-122"/>
                <a:cs typeface="DM Sans" pitchFamily="34" charset="-120"/>
              </a:rPr>
              <a:t>modèle final E4, test</a:t>
            </a:r>
            <a:endParaRPr lang="en-US" sz="1200" dirty="0"/>
          </a:p>
        </p:txBody>
      </p:sp>
      <p:sp>
        <p:nvSpPr>
          <p:cNvPr id="16" name="Shape 14"/>
          <p:cNvSpPr/>
          <p:nvPr/>
        </p:nvSpPr>
        <p:spPr>
          <a:xfrm>
            <a:off x="812800" y="2892921"/>
            <a:ext cx="3420517" cy="1572220"/>
          </a:xfrm>
          <a:prstGeom prst="roundRect">
            <a:avLst>
              <a:gd name="adj" fmla="val 4847"/>
            </a:avLst>
          </a:prstGeom>
          <a:solidFill>
            <a:srgbClr val="1A1F2A"/>
          </a:solidFill>
          <a:ln/>
        </p:spPr>
      </p:sp>
      <p:sp>
        <p:nvSpPr>
          <p:cNvPr id="17" name="Text 15"/>
          <p:cNvSpPr/>
          <p:nvPr/>
        </p:nvSpPr>
        <p:spPr>
          <a:xfrm>
            <a:off x="1016000" y="3096121"/>
            <a:ext cx="31045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5B841"/>
                </a:solidFill>
                <a:latin typeface="Space Grotesk" pitchFamily="34" charset="0"/>
                <a:ea typeface="Space Grotesk" pitchFamily="34" charset="-122"/>
                <a:cs typeface="Space Grotesk" pitchFamily="34" charset="-120"/>
              </a:rPr>
              <a:t>CE QUI A MARCHÉ</a:t>
            </a:r>
            <a:endParaRPr lang="en-US" sz="1200" dirty="0"/>
          </a:p>
        </p:txBody>
      </p:sp>
      <p:sp>
        <p:nvSpPr>
          <p:cNvPr id="18" name="Text 16"/>
          <p:cNvSpPr/>
          <p:nvPr/>
        </p:nvSpPr>
        <p:spPr>
          <a:xfrm>
            <a:off x="1016000" y="3385641"/>
            <a:ext cx="3104540"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EDEFF3"/>
                </a:solidFill>
                <a:latin typeface="Space Grotesk" pitchFamily="34" charset="0"/>
                <a:ea typeface="Space Grotesk" pitchFamily="34" charset="-122"/>
                <a:cs typeface="Space Grotesk" pitchFamily="34" charset="-120"/>
              </a:rPr>
              <a:t>Convolutions et augmentation</a:t>
            </a:r>
            <a:endParaRPr lang="en-US" sz="2000" dirty="0"/>
          </a:p>
        </p:txBody>
      </p:sp>
      <p:sp>
        <p:nvSpPr>
          <p:cNvPr id="19" name="Shape 17"/>
          <p:cNvSpPr/>
          <p:nvPr/>
        </p:nvSpPr>
        <p:spPr>
          <a:xfrm>
            <a:off x="4385717" y="2892921"/>
            <a:ext cx="3420517" cy="1572220"/>
          </a:xfrm>
          <a:prstGeom prst="roundRect">
            <a:avLst>
              <a:gd name="adj" fmla="val 4847"/>
            </a:avLst>
          </a:prstGeom>
          <a:solidFill>
            <a:srgbClr val="1A1F2A"/>
          </a:solidFill>
          <a:ln/>
        </p:spPr>
      </p:sp>
      <p:sp>
        <p:nvSpPr>
          <p:cNvPr id="20" name="Text 18"/>
          <p:cNvSpPr/>
          <p:nvPr/>
        </p:nvSpPr>
        <p:spPr>
          <a:xfrm>
            <a:off x="4588917" y="3096121"/>
            <a:ext cx="31045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5B841"/>
                </a:solidFill>
                <a:latin typeface="Space Grotesk" pitchFamily="34" charset="0"/>
                <a:ea typeface="Space Grotesk" pitchFamily="34" charset="-122"/>
                <a:cs typeface="Space Grotesk" pitchFamily="34" charset="-120"/>
              </a:rPr>
              <a:t>LA LIMITE</a:t>
            </a:r>
            <a:endParaRPr lang="en-US" sz="1200" dirty="0"/>
          </a:p>
        </p:txBody>
      </p:sp>
      <p:sp>
        <p:nvSpPr>
          <p:cNvPr id="21" name="Text 19"/>
          <p:cNvSpPr/>
          <p:nvPr/>
        </p:nvSpPr>
        <p:spPr>
          <a:xfrm>
            <a:off x="4588917" y="3385641"/>
            <a:ext cx="3104540"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EDEFF3"/>
                </a:solidFill>
                <a:latin typeface="Space Grotesk" pitchFamily="34" charset="0"/>
                <a:ea typeface="Space Grotesk" pitchFamily="34" charset="-122"/>
                <a:cs typeface="Space Grotesk" pitchFamily="34" charset="-120"/>
              </a:rPr>
              <a:t>fear et disgust restent difficiles</a:t>
            </a:r>
            <a:endParaRPr lang="en-US" sz="2000" dirty="0"/>
          </a:p>
        </p:txBody>
      </p:sp>
      <p:sp>
        <p:nvSpPr>
          <p:cNvPr id="22" name="Shape 20"/>
          <p:cNvSpPr/>
          <p:nvPr/>
        </p:nvSpPr>
        <p:spPr>
          <a:xfrm>
            <a:off x="7958634" y="2892921"/>
            <a:ext cx="3420566" cy="1572220"/>
          </a:xfrm>
          <a:prstGeom prst="roundRect">
            <a:avLst>
              <a:gd name="adj" fmla="val 4847"/>
            </a:avLst>
          </a:prstGeom>
          <a:solidFill>
            <a:srgbClr val="1A1F2A"/>
          </a:solidFill>
          <a:ln/>
        </p:spPr>
      </p:sp>
      <p:sp>
        <p:nvSpPr>
          <p:cNvPr id="23" name="Text 21"/>
          <p:cNvSpPr/>
          <p:nvPr/>
        </p:nvSpPr>
        <p:spPr>
          <a:xfrm>
            <a:off x="8161834" y="3096121"/>
            <a:ext cx="310459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5B841"/>
                </a:solidFill>
                <a:latin typeface="Space Grotesk" pitchFamily="34" charset="0"/>
                <a:ea typeface="Space Grotesk" pitchFamily="34" charset="-122"/>
                <a:cs typeface="Space Grotesk" pitchFamily="34" charset="-120"/>
              </a:rPr>
              <a:t>LA SUITE</a:t>
            </a:r>
            <a:endParaRPr lang="en-US" sz="1200" dirty="0"/>
          </a:p>
        </p:txBody>
      </p:sp>
      <p:sp>
        <p:nvSpPr>
          <p:cNvPr id="24" name="Text 22"/>
          <p:cNvSpPr/>
          <p:nvPr/>
        </p:nvSpPr>
        <p:spPr>
          <a:xfrm>
            <a:off x="8161834" y="3385641"/>
            <a:ext cx="3104591" cy="9017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EDEFF3"/>
                </a:solidFill>
                <a:latin typeface="Space Grotesk" pitchFamily="34" charset="0"/>
                <a:ea typeface="Space Grotesk" pitchFamily="34" charset="-122"/>
                <a:cs typeface="Space Grotesk" pitchFamily="34" charset="-120"/>
              </a:rPr>
              <a:t>Transfer learning, par exemple avec MobileNetV2</a:t>
            </a:r>
            <a:endParaRPr lang="en-US" sz="2000" dirty="0"/>
          </a:p>
        </p:txBody>
      </p:sp>
      <p:sp>
        <p:nvSpPr>
          <p:cNvPr id="25" name="Text 2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Ensuite, la démo : la dernière cellule du notebook prédit l'expression d'une image.</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Space Grotesk" pitchFamily="34" charset="0"/>
                <a:ea typeface="Space Grotesk" pitchFamily="34" charset="-122"/>
                <a:cs typeface="Space Grotesk" pitchFamily="34" charset="-120"/>
              </a:rPr>
              <a:t>10</a:t>
            </a:r>
            <a:endParaRPr lang="en-US" sz="1200" dirty="0"/>
          </a:p>
        </p:txBody>
      </p:sp>
    </p:spTree>
  </p:cSld>
  <p:clrMapOvr>
    <a:masterClrMapping/>
  </p:clrMapOvr>
</p:sld>
</file>

<file path=ppt/theme/theme1.xml><?xml version="1.0" encoding="utf-8"?>
<a:theme xmlns:a="http://schemas.openxmlformats.org/drawingml/2006/main" name="Soutenance — Reconnaissance d'expressions faciales">
  <a:themeElements>
    <a:clrScheme name="Soutenance — Reconnaissance d'expressions faciales">
      <a:dk1>
        <a:srgbClr val="12151C"/>
      </a:dk1>
      <a:lt1>
        <a:srgbClr val="EDEFF3"/>
      </a:lt1>
      <a:dk2>
        <a:srgbClr val="282B32"/>
      </a:dk2>
      <a:lt2>
        <a:srgbClr val="B6B9BD"/>
      </a:lt2>
      <a:accent1>
        <a:srgbClr val="F5B841"/>
      </a:accent1>
      <a:accent2>
        <a:srgbClr val="FF9B7A"/>
      </a:accent2>
      <a:accent3>
        <a:srgbClr val="5DD6A2"/>
      </a:accent3>
      <a:accent4>
        <a:srgbClr val="7FB0FF"/>
      </a:accent4>
      <a:accent5>
        <a:srgbClr val="C4A1FF"/>
      </a:accent5>
      <a:accent6>
        <a:srgbClr val="A3ABBA"/>
      </a:accent6>
      <a:hlink>
        <a:srgbClr val="0563C1"/>
      </a:hlink>
      <a:folHlink>
        <a:srgbClr val="954F72"/>
      </a:folHlink>
    </a:clrScheme>
    <a:fontScheme name="Soutenance — Reconnaissance d'expressions faciale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 Reconnaissance d'expressions faciales</dc:title>
  <dc:subject/>
  <dc:creator/>
  <cp:lastModifiedBy/>
  <cp:revision>1</cp:revision>
  <dcterms:created xsi:type="dcterms:W3CDTF">2026-10-08T20:46:42Z</dcterms:created>
  <dcterms:modified xsi:type="dcterms:W3CDTF">2026-10-08T20:46:42Z</dcterms:modified>
</cp:coreProperties>
</file>